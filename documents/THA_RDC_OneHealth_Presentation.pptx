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097280"/>
            <a:ext cx="3200400" cy="3200400"/>
          </a:xfrm>
          <a:prstGeom prst="ellipse">
            <a:avLst/>
          </a:prstGeom>
          <a:solidFill>
            <a:srgbClr val="1A3A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E2B4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0040"/>
            <a:ext cx="4114800" cy="329184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Santé  ·  Agronomie  ·  Environnement  — Approche One Health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Statistique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412480" cy="2743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d'application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de Transmission de la Trypanosomiase Humaine Africaine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Démocratique du Congo  |  2000 – 2016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965960" cy="3200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Modélisation bayésienne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2926080"/>
            <a:ext cx="1965960" cy="3200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MCMC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1965960" cy="3200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Metropolis-Hastings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2926080"/>
            <a:ext cx="1965960" cy="3200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Modèle SEIR vectoriel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251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Données : Crump et al. (2021) — Atlas OMS de la THA  |  117 573 cas individuels  |  168 zones de santé  |  Document pédagogique — Formation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57200" cy="80467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1795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Contexte épidémiologique &amp; Problématique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55448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La THA en RDC, objectifs de l'étude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75688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75688"/>
            <a:ext cx="457200" cy="80467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756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211226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Données &amp; Préparation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248716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Sources, nettoyage, agrégation spatio-temporelle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08376"/>
            <a:ext cx="457200" cy="80467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00837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" y="304495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Exploration des données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341985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Tendances temporelles, hétérogénéité spatiale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41064"/>
            <a:ext cx="457200" cy="80467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94106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" y="39776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Modèle SEIR &amp; Cadre bayésien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435254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Compartiments, équations différentielles, priors, MCMC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143000"/>
            <a:ext cx="4572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430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11795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Résultats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155448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R₀, réduction de transmission, convergence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75688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75688"/>
            <a:ext cx="4572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0756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211226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Projections 2017–2030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248716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Scénarios d'intervention, élimination OMS 2030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008376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008376"/>
            <a:ext cx="4572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0837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304495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Conclusion &amp; Apport One Health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341985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Synthèse, recommandations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Épidémiologique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4008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La Trypanosomiase Humaine Africaine (THA) — « maladie du sommeil »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— est causée par </a:t>
            </a:r>
            <a:pPr indent="0" marL="0">
              <a:buNone/>
            </a:pPr>
            <a:r>
              <a:rPr lang="en-US" sz="1200" i="1" dirty="0">
                <a:solidFill>
                  <a:srgbClr val="1A5276"/>
                </a:solidFill>
              </a:rPr>
              <a:t>Trypanosoma brucei gambiense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et transmise par la mouche tsé-tsé (Glossina).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2743200" cy="123444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01952"/>
            <a:ext cx="2743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</a:rPr>
              <a:t>&gt; 80%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des cas mondiaux annuels concentrés en RDC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901952"/>
            <a:ext cx="2743200" cy="123444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901952"/>
            <a:ext cx="274320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</a:rPr>
              <a:t>30 000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0128" y="25786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cas/an en 2000 → &lt; 1 000 cas/an en 2016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901952"/>
            <a:ext cx="2743200" cy="123444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901952"/>
            <a:ext cx="2743200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7A65"/>
                </a:solidFill>
              </a:rPr>
              <a:t>168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54496" y="25786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zones de santé endémiques analysées (117 573 cas)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Les deux formes cliniques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251960" cy="1188720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1188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Forme Gambienne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05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</a:rPr>
              <a:t>T. b. gambiense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Afrique Ouest &amp; Centrale — évolution CHRONIQUE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251960" cy="118872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61188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675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Forme Rhodésienne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005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</a:rPr>
              <a:t>T. b. rhodesiense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270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Afrique de l'Est — évolution AIGUË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Scientifique &amp; Objectifs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29184" cy="32918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024128"/>
            <a:ext cx="8046720" cy="658368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06070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Transmission réelle vs. biais de surveillance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3502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La baisse des cas reflète-t-elle une vraie réduction ou un relâchement du dépistage 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37944"/>
            <a:ext cx="329184" cy="32918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1810512"/>
            <a:ext cx="8046720" cy="658368"/>
          </a:xfrm>
          <a:prstGeom prst="rect">
            <a:avLst/>
          </a:prstGeom>
          <a:solidFill>
            <a:srgbClr val="D0EF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1847088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Hétérogénéité spatiale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121408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Comment la dynamique varie entre zones de santé et provinces 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329184" cy="32918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2596896"/>
            <a:ext cx="8046720" cy="658368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263347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Effet « bosse » paradoxal du Bandundu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Augmentation des cas 2005–2008 malgré une baisse globale — quel mécanisme 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329184" cy="32918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" y="3383280"/>
            <a:ext cx="8046720" cy="658368"/>
          </a:xfrm>
          <a:prstGeom prst="rect">
            <a:avLst/>
          </a:prstGeom>
          <a:solidFill>
            <a:srgbClr val="D0EF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41985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Valeur du R₀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69417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Que nous dit-elle sur la faisabilité de l'élimination par province 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97096"/>
            <a:ext cx="329184" cy="329184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4169664"/>
            <a:ext cx="8046720" cy="658368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20624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Projections vers 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48056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Quelles interventions pour atteindre l'objectif OMS d'élimination 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Sources de Données &amp; Préparation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1887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09728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Atlas THA (OMS)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117 573 cas individuels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2000–2016 • 168 zones de santé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Crump et al. (2021)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11887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109728" cy="11887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170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</a:rPr>
              <a:t>Données géographiques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4813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Shapefiles (UCLA, OCHA)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Limites des zones de santé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Analyses spatiales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4160520" cy="11887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1460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</a:rPr>
              <a:t>Données démographiques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Population par zone (2015)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Global Healthsites 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Normalisation des taux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2514600"/>
            <a:ext cx="4160520" cy="11887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514600"/>
            <a:ext cx="109728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587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Infrastructures de santé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89864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Centres de santé fixes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Équipes mobiles GPS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Accessibilité aux soins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05072"/>
            <a:ext cx="850392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Variables clés de la base individuelle (Atlas THA)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279392"/>
            <a:ext cx="85039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cas_id · annee · zone_sante · province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517136"/>
            <a:ext cx="8503920" cy="219456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3542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type_depistage (actif/passif) · stade_maladie (1/2) · age · sexe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Modèle Compartimental SEIR — Transmission Vectorielle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44068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Compartiments humains (6)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737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365760" cy="566928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898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S_L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42646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Susceptible faible risque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6642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≥ 90% pop. — loin des gîtes à glossines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1389888"/>
            <a:ext cx="1737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389888"/>
            <a:ext cx="365760" cy="56692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3898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S_H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142646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Susceptible haut risque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16642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Pêcheurs, agriculteurs, chasseurs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77640" y="1389888"/>
            <a:ext cx="1737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77640" y="1389888"/>
            <a:ext cx="365760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3898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42646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Exposé (incubation)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16642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Non détectable — ~21 jours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075688"/>
            <a:ext cx="1737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075688"/>
            <a:ext cx="365760" cy="5669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0756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211226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Infectieux stade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23500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Stade hémolymphatique — ~18 mois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48840" y="2075688"/>
            <a:ext cx="1737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48840" y="2075688"/>
            <a:ext cx="365760" cy="5669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27"/>
          <p:cNvSpPr/>
          <p:nvPr/>
        </p:nvSpPr>
        <p:spPr>
          <a:xfrm>
            <a:off x="2148840" y="20756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211226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Infectieux stade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0" y="23500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Stade neuro-encéphalitique — ~12 mois — FATAL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77640" y="2075688"/>
            <a:ext cx="1737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77640" y="2075688"/>
            <a:ext cx="365760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20756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2112264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Traité / Guéri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0" y="235000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Immunité temporaire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0" y="1051560"/>
            <a:ext cx="2880360" cy="2743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1051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Compartiments vectoriels (3)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1389888"/>
            <a:ext cx="2880360" cy="548640"/>
          </a:xfrm>
          <a:prstGeom prst="rect">
            <a:avLst/>
          </a:prstGeom>
          <a:solidFill>
            <a:srgbClr val="D0EF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43600" y="1389888"/>
            <a:ext cx="365760" cy="5486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0" y="13898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V_S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1426464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Mouche saine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164592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Ne transmet pas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43600" y="2048256"/>
            <a:ext cx="2880360" cy="548640"/>
          </a:xfrm>
          <a:prstGeom prst="rect">
            <a:avLst/>
          </a:prstGeom>
          <a:solidFill>
            <a:srgbClr val="D0EF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0" y="2048256"/>
            <a:ext cx="365760" cy="5486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204825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V_E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208483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Mouche exposée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55080" y="230428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Incubation ~20 jours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2706624"/>
            <a:ext cx="2880360" cy="548640"/>
          </a:xfrm>
          <a:prstGeom prst="rect">
            <a:avLst/>
          </a:prstGeom>
          <a:solidFill>
            <a:srgbClr val="D0EF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43600" y="2706624"/>
            <a:ext cx="365760" cy="5486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0" y="27066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V_I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55080" y="274320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Mouche infectieuse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296265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Transmet lors du repas sanguin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7200" y="4462272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Transmission indirecte uniquement 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Homme → Mouche (repas sanguin infectant) → Mouche (incubation 20 j) → Homme (piqûre infectante). Deux contacts requis → le carré du taux de piqûre (a²) entre dans le R₀.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Équations Différentielles &amp; Taux de Reproduction de Base (R₀)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394960" cy="23774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39496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Système d'équations différentielles (humains)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dS_L/dt  =  − λ_L(t) · S_L(t)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dS_H/dt  =  − λ_H(t) · S_H(t)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dE/dt    =  λ_L·S_L + λ_H·S_H  −  σ·E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dI₁/dt   =  σ·E  −  (γ₁ + δ₁(t))·I₁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dI₂/dt   =  γ₁·I₁  −  (γ₂ + δ₂(t))·I₂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900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dR/dt    =  δ₁(t)·I₁  +  δ₂(t)·I₂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5394960" cy="141732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47872"/>
            <a:ext cx="5394960" cy="2743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5478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Formule du R₀ (modèle vectoriel à double population)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 =  [ a² · b · c · N_V / (μ_V · N_H) ]  ×  [ 1/γ₁  +  γ₁/(γ₁+μ_H) · 1/γ₂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4281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C0D"/>
                </a:solidFill>
              </a:rPr>
              <a:t>Bloc vectoriel :</a:t>
            </a:r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 a²·b·c·N_V/(μ_V·N_H)  — efficacité de la transmission via la mouche
</a:t>
            </a:r>
            <a:pPr indent="0" marL="0">
              <a:buNone/>
            </a:pPr>
            <a:r>
              <a:rPr lang="en-US" sz="950" b="1" dirty="0">
                <a:solidFill>
                  <a:srgbClr val="D4AC0D"/>
                </a:solidFill>
              </a:rPr>
              <a:t>Bloc durée d'infection :</a:t>
            </a:r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 durée infectieuse pondérée par la probabilité de passer au stade 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1051560"/>
            <a:ext cx="2926080" cy="3913632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051560"/>
            <a:ext cx="2926080" cy="2926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0515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R₀ par province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1371600"/>
            <a:ext cx="2926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389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Équateur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9320" y="16459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1.05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3952" y="1645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[1.02–1.08]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06640" y="1508760"/>
            <a:ext cx="1234440" cy="18288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1508760"/>
            <a:ext cx="123444" cy="182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8" name="Shape 26"/>
          <p:cNvSpPr/>
          <p:nvPr/>
        </p:nvSpPr>
        <p:spPr>
          <a:xfrm>
            <a:off x="5897880" y="1938528"/>
            <a:ext cx="2926080" cy="53035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1956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Kinshasa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221284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1.02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73952" y="22128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[0.99–1.05]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06640" y="2075688"/>
            <a:ext cx="1234440" cy="18288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2075688"/>
            <a:ext cx="49378" cy="182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4" name="Shape 32"/>
          <p:cNvSpPr/>
          <p:nvPr/>
        </p:nvSpPr>
        <p:spPr>
          <a:xfrm>
            <a:off x="5897880" y="2505456"/>
            <a:ext cx="2926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25237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Bas-Congo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9320" y="27797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1.08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73952" y="27797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[1.05–1.11]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2642616"/>
            <a:ext cx="1234440" cy="18288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642616"/>
            <a:ext cx="296266" cy="182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0" name="Shape 38"/>
          <p:cNvSpPr/>
          <p:nvPr/>
        </p:nvSpPr>
        <p:spPr>
          <a:xfrm>
            <a:off x="5897880" y="3072384"/>
            <a:ext cx="2926080" cy="53035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30906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Katanga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89320" y="33467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1.06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73952" y="33467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[1.03–1.09]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209544"/>
            <a:ext cx="1234440" cy="18288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9544"/>
            <a:ext cx="197510" cy="182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6" name="Shape 44"/>
          <p:cNvSpPr/>
          <p:nvPr/>
        </p:nvSpPr>
        <p:spPr>
          <a:xfrm>
            <a:off x="5897880" y="3639312"/>
            <a:ext cx="2926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98932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Orientale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89320" y="39136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1.07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73952" y="39136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[1.04–1.10]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06640" y="3776472"/>
            <a:ext cx="1234440" cy="18288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51" name="Shape 49"/>
          <p:cNvSpPr/>
          <p:nvPr/>
        </p:nvSpPr>
        <p:spPr>
          <a:xfrm>
            <a:off x="7406640" y="3776472"/>
            <a:ext cx="246888" cy="182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2" name="Shape 50"/>
          <p:cNvSpPr/>
          <p:nvPr/>
        </p:nvSpPr>
        <p:spPr>
          <a:xfrm>
            <a:off x="5897880" y="4206240"/>
            <a:ext cx="2926080" cy="53035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53" name="Text 51"/>
          <p:cNvSpPr/>
          <p:nvPr/>
        </p:nvSpPr>
        <p:spPr>
          <a:xfrm>
            <a:off x="5989320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Bandundu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89320" y="44805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1.14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73952" y="4480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[1.10–1.18]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406640" y="4343400"/>
            <a:ext cx="1234440" cy="18288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57" name="Shape 55"/>
          <p:cNvSpPr/>
          <p:nvPr/>
        </p:nvSpPr>
        <p:spPr>
          <a:xfrm>
            <a:off x="7406640" y="4343400"/>
            <a:ext cx="864108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8" name="Text 56"/>
          <p:cNvSpPr/>
          <p:nvPr/>
        </p:nvSpPr>
        <p:spPr>
          <a:xfrm>
            <a:off x="6473952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IC 95%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06640" y="47548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Surplus R₀ →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d'Inférence Bayésienne &amp; Algorithme MCMC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713232"/>
          </a:xfrm>
          <a:prstGeom prst="rect">
            <a:avLst/>
          </a:prstGeom>
          <a:solidFill>
            <a:srgbClr val="EAF2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Théorème de Bayes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P(θ | y)  ∝  L(θ)  ×  π(θ)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32588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Posteriori = Vraisemblance × A priori  —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Mise à jour bayésienne de nos croyances sur θ après observation des données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5394960" cy="2286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5394960" cy="2743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74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Algorithme Metropolis-Hastings (MH)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7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Initialiser θ⁰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Pour chaque itération i 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a. Proposer θ* ~ q(· | θ^(i-1))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b. Calculer α = min(1,  P(θ*|y)·q(θ^(i-1)|θ*)  /  P(θ^(i-1)|y)·q(θ*|θ^(i-1)))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c. Tirer u ~ Uniforme(0,1)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d. Si u ≤ α : accepter θ* ;  sinon : conserver θ^(i-1)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1874520"/>
            <a:ext cx="2926080" cy="228600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1874520"/>
            <a:ext cx="2926080" cy="274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Paramètres MCMC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2176272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2037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Chaînes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220370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2560320"/>
            <a:ext cx="2926080" cy="34747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587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Itérations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258775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4 000 / 100 000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97880" y="2944368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2971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Warmup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29718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2 000 / 50 000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97880" y="3328416"/>
            <a:ext cx="2926080" cy="34747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Thinning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33558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3712464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7398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Modèle obs.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373989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Bêta-binomiale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224528"/>
            <a:ext cx="850392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2245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Distributions a priori sélectionnées (exemples)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54456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~ Bêta(10,10)  [support 0–2, valeur attendue ~1]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454456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T_incubation ~ Normale(0.2, 0.05)  [~21 jours, littérature]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78231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ρ₀_passif ~ Bêta(2,8)  [détection initiale faible ~20%]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478231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(surdispersion) ~ Cauchy⁺(0,2)  [non-informatif]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Résultats — Réduction de Transmission &amp;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100584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</a:rPr>
              <a:t>168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zones analysées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078992"/>
            <a:ext cx="2743200" cy="100584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078992"/>
            <a:ext cx="2743200" cy="6400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1704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7A65"/>
                </a:solidFill>
              </a:rPr>
              <a:t>88.7%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R-hat &lt; 1.01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(149/168 zones)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078992"/>
            <a:ext cx="2743200" cy="100584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078992"/>
            <a:ext cx="2743200" cy="6400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11704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D3C98"/>
                </a:solidFill>
              </a:rPr>
              <a:t>24 691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LOOIC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(validation croisée)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8503920" cy="274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40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Réduction de la transmission sous-jacente 2000–2016 par province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8503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694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Équateur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633472"/>
            <a:ext cx="4114800" cy="16459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1640" y="2633472"/>
            <a:ext cx="3950208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25694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96%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569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[94%–98%]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2569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Élimination très probable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944368"/>
            <a:ext cx="8503920" cy="36576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Bas-Congo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3035808"/>
            <a:ext cx="4114800" cy="16459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1640" y="3035808"/>
            <a:ext cx="3826764" cy="1645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97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93%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[90%–95%]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0664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Zones à risque résiduel localisées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3346704"/>
            <a:ext cx="8503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3741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Katanga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91640" y="3438144"/>
            <a:ext cx="4114800" cy="16459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1640" y="3438144"/>
            <a:ext cx="3703320" cy="164592"/>
          </a:xfrm>
          <a:prstGeom prst="rect">
            <a:avLst/>
          </a:prstGeom>
          <a:solidFill>
            <a:srgbClr val="82E0AA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3374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2E0AA"/>
                </a:solidFill>
              </a:rPr>
              <a:t>90%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33741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[87%–93%]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06640" y="33741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Zones minières encore à risque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749040"/>
            <a:ext cx="8503920" cy="36576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7764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Bandundu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91640" y="3840480"/>
            <a:ext cx="4114800" cy="16459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43" name="Shape 41"/>
          <p:cNvSpPr/>
          <p:nvPr/>
        </p:nvSpPr>
        <p:spPr>
          <a:xfrm>
            <a:off x="1691640" y="3840480"/>
            <a:ext cx="3662172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60" y="37764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</a:rPr>
              <a:t>89%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3776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[86%–92%]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3776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Malgré l'effet bosse 2005-2008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4151376"/>
            <a:ext cx="8503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178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Orientale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91640" y="4242816"/>
            <a:ext cx="4114800" cy="16459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50" name="Shape 48"/>
          <p:cNvSpPr/>
          <p:nvPr/>
        </p:nvSpPr>
        <p:spPr>
          <a:xfrm>
            <a:off x="1691640" y="4242816"/>
            <a:ext cx="3621024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41788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88%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46520" y="4178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[85%–91%]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06640" y="4178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Zones forestières à surveiller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4553712"/>
            <a:ext cx="8503920" cy="365760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581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Kinshasa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91640" y="4645152"/>
            <a:ext cx="4114800" cy="16459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57" name="Shape 55"/>
          <p:cNvSpPr/>
          <p:nvPr/>
        </p:nvSpPr>
        <p:spPr>
          <a:xfrm>
            <a:off x="1691640" y="4645152"/>
            <a:ext cx="3497580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8" name="Text 56"/>
          <p:cNvSpPr/>
          <p:nvPr/>
        </p:nvSpPr>
        <p:spPr>
          <a:xfrm>
            <a:off x="5852160" y="45811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85%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4581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[81%–88%]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06640" y="4581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Risque résiduel plus important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0040" y="4937760"/>
            <a:ext cx="8503920" cy="91440"/>
          </a:xfrm>
          <a:prstGeom prst="rect">
            <a:avLst/>
          </a:prstGeom>
          <a:solidFill>
            <a:srgbClr val="117A6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Projections vers 2030 — Scénarios d'Intervention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5720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C0D"/>
                </a:solidFill>
              </a:rPr>
              <a:t>Critère OMS d'élimination 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&lt; 1 cas pour 10 000 habitants/an par zone de santé. Probabilité ≥ 80% d'atteindre ce seuil avant 2030 = zone éligible.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32461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27632"/>
            <a:ext cx="2743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556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55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Statu quo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Taux de détection stable au niveau 2016. Aucune nouvelle intervention.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2743200" cy="118872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758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Résultat attendu 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Scénario de référence (baseline). Sans action : objectif OMS hors de portée pour Bandundu et Kinshasa.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1627632"/>
            <a:ext cx="2743200" cy="32461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627632"/>
            <a:ext cx="274320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Shape 16"/>
          <p:cNvSpPr/>
          <p:nvPr/>
        </p:nvSpPr>
        <p:spPr>
          <a:xfrm>
            <a:off x="3401568" y="1755648"/>
            <a:ext cx="457200" cy="45720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0208" y="1755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Renforcement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du dépistage passif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230428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Détection passive → 80% en 2025 via nouvelle logistique  δ_passif(t) = δ₂₀₁₆ + (0.80 − δ₂₀₁₆) / [1 + exp(−0.5(t−2020))]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3639312"/>
            <a:ext cx="2743200" cy="118872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36758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Résultat attendu 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01568" y="3931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Amélioration significative. Élimination probable dans la plupart des provinces sauf Bandundu.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08776" y="1627632"/>
            <a:ext cx="2743200" cy="324612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1627632"/>
            <a:ext cx="2743200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7" name="Shape 25"/>
          <p:cNvSpPr/>
          <p:nvPr/>
        </p:nvSpPr>
        <p:spPr>
          <a:xfrm>
            <a:off x="6345936" y="1755648"/>
            <a:ext cx="457200" cy="457200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1755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</a:rPr>
              <a:t>Dépistage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</a:rPr>
              <a:t>Lutte antivectorielle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45936" y="230428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S2 + Réduction des mouches infectieuses à partir de 2020 : λ_j(t) × [1 − ε_V · f(t)]  avec ε_V = 0.6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08776" y="3639312"/>
            <a:ext cx="2743200" cy="11887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36758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Résultat attendu 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45936" y="3931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Scénario optimal. Élimination probable dans toutes les provinces y compris Bandundu (R₀ &gt; 1.05).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919472"/>
            <a:ext cx="8503920" cy="146304"/>
          </a:xfrm>
          <a:prstGeom prst="rect">
            <a:avLst/>
          </a:prstGeom>
          <a:solidFill>
            <a:srgbClr val="D4AC0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 &amp; Apport de l'Approche One Health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09728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170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Séparation transmission réelle / biais de surveillance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5361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La baisse des cas reflète une réduction effective de la transmission, non un relâchement du dépistage.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10972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097280"/>
            <a:ext cx="109728" cy="10058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3" name="Shape 11"/>
          <p:cNvSpPr/>
          <p:nvPr/>
        </p:nvSpPr>
        <p:spPr>
          <a:xfrm>
            <a:off x="4910328" y="1234440"/>
            <a:ext cx="457200" cy="457200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04688" y="1170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Cartographie fine du R₀ par zone de santé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15361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Identification précise des zones nécessitant des efforts supplémentaires pour l'élimination.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40280"/>
            <a:ext cx="109728" cy="10058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377440"/>
            <a:ext cx="457200" cy="45720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313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Explication de l'effet « bosse » du Bandundu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26791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Modèle par morceaux du taux de détection passif — aucune confusion avec une hausse de transmission.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27448" y="22402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2240280"/>
            <a:ext cx="109728" cy="100584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5" name="Shape 23"/>
          <p:cNvSpPr/>
          <p:nvPr/>
        </p:nvSpPr>
        <p:spPr>
          <a:xfrm>
            <a:off x="4910328" y="2377440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2313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C0D"/>
                </a:solidFill>
              </a:rPr>
              <a:t>Cadre de projection prospective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04688" y="26791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Évaluation ex ante de 3 scénarios d'intervention pour guider les décisions de politique sanitaire.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8503920" cy="150876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56432"/>
            <a:ext cx="8503920" cy="29260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456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Apport de l'Approche One Health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785616"/>
            <a:ext cx="8321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Ce travail illustre qu'une maladie vectorielle ne peut être comprise qu'en intégrant simultanément :
</a:t>
            </a:r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</a:rPr>
              <a:t>• Dynamique humaine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(compartiments cliniques, comportements à risque, accès aux soins)   </a:t>
            </a:r>
            <a:pPr indent="0" marL="0">
              <a:buNone/>
            </a:pPr>
            <a:r>
              <a:rPr lang="en-US" sz="1050" b="1" dirty="0">
                <a:solidFill>
                  <a:srgbClr val="117A65"/>
                </a:solidFill>
              </a:rPr>
              <a:t>• Dynamique vectorielle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(biologie des glossines, écologie des gîtes)
</a:t>
            </a:r>
            <a:pPr indent="0" marL="0">
              <a:buNone/>
            </a:pPr>
            <a:r>
              <a:rPr lang="en-US" sz="1050" i="1" dirty="0">
                <a:solidFill>
                  <a:srgbClr val="1F3864"/>
                </a:solidFill>
              </a:rPr>
              <a:t>La modélisation bayésienne offre le cadre le plus naturel pour intégrer ces sources d'information de façon cohérente et quantifiée.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Bibliographiques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321040" cy="2743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457200"/>
          </a:xfrm>
          <a:prstGeom prst="rect">
            <a:avLst/>
          </a:prstGeom>
          <a:solidFill>
            <a:srgbClr val="0E2B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Crump, R.E. et al. (2021). Quantifying the impact of passive screening improvements on gambiense HAT in the DRC, 2000–2016. Atlas THA OMS.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32104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François, A. et al. (2024). Modelling the elimination of sleeping sickness in the DRC: spatial heterogeneity and screening efficiency.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321040" cy="457200"/>
          </a:xfrm>
          <a:prstGeom prst="rect">
            <a:avLst/>
          </a:prstGeom>
          <a:solidFill>
            <a:srgbClr val="0E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Gelman, A. &amp; Rubin, D.B. (1992). Inference from iterative simulation using multiple sequences. Statistical Science, 7(4), 457–472.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832104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Rock, K.S. et al. (2015). Data-driven models to predict elimination of sleeping sickness in former Équateur province. Epidemics, 11, 60–67.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8321040" cy="457200"/>
          </a:xfrm>
          <a:prstGeom prst="rect">
            <a:avLst/>
          </a:prstGeom>
          <a:solidFill>
            <a:srgbClr val="0E2B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Vehtari, A., Gelman, A. &amp; Gabry, J. (2017). Practical Bayesian model evaluation using leave-one-out cross-validation and WAIC. Stat. Comput., 27(5).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832104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216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WHO (2023). Global Health Observatory data repository: Human African Trypanosomiasis. Organisation Mondiale de la Santé.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321040" cy="457200"/>
          </a:xfrm>
          <a:prstGeom prst="rect">
            <a:avLst/>
          </a:prstGeom>
          <a:solidFill>
            <a:srgbClr val="0E2B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428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Stan Development Team (2024). Stan Modeling Language User's Guide and Reference Manual. https://mc-stan.org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Document pédagogique — Formation One Health 2024  |  Données : Crump et al. (2021) — Atlas OMS THA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Modélisation Bayésienne de la THA en RDC</dc:title>
  <dc:subject>PptxGenJS Presentation</dc:subject>
  <dc:creator>Formation One Health 2024</dc:creator>
  <cp:lastModifiedBy>Formation One Health 2024</cp:lastModifiedBy>
  <cp:revision>1</cp:revision>
  <dcterms:created xsi:type="dcterms:W3CDTF">2026-05-28T06:41:33Z</dcterms:created>
  <dcterms:modified xsi:type="dcterms:W3CDTF">2026-05-28T06:41:33Z</dcterms:modified>
</cp:coreProperties>
</file>