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06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Statistique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Agronomie &amp; Environnement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7772400" cy="146304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94560"/>
            <a:ext cx="7772400" cy="14630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Production Végétale  •  Production Animale  •  Sciences de l'Environnement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D8F3DC"/>
                </a:solidFill>
              </a:rPr>
              <a:t>Types de modèles  |  Conditions d'application  |  Codes R &amp; Python  |  Choix du bon modèle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ANOVA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39112" y="3977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2039112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Régression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92424" y="3977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92424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GLM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45736" y="3977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45736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Modèles Mixtes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99048" y="3977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6099048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Séries Temporelles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3977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C757D"/>
                </a:solidFill>
              </a:rPr>
              <a:t>Guide pratique &amp; Référentiel méthodologique</a:t>
            </a:r>
            <a:endParaRPr lang="en-US" sz="1000" dirty="0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59" y="212300"/>
            <a:ext cx="1986682" cy="489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PLAN DE LA PRÉSENTATION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" cy="7498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Introduction à la modélisation statistique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502920" cy="7498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745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ANOVA &amp; Tests de comparaison de moyennes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502920" cy="7498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834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83464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Régression Linéaire &amp; Multiple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94760"/>
            <a:ext cx="502920" cy="7498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7947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Modèles Linéaires Généralisés (GLM)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14400"/>
            <a:ext cx="502920" cy="749808"/>
          </a:xfrm>
          <a:prstGeom prst="rect">
            <a:avLst/>
          </a:prstGeom>
          <a:solidFill>
            <a:srgbClr val="168AA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9144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91440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Modèles Mixtes (LMM / GLMM)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874520"/>
            <a:ext cx="502920" cy="749808"/>
          </a:xfrm>
          <a:prstGeom prst="rect">
            <a:avLst/>
          </a:prstGeom>
          <a:solidFill>
            <a:srgbClr val="168AAD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8745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8745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Analyse en Composantes Principales (ACP)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34640"/>
            <a:ext cx="502920" cy="749808"/>
          </a:xfrm>
          <a:prstGeom prst="rect">
            <a:avLst/>
          </a:prstGeom>
          <a:solidFill>
            <a:srgbClr val="168AA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834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283464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Séries Temporelles &amp; Modèles Spatiaux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794760"/>
            <a:ext cx="502920" cy="749808"/>
          </a:xfrm>
          <a:prstGeom prst="rect">
            <a:avLst/>
          </a:prstGeom>
          <a:solidFill>
            <a:srgbClr val="168AAD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7947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379476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Comment choisir le bon modèle 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  |  Introduction à la Modélisation Statistique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60120"/>
          </a:xfrm>
          <a:prstGeom prst="rect">
            <a:avLst/>
          </a:prstGeom>
          <a:solidFill>
            <a:srgbClr val="D8F3D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8595360" cy="960120"/>
          </a:xfrm>
          <a:prstGeom prst="rect">
            <a:avLst/>
          </a:prstGeom>
          <a:noFill/>
          <a:ln/>
        </p:spPr>
        <p:txBody>
          <a:bodyPr wrap="square" lIns="3175" tIns="3175" rIns="3175" bIns="317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Définition : </a:t>
            </a:r>
            <a:r>
              <a:rPr lang="en-US" sz="1200" dirty="0">
                <a:solidFill>
                  <a:srgbClr val="2D3436"/>
                </a:solidFill>
              </a:rPr>
              <a:t>La modélisation statistique consiste à représenter mathématiquement les relations entre variables biologiques, agronomiques ou environnementales afin d'expliquer, prédire ou tester des hypothèses.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2743200" cy="27432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🌾  Production Végétale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505456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560320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Rendements de cultures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Effets des intrants (engrais, eau)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Génétique et amélioration variétale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Stress biotiques &amp; abiotiques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965960"/>
            <a:ext cx="2743200" cy="2743200"/>
          </a:xfrm>
          <a:prstGeom prst="rect">
            <a:avLst/>
          </a:prstGeom>
          <a:solidFill>
            <a:srgbClr val="168AA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🐄  Production Animale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2505456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2560320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Performances zootechniques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Alimentation &amp; croissance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Génétique animale (BLUP)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Épidémiologie du cheptel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2743200" cy="2743200"/>
          </a:xfrm>
          <a:prstGeom prst="rect">
            <a:avLst/>
          </a:prstGeom>
          <a:solidFill>
            <a:srgbClr val="E76F5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🌍  Environnement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505456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2560320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Qualité des sols &amp; eaux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Biodiversité &amp; écologie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Pollution &amp; contamination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Changement climatique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C757D"/>
                </a:solidFill>
              </a:rPr>
              <a:t>L'objectif : choisir le modèle adapté aux données, aux hypothèses et à la question scientifique posée.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  |  ANOVA – Analyse de Variance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690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Principe &amp; Conditions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657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Objectif : </a:t>
            </a:r>
            <a:r>
              <a:rPr lang="en-US" sz="1050" dirty="0">
                <a:solidFill>
                  <a:srgbClr val="2D3436"/>
                </a:solidFill>
              </a:rPr>
              <a:t>Comparer ≥ 2 moyennes de groupes
</a:t>
            </a:r>
            <a:r>
              <a:rPr lang="en-US" sz="1050" b="1" dirty="0">
                <a:solidFill>
                  <a:srgbClr val="1B4332"/>
                </a:solidFill>
              </a:rPr>
              <a:t>Conditions d'application :
</a:t>
            </a:r>
            <a:r>
              <a:rPr lang="en-US" sz="1050" dirty="0">
                <a:solidFill>
                  <a:srgbClr val="2D3436"/>
                </a:solidFill>
              </a:rPr>
              <a:t>✔ Normalité des résidus (Shapiro-Wilk)
✔ Homogénéité des variances (Levene / Bartlett)
✔ Indépendance des observations
</a:t>
            </a:r>
            <a:r>
              <a:rPr lang="en-US" sz="1050" b="1" dirty="0">
                <a:solidFill>
                  <a:srgbClr val="1B4332"/>
                </a:solidFill>
              </a:rPr>
              <a:t>Types :
</a:t>
            </a:r>
            <a:r>
              <a:rPr lang="en-US" sz="1050" dirty="0">
                <a:solidFill>
                  <a:srgbClr val="2D3436"/>
                </a:solidFill>
              </a:rPr>
              <a:t>• ANOVA à 1 facteur (ex: traitements fumure)
• ANOVA à 2 facteurs (ex: variété × irrigation)
• ANOVA mesures répétées
• ANCOVA (covariable continue)
</a:t>
            </a:r>
            <a:r>
              <a:rPr lang="en-US" sz="1050" b="1" dirty="0">
                <a:solidFill>
                  <a:srgbClr val="1B4332"/>
                </a:solidFill>
              </a:rPr>
              <a:t>Post-hoc : </a:t>
            </a:r>
            <a:r>
              <a:rPr lang="en-US" sz="1050" dirty="0">
                <a:solidFill>
                  <a:srgbClr val="2D3436"/>
                </a:solidFill>
              </a:rPr>
              <a:t>Tukey, Duncan, LSD, Bonferroni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822960"/>
            <a:ext cx="4480560" cy="406908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B9E8"/>
                </a:solidFill>
              </a:rPr>
              <a:t># Code R – ANOVA en Agronomie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298448"/>
            <a:ext cx="4206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Chargement des données
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read.csv('rendement.csv')
</a:t>
            </a: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Vérification normalité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shapiro.test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(data$rendement)
</a:t>
            </a: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Homogénéité des variances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bartlett.test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(rendement ~ traitement, data)
</a:t>
            </a: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Modèle ANOVA à 1 facteur
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(rendement ~ traitement, data)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(modele)
</a:t>
            </a: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post-hoc Tukey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TukeyHSD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(modele)
</a:t>
            </a: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ANOVA à 2 facteurs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(rendement ~ variete * irrigation, data)
</a:t>
            </a: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Exemple application
# Production végétale : effet de 4 doses
# d'azote sur le rendement du blé dur
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8AA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  |  Régression Linéaire &amp; Multiple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690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168AA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Principe &amp; Conditions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657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Objectif : </a:t>
            </a:r>
            <a:r>
              <a:rPr lang="en-US" sz="1050" dirty="0">
                <a:solidFill>
                  <a:srgbClr val="2D3436"/>
                </a:solidFill>
              </a:rPr>
              <a:t>Modéliser la relation entre Y (continue) et X(s)
</a:t>
            </a:r>
            <a:r>
              <a:rPr lang="en-US" sz="1050" b="1" dirty="0">
                <a:solidFill>
                  <a:srgbClr val="065A82"/>
                </a:solidFill>
              </a:rPr>
              <a:t>Modèle : </a:t>
            </a:r>
            <a:r>
              <a:rPr lang="en-US" sz="1050" i="1" dirty="0">
                <a:solidFill>
                  <a:srgbClr val="2D3436"/>
                </a:solidFill>
              </a:rPr>
              <a:t>Y = β₀ + β₁X₁ + … + βₙXₙ + ε
</a:t>
            </a:r>
            <a:r>
              <a:rPr lang="en-US" sz="1050" b="1" dirty="0">
                <a:solidFill>
                  <a:srgbClr val="065A82"/>
                </a:solidFill>
              </a:rPr>
              <a:t>Conditions (LINE) :
</a:t>
            </a:r>
            <a:r>
              <a:rPr lang="en-US" sz="1050" dirty="0">
                <a:solidFill>
                  <a:srgbClr val="2D3436"/>
                </a:solidFill>
              </a:rPr>
              <a:t>✔ Linéarité (résidus vs ajustés)
✔ Indépendance des résidus
✔ Normalité des résidus
✔ Égalité des variances (homoscédasticité)
</a:t>
            </a:r>
            <a:r>
              <a:rPr lang="en-US" sz="1050" b="1" dirty="0">
                <a:solidFill>
                  <a:srgbClr val="065A82"/>
                </a:solidFill>
              </a:rPr>
              <a:t>Applications agronomiques :
</a:t>
            </a:r>
            <a:r>
              <a:rPr lang="en-US" sz="1050" dirty="0">
                <a:solidFill>
                  <a:srgbClr val="2D3436"/>
                </a:solidFill>
              </a:rPr>
              <a:t>• Régression dose-réponse (engrais → rendement)
• Relation poids vif – GMQ (bovin)
• Modèle prédictif : température → floraison
• Index de qualité environnementale
</a:t>
            </a:r>
            <a:r>
              <a:rPr lang="en-US" sz="1050" b="1" dirty="0">
                <a:solidFill>
                  <a:srgbClr val="065A82"/>
                </a:solidFill>
              </a:rPr>
              <a:t>Métriques : </a:t>
            </a:r>
            <a:r>
              <a:rPr lang="en-US" sz="1050" dirty="0">
                <a:solidFill>
                  <a:srgbClr val="2D3436"/>
                </a:solidFill>
              </a:rPr>
              <a:t>R², R² ajusté, AIC, RMSE, p-valeurs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822960"/>
            <a:ext cx="4480560" cy="406908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B9E8"/>
                </a:solidFill>
              </a:rPr>
              <a:t># Code R – Régression Linéaire Multiple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298448"/>
            <a:ext cx="4206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Exemple : rendement maïs ~ facteurs
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</a:t>
            </a: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read.csv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('mais_data.csv')
</a:t>
            </a: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Régression simple
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lm1 &lt;- lm(rendement ~ dose_N, data)
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(lm1)
</a:t>
            </a: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Régression multiple
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lm2 &lt;- lm(rendement ~ dose_N + pluie + temp, data)
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(lm2) ; 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(lm2)
</a:t>
            </a: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Diagnostic graphique
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(mfrow=c(2,2)) ; 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(lm2)
</a:t>
            </a: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de multicolinéarité
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(car) ; 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(lm2)  # VIF &lt; 5
</a:t>
            </a: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– sklearn
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
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LinearRegression().fit(X_train, y)
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print(model.score(X_test, y_test))
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  |  Modèles Linéaires Généralisés (GLM)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690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Familles &amp; Applications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657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Quand utiliser un GLM ?
</a:t>
            </a:r>
            <a:r>
              <a:rPr lang="en-US" sz="1050" dirty="0">
                <a:solidFill>
                  <a:srgbClr val="2D3436"/>
                </a:solidFill>
              </a:rPr>
              <a:t>Quand Y n'est pas normale (binaire, comptage, proportion)
</a:t>
            </a:r>
            <a:r>
              <a:rPr lang="en-US" sz="1050" b="1" dirty="0">
                <a:solidFill>
                  <a:srgbClr val="E76F51"/>
                </a:solidFill>
              </a:rPr>
              <a:t>Familles de distribution :
</a:t>
            </a:r>
            <a:r>
              <a:rPr lang="en-US" sz="1050" dirty="0">
                <a:solidFill>
                  <a:srgbClr val="2D3436"/>
                </a:solidFill>
              </a:rPr>
              <a:t>• Binomiale (logit) → présence/absence maladie
• Poisson (log) → comptage (graines, ravageurs)
• Gamma / Gaussienne inverse → données positives asymétriques
• Binomiale négative → surdispersion des comptages
• Quasi-Poisson → données overdispersées
</a:t>
            </a:r>
            <a:r>
              <a:rPr lang="en-US" sz="1050" b="1" dirty="0">
                <a:solidFill>
                  <a:srgbClr val="E76F51"/>
                </a:solidFill>
              </a:rPr>
              <a:t>Conditions :
</a:t>
            </a:r>
            <a:r>
              <a:rPr lang="en-US" sz="1050" dirty="0">
                <a:solidFill>
                  <a:srgbClr val="2D3436"/>
                </a:solidFill>
              </a:rPr>
              <a:t>✔ Choisir la bonne famille (deviance / AIC)
✔ Vérifier la surdispersion (ratio déviance/ddl)
✔ Indépendance des observations
✔ Absence d'excès de zéros (→ ZIP/ZINB)
</a:t>
            </a:r>
            <a:r>
              <a:rPr lang="en-US" sz="1050" b="1" dirty="0">
                <a:solidFill>
                  <a:srgbClr val="E76F51"/>
                </a:solidFill>
              </a:rPr>
              <a:t>Exemples :
</a:t>
            </a:r>
            <a:r>
              <a:rPr lang="en-US" sz="1050" dirty="0">
                <a:solidFill>
                  <a:srgbClr val="2D3436"/>
                </a:solidFill>
              </a:rPr>
              <a:t>→ Incidence maladie animale (logistique)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→ Comptage d'insectes dans une parcelle (Poisson)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→ Mortalité de plants (binomiale)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822960"/>
            <a:ext cx="4480560" cy="406908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B9E8"/>
                </a:solidFill>
              </a:rPr>
              <a:t># Code R – GLM Logistique &amp; Poisson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298448"/>
            <a:ext cx="4206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GLM Logistique : maladie animale
# Y = 0/1 (sain/malade)
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mod_log &lt;- glm(malade ~ poids + age + race,
          family=binomial(link='logit'), data)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(mod_log)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(coef(mod_log))  # Odds Ratios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GLM Poisson : comptage ravageurs
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mod_pois &lt;- glm(nb_insectes ~ traitement + culture,
         family=poisson(link='log'), data)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Vérification surdispersion
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mod_pois$deviance / mod_pois$df.residual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surdispersion : Binomiale Négative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(MASS)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glm.nb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(nb_insectes ~ traitement, data)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Comparaison modèles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(mod_pois, mod_nb)  # choisir AIC min
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B27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  |  Modèles Mixtes – LMM &amp; GLMM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690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6B27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Principe &amp; Conditions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657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2737"/>
                </a:solidFill>
              </a:rPr>
              <a:t>Définition :
</a:t>
            </a:r>
            <a:r>
              <a:rPr lang="en-US" sz="1050" dirty="0">
                <a:solidFill>
                  <a:srgbClr val="2D3436"/>
                </a:solidFill>
              </a:rPr>
              <a:t>Combinent effets fixes (facteurs contrôlés) + effets aléatoires (variabilité non contrôlée : ferme, bloc, sujet)
</a:t>
            </a:r>
            <a:r>
              <a:rPr lang="en-US" sz="1050" b="1" dirty="0">
                <a:solidFill>
                  <a:srgbClr val="6B2737"/>
                </a:solidFill>
              </a:rPr>
              <a:t>Modèle : </a:t>
            </a:r>
            <a:r>
              <a:rPr lang="en-US" sz="1050" i="1" dirty="0">
                <a:solidFill>
                  <a:srgbClr val="2D3436"/>
                </a:solidFill>
              </a:rPr>
              <a:t>Y = Xβ + Zu + ε
</a:t>
            </a:r>
            <a:r>
              <a:rPr lang="en-US" sz="1050" b="1" dirty="0">
                <a:solidFill>
                  <a:srgbClr val="6B2737"/>
                </a:solidFill>
              </a:rPr>
              <a:t>Indications :
</a:t>
            </a:r>
            <a:r>
              <a:rPr lang="en-US" sz="1050" dirty="0">
                <a:solidFill>
                  <a:srgbClr val="2D3436"/>
                </a:solidFill>
              </a:rPr>
              <a:t>✔ Données pseudo-répétées (mesures sur même animal/parcelle)
✔ Structure en blocs ou groupes
✔ Plans en split-plot
✔ Essais multi-sites agronomiques
</a:t>
            </a:r>
            <a:r>
              <a:rPr lang="en-US" sz="1050" b="1" dirty="0">
                <a:solidFill>
                  <a:srgbClr val="6B2737"/>
                </a:solidFill>
              </a:rPr>
              <a:t>Exemples :
</a:t>
            </a:r>
            <a:r>
              <a:rPr lang="en-US" sz="1050" dirty="0">
                <a:solidFill>
                  <a:srgbClr val="2D3436"/>
                </a:solidFill>
              </a:rPr>
              <a:t>→ Croissance bovine (animal = effet aléatoire)
→ Rendement multi-sites (site = effet aléatoire)
→ Lait sur plusieurs lactations
→ pH du sol par blocs géographiques
</a:t>
            </a:r>
            <a:r>
              <a:rPr lang="en-US" sz="1050" b="1" dirty="0">
                <a:solidFill>
                  <a:srgbClr val="6B2737"/>
                </a:solidFill>
              </a:rPr>
              <a:t>Packages R : </a:t>
            </a:r>
            <a:r>
              <a:rPr lang="en-US" sz="1050" dirty="0">
                <a:solidFill>
                  <a:srgbClr val="2D3436"/>
                </a:solidFill>
              </a:rPr>
              <a:t>lme4, nlme, lmerTest, brms (bayésien)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822960"/>
            <a:ext cx="4480560" cy="406908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B9E8"/>
                </a:solidFill>
              </a:rPr>
              <a:t># Code R – lme4 / lmerTest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298448"/>
            <a:ext cx="4206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(lme4) ; 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(lmerTest)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LMM : rendement multi-sites
# Effets fixes : variete, dose_N
# Effet aléatoire : site
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lmm1 &lt;- lmer(rendement ~
  variete + dose_N + (1|site), data)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(lmm1)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anova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(lmm1)  # Test effets fixes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GLMM : incidence maladie (binomiale)
# Effet aléatoire : ferme
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glmm1 &lt;- glmer(malade ~ race + age +
  (1|ferme),
  family=binomial, data)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Diagnostics et ICC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(performance)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(lmm1)  # Corrélation intra-classe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check_model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(lmm1)  # Graphes diagnostic
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C40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  |  Analyse en Composantes Principales (ACP)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690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5C403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Principe &amp; Conditions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657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C4033"/>
                </a:solidFill>
              </a:rPr>
              <a:t>Objectif :
</a:t>
            </a:r>
            <a:r>
              <a:rPr lang="en-US" sz="1050" dirty="0">
                <a:solidFill>
                  <a:srgbClr val="2D3436"/>
                </a:solidFill>
              </a:rPr>
              <a:t>Réduire la dimensionnalité, identifier des groupes et structures latentes dans des données multivariées
</a:t>
            </a:r>
            <a:r>
              <a:rPr lang="en-US" sz="1050" b="1" dirty="0">
                <a:solidFill>
                  <a:srgbClr val="5C4033"/>
                </a:solidFill>
              </a:rPr>
              <a:t>Conditions :
</a:t>
            </a:r>
            <a:r>
              <a:rPr lang="en-US" sz="1050" dirty="0">
                <a:solidFill>
                  <a:srgbClr val="2D3436"/>
                </a:solidFill>
              </a:rPr>
              <a:t>✔ Variables continues (ou ACP mixte/FAMD)
✔ Absence de valeurs manquantes (imputation si nécessaire)
✔ Corrélation entre variables (KMO &gt; 0.5, test Bartlett)
✔ Standardisation recommandée (mean=0, sd=1)
</a:t>
            </a:r>
            <a:r>
              <a:rPr lang="en-US" sz="1050" b="1" dirty="0">
                <a:solidFill>
                  <a:srgbClr val="5C4033"/>
                </a:solidFill>
              </a:rPr>
              <a:t>Compléments multivariés :
</a:t>
            </a:r>
            <a:r>
              <a:rPr lang="en-US" sz="1050" dirty="0">
                <a:solidFill>
                  <a:srgbClr val="2D3436"/>
                </a:solidFill>
              </a:rPr>
              <a:t>• AFC (données catégorielles)
• ACM (variables mixtes)
• Clustering (k-means, CAH)
• AFD (analyse discriminante)
</a:t>
            </a:r>
            <a:r>
              <a:rPr lang="en-US" sz="1050" b="1" dirty="0">
                <a:solidFill>
                  <a:srgbClr val="5C4033"/>
                </a:solidFill>
              </a:rPr>
              <a:t>Applications :
</a:t>
            </a:r>
            <a:r>
              <a:rPr lang="en-US" sz="1050" dirty="0">
                <a:solidFill>
                  <a:srgbClr val="2D3436"/>
                </a:solidFill>
              </a:rPr>
              <a:t>→ Caractérisation des sols (matière org., pH, N, P…)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→ Profilage génotypique de variétés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→ Analyse qualité lait (TB, TP, CCS…)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→ Indicateurs biodiversité multi-variables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822960"/>
            <a:ext cx="4480560" cy="406908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822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B9E8"/>
                </a:solidFill>
              </a:rPr>
              <a:t># Code R – FactoMineR &amp; factoextra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298448"/>
            <a:ext cx="4206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(FactoMineR) ; 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(factoextra)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Données : propriétés du sol (N=50 parcelles)
# Variables : pH, MO, N, P, K, CEC, argile
# ACP standardisée
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res.pca &lt;- PCA(sol_data, scale.unit=TRUE, graph=F)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(res.pca)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Valeurs propres (scree plot)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fviz_eig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(res.pca, addlabels=TRUE)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Cercle des corrélations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fviz_pca_var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(res.pca, col.var='cos2',
  gradient.cols=c('red','blue'))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Biplot individus + variables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fviz_pca_biplot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(res.pca, habillage='type_sol')
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Clustering sur composantes
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hcpc &lt;- HCPC(res.pca, nb.clust=3)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(hcpc, choice='map')
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3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  |  Séries Temporelles &amp; Modèles Spatiaux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256032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384048"/>
          </a:xfrm>
          <a:prstGeom prst="rect">
            <a:avLst/>
          </a:prstGeom>
          <a:solidFill>
            <a:srgbClr val="1A535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Séries Temporelles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3794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35C"/>
                </a:solidFill>
              </a:rPr>
              <a:t>Modèles :
</a:t>
            </a:r>
            <a:r>
              <a:rPr lang="en-US" sz="1000" dirty="0">
                <a:solidFill>
                  <a:srgbClr val="2D3436"/>
                </a:solidFill>
              </a:rPr>
              <a:t>• AR, MA, ARMA : stationnarité requise
• ARIMA(p,d,q) : avec différenciation
• SARIMA : composante saisonnière
• ARCH/GARCH : variance non constante
</a:t>
            </a:r>
            <a:r>
              <a:rPr lang="en-US" sz="1000" b="1" dirty="0">
                <a:solidFill>
                  <a:srgbClr val="1A535C"/>
                </a:solidFill>
              </a:rPr>
              <a:t>Applications :
</a:t>
            </a:r>
            <a:r>
              <a:rPr lang="en-US" sz="1000" dirty="0">
                <a:solidFill>
                  <a:srgbClr val="2D3436"/>
                </a:solidFill>
              </a:rPr>
              <a:t>→ Prévision rendement inter-annuel
→ Dynamique population ravageurs
→ Évolution températures/précipitations
→ Débit cours d'eau (hydrologie)
</a:t>
            </a:r>
            <a:r>
              <a:rPr lang="en-US" sz="1000" b="1" dirty="0">
                <a:solidFill>
                  <a:srgbClr val="1A535C"/>
                </a:solidFill>
              </a:rPr>
              <a:t>Conditions :
</a:t>
            </a:r>
            <a:r>
              <a:rPr lang="en-US" sz="1000" dirty="0">
                <a:solidFill>
                  <a:srgbClr val="2D3436"/>
                </a:solidFill>
              </a:rPr>
              <a:t>✔ Test de stationnarité (ADF, KPSS)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</a:rPr>
              <a:t>✔ ACF / PACF pour choisir p, q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</a:rPr>
              <a:t>✔ Normalité des résidus (Box-Ljung)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51960" cy="256032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22960"/>
            <a:ext cx="425196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82296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Modèles Spatiaux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252728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Approches :
</a:t>
            </a:r>
            <a:r>
              <a:rPr lang="en-US" sz="1000" dirty="0">
                <a:solidFill>
                  <a:srgbClr val="2D3436"/>
                </a:solidFill>
              </a:rPr>
              <a:t>• Krigeage (géostatistique)
• Régression spatiale (SAR, CAR, SEM)
• Autologistique pour données binaires
• Random Forest spatial
</a:t>
            </a:r>
            <a:r>
              <a:rPr lang="en-US" sz="1000" b="1" dirty="0">
                <a:solidFill>
                  <a:srgbClr val="2D6A4F"/>
                </a:solidFill>
              </a:rPr>
              <a:t>Applications :
</a:t>
            </a:r>
            <a:r>
              <a:rPr lang="en-US" sz="1000" dirty="0">
                <a:solidFill>
                  <a:srgbClr val="2D3436"/>
                </a:solidFill>
              </a:rPr>
              <a:t>→ Cartographie de la fertilité des sols
→ Distribution espèces végétales/animales
→ Zones de risque phytosanitaire
→ Interpolation données climatiques
</a:t>
            </a:r>
            <a:r>
              <a:rPr lang="en-US" sz="1000" b="1" dirty="0">
                <a:solidFill>
                  <a:srgbClr val="2D6A4F"/>
                </a:solidFill>
              </a:rPr>
              <a:t>Conditions :
</a:t>
            </a:r>
            <a:r>
              <a:rPr lang="en-US" sz="1000" dirty="0">
                <a:solidFill>
                  <a:srgbClr val="2D3436"/>
                </a:solidFill>
              </a:rPr>
              <a:t>✔ Test autocorrélation spatiale (Moran 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</a:rPr>
              <a:t>✔ Variogramme pour krigeage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</a:rPr>
              <a:t>✔ Définir structure de voisinage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8595360" cy="14630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B9E8"/>
                </a:solidFill>
              </a:rPr>
              <a:t># Code R – ARIMA &amp; Krigeage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91363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(forecast)  # ARIMA auto
mod_arima &lt;- auto.arima(ts(rendement, freq=1)) ; 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(mod_arima, h=5)        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Krigeage (geoR/gstat)
</a:t>
            </a:r>
            <a:r>
              <a:rPr lang="en-US" sz="9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r>
              <a:rPr lang="en-US" sz="9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(gstat) ; vg &lt;- variogram(pH~1, sol_sp) ; vg_fit &lt;- fit.variogram(vg, vgm('Sph')) ; krig &lt;- krige(pH~1, sol_sp, grid, vg_fit)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08  |  Comment Choisir le Bon Modèle Statistique 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600200" cy="347472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</a:rPr>
              <a:t>ÉTAPE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Nature de Y 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38528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Continue → LM / LMM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Binaire → Logistique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Comptage → Poisson / NB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Proportion → Beta rég.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822960"/>
            <a:ext cx="1600200" cy="3474720"/>
          </a:xfrm>
          <a:prstGeom prst="rect">
            <a:avLst/>
          </a:prstGeom>
          <a:solidFill>
            <a:srgbClr val="168AA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65960" y="82296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AAD"/>
                </a:solidFill>
              </a:rPr>
              <a:t>ÉTAPE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 des données 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938528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Observations indépendantes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ou groupées / répétées 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Modèles mixtes si groupes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822960"/>
            <a:ext cx="1600200" cy="3474720"/>
          </a:xfrm>
          <a:prstGeom prst="rect">
            <a:avLst/>
          </a:prstGeom>
          <a:solidFill>
            <a:srgbClr val="E76F5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03320" y="82296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6F51"/>
                </a:solidFill>
              </a:rPr>
              <a:t>ÉTAPE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Vérifier les conditions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1938528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Normalité, homoscédasticité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Indépendance, linéarité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Plots diagnostics + tests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822960"/>
            <a:ext cx="1600200" cy="3474720"/>
          </a:xfrm>
          <a:prstGeom prst="rect">
            <a:avLst/>
          </a:prstGeom>
          <a:solidFill>
            <a:srgbClr val="6B27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0680" y="82296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737"/>
                </a:solidFill>
              </a:rPr>
              <a:t>ÉTAPE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Comparer les modèles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1938528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AIC / BIC (+ faible = mieux)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R², RMSE, Déviance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Validation croisée (k-fold)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822960"/>
            <a:ext cx="1600200" cy="3474720"/>
          </a:xfrm>
          <a:prstGeom prst="rect">
            <a:avLst/>
          </a:prstGeom>
          <a:solidFill>
            <a:srgbClr val="5C40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78040" y="82296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4033"/>
                </a:solidFill>
              </a:rPr>
              <a:t>ÉTAPE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Valider &amp; Interpréter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1938528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Résidus bien distribués 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Significativité biologique 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Simplicité (parsimonie) 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D8F3D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</a:rPr>
              <a:t>Règle d'or : </a:t>
            </a:r>
            <a:r>
              <a:rPr lang="en-US" sz="1150" dirty="0">
                <a:solidFill>
                  <a:srgbClr val="2D3436"/>
                </a:solidFill>
              </a:rPr>
              <a:t>« Choisir le modèle le plus simple qui répond correctement à la question posée » – </a:t>
            </a:r>
            <a:r>
              <a:rPr lang="en-US" sz="1150" b="1" i="1" dirty="0">
                <a:solidFill>
                  <a:srgbClr val="2D6A4F"/>
                </a:solidFill>
              </a:rPr>
              <a:t>Principe de parcimonie (Rasoir d'Occam)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Tableau Récapitulatif des Modèles Statistiques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04672"/>
          <a:ext cx="8686800" cy="4206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 de 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Données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Package 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Application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ANOVA / ANCOVA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Continue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Groupes indép.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stats, agricolae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Comparaison traitements fumure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Régression LM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Continue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Ind., linéaire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stats, car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Dose-réponse engrais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GLM Logistique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Binaire 0/1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Ind.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stats, MASS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Présence/absence maladie animale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GLM Poisson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Comptage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Ind.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stats, MASS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Dénombrement ravageurs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Modèle Mixte LMM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Continue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Groupée/répétée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lme4, nlme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Multi-sites, lactations répétées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GLMM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Non-normale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Groupée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lme4, glmmTMB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Mortalité par ferme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ACP / ACM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Multivariée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Continue/Mixte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FactoMineR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Profil sol, génotypage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ARIMA / SARIMA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Temporelle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Séries chrono.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forecast, tseries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Prévision rendement annuel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Krigeage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Géo-spatiale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Coordonnées XY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gstat, geoR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</a:rPr>
                        <a:t>Cartographie fertilité des sols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Points Clés &amp;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3886200" cy="105156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</a:rPr>
              <a:t>🎯 Question d'abord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5528" y="14447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Commencer par la question biologique/agronomique, pas par le modèle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267712"/>
            <a:ext cx="3886200" cy="105156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</a:rPr>
              <a:t>📊 Nature des données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7066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Identifier la distribution de Y (continue, binaire, comptage, spatiale, temporelle)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529584"/>
            <a:ext cx="3886200" cy="105156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3593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</a:rPr>
              <a:t>⚙️ Structure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" y="39684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Tenir compte de la structure des données : blocs, répétitions, sites, individus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886200" cy="105156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</a:rPr>
              <a:t>✅ Vérification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56048" y="14447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Valider systématiquement les conditions : normalité, homogénéité, indépendance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267712"/>
            <a:ext cx="3886200" cy="105156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56048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</a:rPr>
              <a:t>📉 Comparaison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56048" y="27066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Utiliser AIC/BIC, R², RMSE pour comparer et sélectionner les modèles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529584"/>
            <a:ext cx="3886200" cy="105156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56048" y="3593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</a:rPr>
              <a:t>🔬 Reproductibilité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56048" y="39684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Documenter le code (R/Python), les versions et les choix méthodologiques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736592"/>
            <a:ext cx="8046720" cy="29260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365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4332"/>
                </a:solidFill>
              </a:rPr>
              <a:t>« Un bon modèle est un outil au service de la compréhension, non une fin en soi. »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766</Words>
  <Application>Microsoft Office PowerPoint</Application>
  <PresentationFormat>Affichage à l'écran (16:9)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Modélisation Statistique en Agronomie et Environnement</dc:title>
  <dc:subject>PptxGenJS Presentation</dc:subject>
  <dc:creator>Expert en Biostatistiques Appliquées</dc:creator>
  <cp:lastModifiedBy>BAGALWA</cp:lastModifiedBy>
  <cp:revision>2</cp:revision>
  <dcterms:created xsi:type="dcterms:W3CDTF">2026-05-31T17:52:38Z</dcterms:created>
  <dcterms:modified xsi:type="dcterms:W3CDTF">2026-06-03T17:03:33Z</dcterms:modified>
</cp:coreProperties>
</file>