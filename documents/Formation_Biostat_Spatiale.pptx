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5BA85A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2C5F2D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2926080"/>
            <a:ext cx="2011680" cy="2011680"/>
          </a:xfrm>
          <a:prstGeom prst="ellipse">
            <a:avLst/>
          </a:prstGeom>
          <a:solidFill>
            <a:srgbClr val="5BA85A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A85A"/>
                </a:solidFill>
              </a:rPr>
              <a:t>Formation en Biostatistiques Spatiales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Modèles Linéaires &amp; Logistiques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appliqués en Santé / Agriculture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4572000" cy="36576"/>
          </a:xfrm>
          <a:prstGeom prst="rect">
            <a:avLst/>
          </a:prstGeom>
          <a:solidFill>
            <a:srgbClr val="5BA85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Corrélations Spatiales : NDVI · NDWI · SAVI · LST &amp; Maladies Vectorielles dans RStudio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🌍  Durée :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2 heures  </a:t>
            </a:r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  🎯  Niveau :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Débutants R  </a:t>
            </a:r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  🏷  Outils :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RStudio · terra · sf · ggplot2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📋  Plan de la Formation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68680"/>
            <a:ext cx="548640" cy="12344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868680"/>
            <a:ext cx="548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96012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1F"/>
                </a:solidFill>
              </a:rPr>
              <a:t>Bases de R &amp; RStudio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6459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⏱ 15 min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2240280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2240280"/>
            <a:ext cx="548640" cy="1234440"/>
          </a:xfrm>
          <a:prstGeom prst="rect">
            <a:avLst/>
          </a:prstGeom>
          <a:solidFill>
            <a:srgbClr val="5BA85A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" y="2240280"/>
            <a:ext cx="548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233172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1F"/>
                </a:solidFill>
              </a:rPr>
              <a:t>Régression Linéaire Appliquée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30175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⏱ 25 min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3611880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3611880"/>
            <a:ext cx="548640" cy="1234440"/>
          </a:xfrm>
          <a:prstGeom prst="rect">
            <a:avLst/>
          </a:prstGeom>
          <a:solidFill>
            <a:srgbClr val="1E6B9A"/>
          </a:solidFill>
          <a:ln/>
        </p:spPr>
      </p:sp>
      <p:sp>
        <p:nvSpPr>
          <p:cNvPr id="16" name="Text 14"/>
          <p:cNvSpPr/>
          <p:nvPr/>
        </p:nvSpPr>
        <p:spPr>
          <a:xfrm>
            <a:off x="228600" y="3611880"/>
            <a:ext cx="548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370332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1F"/>
                </a:solidFill>
              </a:rPr>
              <a:t>Régression Logistique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4389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⏱ 25 min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868680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868680"/>
            <a:ext cx="548640" cy="1234440"/>
          </a:xfrm>
          <a:prstGeom prst="rect">
            <a:avLst/>
          </a:prstGeom>
          <a:solidFill>
            <a:srgbClr val="3A9E3A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868680"/>
            <a:ext cx="548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94960" y="96012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1F"/>
                </a:solidFill>
              </a:rPr>
              <a:t>Indices Spectraux NDVI · NDWI · SAVI · LST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94960" y="16459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⏱ 25 min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240280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240280"/>
            <a:ext cx="548640" cy="12344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2240280"/>
            <a:ext cx="548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94960" y="233172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1F"/>
                </a:solidFill>
              </a:rPr>
              <a:t>Maladies Vectorielles &amp; Corrélations Spatiales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94960" y="30175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⏱ 20 min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611880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611880"/>
            <a:ext cx="548640" cy="1234440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3611880"/>
            <a:ext cx="548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94960" y="370332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1F"/>
                </a:solidFill>
              </a:rPr>
              <a:t>Exercices &amp; Discussion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94960" y="4389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⏱ 10 min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828800" cy="320040"/>
          </a:xfrm>
          <a:prstGeom prst="roundRect">
            <a:avLst>
              <a:gd name="adj" fmla="val 28571"/>
            </a:avLst>
          </a:prstGeom>
          <a:solidFill>
            <a:srgbClr val="5BA85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MODULE 01 · BASES 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</a:rPr>
              <a:t>RStudio : Interface &amp; Packages Essentiels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4023360" cy="3657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2344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Script / Éditeur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6916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1F"/>
                </a:solidFill>
              </a:rPr>
              <a:t>Écrivez et sauvegardez votre code ici. Exécutez avec Ctrl+Enter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12344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1234440"/>
            <a:ext cx="4023360" cy="365760"/>
          </a:xfrm>
          <a:prstGeom prst="rect">
            <a:avLst/>
          </a:prstGeom>
          <a:solidFill>
            <a:srgbClr val="1E6B9A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2344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Console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17720" y="16916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1F"/>
                </a:solidFill>
              </a:rPr>
              <a:t>Résultats immédiats. Testez des commandes rapides directement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0632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063240"/>
            <a:ext cx="4023360" cy="365760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3063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Environnement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35204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1F"/>
                </a:solidFill>
              </a:rPr>
              <a:t>Vos variables, data frames et objets chargés en mémoire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80560" y="30632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80560" y="3063240"/>
            <a:ext cx="4023360" cy="3657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4480560" y="3063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Plots / Packages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17720" y="35204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1F"/>
                </a:solidFill>
              </a:rPr>
              <a:t>Graphiques, aide, fichiers et gestion des packages installés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3A2A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4663440"/>
            <a:ext cx="877824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install.packages(c('tidyverse','sf','terra','ggplot2','car','lmtest'))   |   library(tidyverse)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828800" cy="320040"/>
          </a:xfrm>
          <a:prstGeom prst="roundRect">
            <a:avLst>
              <a:gd name="adj" fmla="val 28571"/>
            </a:avLst>
          </a:prstGeom>
          <a:solidFill>
            <a:srgbClr val="5BA85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MODULE 02 · LINÉAIRE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</a:rPr>
              <a:t>Régression Linéaire : Principes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859536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887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Y  =  β₀  +  β₁X₁  +  β₂X₂  +  …  +  ε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210312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139696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1F"/>
                </a:solidFill>
              </a:rPr>
              <a:t>Variable dépendante (à expliquer) : ex. rendement agricole (t/ha)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788920"/>
            <a:ext cx="502920" cy="502920"/>
          </a:xfrm>
          <a:prstGeom prst="ellipse">
            <a:avLst/>
          </a:prstGeom>
          <a:solidFill>
            <a:srgbClr val="5BA85A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β₀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2825496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1F"/>
                </a:solidFill>
              </a:rPr>
              <a:t>Constante (intercept) : valeur de Y quand toutes les X = 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474720"/>
            <a:ext cx="502920" cy="502920"/>
          </a:xfrm>
          <a:prstGeom prst="ellipse">
            <a:avLst/>
          </a:prstGeom>
          <a:solidFill>
            <a:srgbClr val="1E6B9A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β₁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3511296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1F"/>
                </a:solidFill>
              </a:rPr>
              <a:t>Coefficient de régression : effet d'une unité de X₁ sur 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416052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ε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4197096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1F"/>
                </a:solidFill>
              </a:rPr>
              <a:t>Résidu / erreur : part de Y non expliquée par le modèle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solidFill>
            <a:srgbClr val="EAF4E8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C5F2D"/>
                </a:solidFill>
              </a:rPr>
              <a:t>⚕ Santé : Y = taux de paludisme | X = NDVI, pluviométrie, densité de population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828800" cy="320040"/>
          </a:xfrm>
          <a:prstGeom prst="roundRect">
            <a:avLst>
              <a:gd name="adj" fmla="val 28571"/>
            </a:avLst>
          </a:prstGeom>
          <a:solidFill>
            <a:srgbClr val="5BA85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CODE R · LINÉAIRE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Régression Linéaire dans 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374904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188720"/>
            <a:ext cx="83210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Simulation de données agricoles ──────────────────
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set.seed(42)
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&lt;- 100
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ndvi     &lt;- runif(n, 0.1, 0.8)          # Indice végétation
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pluie    &lt;- runif(n, 200, 800)           # Pluviométrie (mm)
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rendement &lt;- 2 + 3*ndvi + 0.005*pluie + rnorm(n, 0, 0.5)
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&lt;- data.frame(rendement, ndvi, pluie)
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Ajustement du modèle ──────────────────────────────
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modele &lt;- lm(rendement ~ ndvi + pluie, data = df)
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summary(modele)                          # Résultats complets
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Visualisation ────────────────────────────────────
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plot(modele)                             # 4 graphiques diagnostics
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library(ggplot2)
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ggplot(df, aes(x = ndvi, y = rendement)) +
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geom_point(color='#5BA85A') + geom_smooth(method='lm') +
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labs(title='Rendement ~ NDVI', x='NDVI', y='Rendement (t/ha)')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828800" cy="320040"/>
          </a:xfrm>
          <a:prstGeom prst="roundRect">
            <a:avLst>
              <a:gd name="adj" fmla="val 28571"/>
            </a:avLst>
          </a:prstGeom>
          <a:solidFill>
            <a:srgbClr val="1E6B9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MODULE 03 · LOGISTIQUE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A6B"/>
                </a:solidFill>
              </a:rPr>
              <a:t>Régression Logistique : Quand Y est Binaire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8595360" cy="640080"/>
          </a:xfrm>
          <a:prstGeom prst="rect">
            <a:avLst/>
          </a:prstGeom>
          <a:solidFill>
            <a:srgbClr val="1E6B9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887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P(Y=1)  =  1 / (1 + e^−(β₀ + β₁X₁ + …))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2011680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011680"/>
            <a:ext cx="73152" cy="1371600"/>
          </a:xfrm>
          <a:prstGeom prst="rect">
            <a:avLst/>
          </a:prstGeom>
          <a:solidFill>
            <a:srgbClr val="1E6B9A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" y="2103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B9A"/>
                </a:solidFill>
              </a:rPr>
              <a:t>Variable 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" y="251460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1F"/>
                </a:solidFill>
              </a:rPr>
              <a:t>Binaire : malade / sain, présence / absence, 1 / 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2011680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2011680"/>
            <a:ext cx="73152" cy="13716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4736592" y="2103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Odds Ratio (OR)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36592" y="251460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1F"/>
                </a:solidFill>
              </a:rPr>
              <a:t>exp(β) : multiplicateur de risque. OR &gt; 1 = facteur de risque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520440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520440"/>
            <a:ext cx="73152" cy="13716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" y="3611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</a:rPr>
              <a:t>AUC / ROC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8912" y="402336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1F"/>
                </a:solidFill>
              </a:rPr>
              <a:t>Mesure la qualité discriminante du modèle (0.5 = aléatoire, 1 = parfait)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3520440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3520440"/>
            <a:ext cx="73152" cy="1371600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21" name="Text 19"/>
          <p:cNvSpPr/>
          <p:nvPr/>
        </p:nvSpPr>
        <p:spPr>
          <a:xfrm>
            <a:off x="4736592" y="3611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6914"/>
                </a:solidFill>
              </a:rPr>
              <a:t>Applications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36592" y="402336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1F"/>
                </a:solidFill>
              </a:rPr>
              <a:t>Paludisme / Dengue en zone à fort NDVI et eaux stagnantes (NDWI &gt; 0.2)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828800" cy="320040"/>
          </a:xfrm>
          <a:prstGeom prst="roundRect">
            <a:avLst>
              <a:gd name="adj" fmla="val 28571"/>
            </a:avLst>
          </a:prstGeom>
          <a:solidFill>
            <a:srgbClr val="1E6B9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CODE R · LOGISTIQUE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Régression Logistique dans 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374904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188720"/>
            <a:ext cx="83210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Données : présence de paludisme selon NDVI ──────
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set.seed(123)
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      &lt;- 200
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ndvi    &lt;- runif(n, 0.1, 0.9)
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ndwi    &lt;- runif(n, -0.3, 0.5)
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logit_p &lt;- -3 + 4*ndvi + 3*ndwi         # Relation logistique
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paludisme &lt;- rbinom(n, 1, plogis(logit_p))
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df2 &lt;- data.frame(paludisme, ndvi, ndwi)
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Modèle logistique ────────────────────────────────
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mod_log &lt;- glm(paludisme ~ ndvi + ndwi,
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family = binomial(link='logit'), data = df2)
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summary(mod_log)
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exp(coef(mod_log))                       # Odds Ratios
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Courbe ROC ───────────────────────────────────────
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library(pROC)
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roc_obj &lt;- roc(df2$paludisme, fitted(mod_log))
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plot(roc_obj, col='#1E6B9A'); auc(roc_obj)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828800" cy="320040"/>
          </a:xfrm>
          <a:prstGeom prst="roundRect">
            <a:avLst>
              <a:gd name="adj" fmla="val 28571"/>
            </a:avLst>
          </a:prstGeom>
          <a:solidFill>
            <a:srgbClr val="3A9E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MODULE 04 · INDICES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</a:rPr>
              <a:t>Indices Spectraux de Télédétection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18872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188720"/>
            <a:ext cx="4206240" cy="411480"/>
          </a:xfrm>
          <a:prstGeom prst="rect">
            <a:avLst/>
          </a:prstGeom>
          <a:solidFill>
            <a:srgbClr val="3A9E3A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1188720"/>
            <a:ext cx="2194560" cy="411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🌿  NDVI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0" y="1188720"/>
            <a:ext cx="2103120" cy="411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(NIR − R) / (NIR + R)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6916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E3A"/>
                </a:solidFill>
              </a:rPr>
              <a:t>Plage : -1 à +1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196596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1F"/>
                </a:solidFill>
              </a:rPr>
              <a:t>Végétation : 0.6-0.9 = forêt dense | 0.2-0.4 = prairie | &lt; 0 = eau/sol nu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17720" y="118872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1188720"/>
            <a:ext cx="4206240" cy="411480"/>
          </a:xfrm>
          <a:prstGeom prst="rect">
            <a:avLst/>
          </a:prstGeom>
          <a:solidFill>
            <a:srgbClr val="1E6B9A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1188720"/>
            <a:ext cx="2194560" cy="411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💧  NDWI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20840" y="1188720"/>
            <a:ext cx="2103120" cy="411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(G − NIR) / (G + NIR)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09160" y="16916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6B9A"/>
                </a:solidFill>
              </a:rPr>
              <a:t>Plage : -1 à +1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09160" y="196596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1F"/>
                </a:solidFill>
              </a:rPr>
              <a:t>Eau : &gt; 0.3 = eau libre (zones d'eau stagnante = risque vectoriel élevé)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82880" y="310896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82880" y="3108960"/>
            <a:ext cx="4206240" cy="411480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19" name="Text 17"/>
          <p:cNvSpPr/>
          <p:nvPr/>
        </p:nvSpPr>
        <p:spPr>
          <a:xfrm>
            <a:off x="182880" y="3108960"/>
            <a:ext cx="2194560" cy="411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🌾  SAVI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286000" y="3108960"/>
            <a:ext cx="2103120" cy="411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(NIR − R) / (NIR + R + L) × (1+L)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" y="36118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6914"/>
                </a:solidFill>
              </a:rPr>
              <a:t>Plage : L = 0.5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" y="388620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1F"/>
                </a:solidFill>
              </a:rPr>
              <a:t>Végétation sur sols arides — corrige l'effet du sol nu (agriculture semi-aride)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17720" y="310896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17720" y="3108960"/>
            <a:ext cx="4206240" cy="411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5" name="Text 23"/>
          <p:cNvSpPr/>
          <p:nvPr/>
        </p:nvSpPr>
        <p:spPr>
          <a:xfrm>
            <a:off x="4617720" y="3108960"/>
            <a:ext cx="2194560" cy="411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🌡  LST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20840" y="3108960"/>
            <a:ext cx="2103120" cy="411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Temp. de surface (°C)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09160" y="36118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Plage : °C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09160" y="388620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1F"/>
                </a:solidFill>
              </a:rPr>
              <a:t>Chaleur urbaine et rurale — corrélée à vecteurs (moustiques, tiques) et stress hydrique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828800" cy="320040"/>
          </a:xfrm>
          <a:prstGeom prst="roundRect">
            <a:avLst>
              <a:gd name="adj" fmla="val 28571"/>
            </a:avLst>
          </a:prstGeom>
          <a:solidFill>
            <a:srgbClr val="3A9E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CODE R · INDICES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Calcul des Indices Spectraux avec {terra}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374904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188720"/>
            <a:ext cx="83210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library(terra)
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Chargement d'une image satellite (ex: Landsat 8) ─
</a:t>
            </a:r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img &lt;- rast('landsat8_scene.tif')
</a:t>
            </a:r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Pour la formation : simulation d'une image 4 bandes
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  &lt;- rast(nrows=50, ncols=50, nlyrs=4)
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set.seed(1); values(r) &lt;- runif(50*50*4, 0, 1)
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names(r) &lt;- c('Blue','Green','Red','NIR')
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Calcul des indices ───────────────────────────────
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ndvi &lt;- (r$NIR - r$Red)  / (r$NIR + r$Red)
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ndwi &lt;- (r$Green - r$NIR)/ (r$Green + r$NIR)
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   &lt;- 0.5
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savi &lt;- ((r$NIR - r$Red) / (r$NIR + r$Red + L)) * (1+L)
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Visualisation ────────────────────────────────────
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par(mfrow = c(1, 3))
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plot(ndvi, main='NDVI', col=terrain.colors(20))
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plot(ndwi, main='NDWI', col=blues9)
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plot(savi, main='SAVI', col=heat.colors(20))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828800" cy="320040"/>
          </a:xfrm>
          <a:prstGeom prst="roundRect">
            <a:avLst>
              <a:gd name="adj" fmla="val 28571"/>
            </a:avLst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MODULE 05 · SPATIAL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B1A1A"/>
                </a:solidFill>
              </a:rPr>
              <a:t>Maladies Vectorielles &amp; Corrélations Spatiales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920240" cy="1280160"/>
          </a:xfrm>
          <a:prstGeom prst="roundRect">
            <a:avLst>
              <a:gd name="adj" fmla="val 8571"/>
            </a:avLst>
          </a:prstGeom>
          <a:solidFill>
            <a:srgbClr val="3A9E3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88720"/>
            <a:ext cx="1920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🛰 Satellite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(NDVI, NDWI,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SAVI, LST)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94560" y="1828800"/>
            <a:ext cx="2743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94560" y="1691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68880" y="1188720"/>
            <a:ext cx="1920240" cy="1280160"/>
          </a:xfrm>
          <a:prstGeom prst="roundRect">
            <a:avLst>
              <a:gd name="adj" fmla="val 8571"/>
            </a:avLst>
          </a:prstGeom>
          <a:solidFill>
            <a:srgbClr val="1E6B9A"/>
          </a:solidFill>
          <a:ln/>
        </p:spPr>
      </p:sp>
      <p:sp>
        <p:nvSpPr>
          <p:cNvPr id="10" name="Text 8"/>
          <p:cNvSpPr/>
          <p:nvPr/>
        </p:nvSpPr>
        <p:spPr>
          <a:xfrm>
            <a:off x="2468880" y="1188720"/>
            <a:ext cx="1920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🌍 Milieu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(végétation,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eau, chaleur)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1828800"/>
            <a:ext cx="2743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1691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1188720"/>
            <a:ext cx="1920240" cy="1280160"/>
          </a:xfrm>
          <a:prstGeom prst="roundRect">
            <a:avLst>
              <a:gd name="adj" fmla="val 8571"/>
            </a:avLst>
          </a:prstGeom>
          <a:solidFill>
            <a:srgbClr val="8B6914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1188720"/>
            <a:ext cx="1920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🦟 Vecteur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(moustique,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tique, phlébotome)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0" y="1828800"/>
            <a:ext cx="2743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1691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0" y="1188720"/>
            <a:ext cx="1920240" cy="1280160"/>
          </a:xfrm>
          <a:prstGeom prst="roundRect">
            <a:avLst>
              <a:gd name="adj" fmla="val 8571"/>
            </a:avLst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1188720"/>
            <a:ext cx="1920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🏥 Maladie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(paludisme,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dengue, bilharziose)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" y="26060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D1F"/>
                </a:solidFill>
              </a:rPr>
              <a:t>Corrélations attendues avec les indices spectraux :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3017520"/>
            <a:ext cx="384048" cy="384048"/>
          </a:xfrm>
          <a:prstGeom prst="ellipse">
            <a:avLst/>
          </a:prstGeom>
          <a:solidFill>
            <a:srgbClr val="3A9E3A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+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29718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9E3A"/>
                </a:solidFill>
              </a:rPr>
              <a:t>NDVI ↑   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691640" y="29718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1F"/>
                </a:solidFill>
              </a:rPr>
              <a:t>Gîtes larvaires + abris → risque paludisme ↑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493008"/>
            <a:ext cx="384048" cy="384048"/>
          </a:xfrm>
          <a:prstGeom prst="ellipse">
            <a:avLst/>
          </a:prstGeom>
          <a:solidFill>
            <a:srgbClr val="1E6B9A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3493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+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344728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6B9A"/>
                </a:solidFill>
              </a:rPr>
              <a:t>NDWI ↑   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691640" y="3447288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1F"/>
                </a:solidFill>
              </a:rPr>
              <a:t>Eau stagnante → reproduction moustiques ↑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3968496"/>
            <a:ext cx="384048" cy="384048"/>
          </a:xfrm>
          <a:prstGeom prst="ellipse">
            <a:avLst/>
          </a:prstGeom>
          <a:solidFill>
            <a:srgbClr val="8B6914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+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77240" y="3922776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6914"/>
                </a:solidFill>
              </a:rPr>
              <a:t>SAVI ↑   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691640" y="3922776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1F"/>
                </a:solidFill>
              </a:rPr>
              <a:t>Végétation dense → ombre &amp; humidité → vecteurs ↑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" y="4443984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3" name="Text 31"/>
          <p:cNvSpPr/>
          <p:nvPr/>
        </p:nvSpPr>
        <p:spPr>
          <a:xfrm>
            <a:off x="320040" y="4443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±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77240" y="439826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</a:rPr>
              <a:t>LST ↑   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691640" y="4398264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1F"/>
                </a:solidFill>
              </a:rPr>
              <a:t>Chaleur → cycle vecteur accéléré | trop chaud = inhibition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828800" cy="320040"/>
          </a:xfrm>
          <a:prstGeom prst="roundRect">
            <a:avLst>
              <a:gd name="adj" fmla="val 28571"/>
            </a:avLst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CODE R · CORRÉLATIONS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Corrélations Spatiales dans 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374904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188720"/>
            <a:ext cx="83210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Données simulées : zones géographiques ───────────
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set.seed(99); n &lt;- 150
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ndvi  &lt;- runif(n, 0.1, 0.8); ndwi &lt;- runif(n, -0.2, 0.5)
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lst   &lt;- runif(n, 25, 40);   savi &lt;- runif(n, 0.1, 0.6)
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   &lt;- round(5 + 10*ndvi + 8*ndwi - 0.1*lst + rnorm(n,0,2))
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df3 &lt;- data.frame(cas, ndvi, ndwi, lst, savi)
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Matrice de corrélation ───────────────────────────
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cor_mat &lt;- cor(df3)
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library(corrplot)
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corrplot(cor_mat, method='color', type='upper',
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addCoef.col='black', tl.col='black')
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Modèle intégrant tous les indices ────────────────
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mod_full &lt;- lm(cas ~ ndvi + ndwi + lst + savi, data=df3)
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summary(mod_full)
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library(car); vif(mod_full)   # Vérifier multi-colinéarité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828800" cy="320040"/>
          </a:xfrm>
          <a:prstGeom prst="roundRect">
            <a:avLst>
              <a:gd name="adj" fmla="val 28571"/>
            </a:avLst>
          </a:prstGeom>
          <a:solidFill>
            <a:srgbClr val="7D3C9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MODULE 06 · EXERCICES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235A"/>
                </a:solidFill>
              </a:rPr>
              <a:t>Exercices Pratiques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18872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8016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</a:rPr>
              <a:t>Régression Linéaire Agricole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82880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1F"/>
                </a:solidFill>
              </a:rPr>
              <a:t>Modélisez le rendement du maïs (t/ha) en fonction du NDVI et des précipitations. Interprétez les coefficients β et le R².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118872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280160"/>
            <a:ext cx="457200" cy="457200"/>
          </a:xfrm>
          <a:prstGeom prst="ellipse">
            <a:avLst/>
          </a:prstGeom>
          <a:solidFill>
            <a:srgbClr val="1E6B9A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5780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6B9A"/>
                </a:solidFill>
              </a:rPr>
              <a:t>Régression Logistique – Paludisme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09160" y="182880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1F"/>
                </a:solidFill>
              </a:rPr>
              <a:t>Prédisez la probabilité de cas de paludisme selon NDVI et NDWI. Calculez les Odds Ratios et tracez la courbe ROC.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82880" y="315468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46120"/>
            <a:ext cx="457200" cy="457200"/>
          </a:xfrm>
          <a:prstGeom prst="ellipse">
            <a:avLst/>
          </a:prstGeom>
          <a:solidFill>
            <a:srgbClr val="3A9E3A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32461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9E3A"/>
                </a:solidFill>
              </a:rPr>
              <a:t>Carte de Risque Vectoriel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" y="379476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1F"/>
                </a:solidFill>
              </a:rPr>
              <a:t>Calculez NDVI, NDWI et SAVI sur une image simulée. Créez un index de risque composite et visualisez avec terra/ggplot2.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17720" y="315468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324612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57800" y="32461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</a:rPr>
              <a:t>Corrélations &amp; VIF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09160" y="379476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1F"/>
                </a:solidFill>
              </a:rPr>
              <a:t>Construisez la matrice de corrélation entre les 4 indices (NDVI, NDWI, SAVI, LST) et les cas de dengue. Testez la multi-colinéarité.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5BA85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A85A"/>
                </a:solidFill>
              </a:rPr>
              <a:t>Ce que vous savez maintenant faire ✅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✓  Ajuster une régression linéaire et interpréter R², β, p-valeurs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45389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5A2"/>
                </a:solidFill>
              </a:rPr>
              <a:t>✓  Construire un modèle logistique, calculer les Odds Ratios, tracer la ROC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94767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✓  Calculer NDVI, NDWI, SAVI et LST à partir d'images satellitaires avec {terra}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44144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5A2"/>
                </a:solidFill>
              </a:rPr>
              <a:t>✓  Corréler les indices spectraux aux données épidémiologiques (maladies vectorielles)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93522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✓  Vérifier la multi-colinéarité avec VIF et corriger le modèle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5A2"/>
                </a:solidFill>
              </a:rPr>
              <a:t>✓  Visualiser les résultats avec ggplot2 et corrplot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977640"/>
            <a:ext cx="8229600" cy="36576"/>
          </a:xfrm>
          <a:prstGeom prst="rect">
            <a:avLst/>
          </a:prstGeom>
          <a:solidFill>
            <a:srgbClr val="5BA85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BFBF"/>
                </a:solidFill>
              </a:rPr>
              <a:t>📚 R for Data Science (Wickham)   ·   🌍 terra package CRAN   ·   🦠 WHO Malaria Atlas Project   ·   📊 Applied Logistic Regression (Hosmer)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Merci &amp; Bonne Pratique ! 🚀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Modèles Linéaires, Logistiques &amp; Corrélations Spatiales en Santé / Agriculture</dc:title>
  <dc:subject>PptxGenJS Presentation</dc:subject>
  <dc:creator>PptxGenJS</dc:creator>
  <cp:lastModifiedBy>PptxGenJS</cp:lastModifiedBy>
  <cp:revision>1</cp:revision>
  <dcterms:created xsi:type="dcterms:W3CDTF">2026-05-24T17:11:40Z</dcterms:created>
  <dcterms:modified xsi:type="dcterms:W3CDTF">2026-05-24T17:11:40Z</dcterms:modified>
</cp:coreProperties>
</file>