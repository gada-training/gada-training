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9" r:id="rId32"/>
    <p:sldId id="290" r:id="rId33"/>
    <p:sldId id="286" r:id="rId34"/>
    <p:sldId id="291" r:id="rId35"/>
    <p:sldId id="292" r:id="rId36"/>
    <p:sldId id="293" r:id="rId37"/>
    <p:sldId id="294" r:id="rId38"/>
    <p:sldId id="295" r:id="rId39"/>
    <p:sldId id="296" r:id="rId40"/>
    <p:sldId id="297" r:id="rId41"/>
    <p:sldId id="298" r:id="rId42"/>
    <p:sldId id="301" r:id="rId43"/>
    <p:sldId id="302" r:id="rId44"/>
    <p:sldId id="299" r:id="rId45"/>
    <p:sldId id="303" r:id="rId46"/>
    <p:sldId id="304" r:id="rId47"/>
    <p:sldId id="305" r:id="rId48"/>
    <p:sldId id="306" r:id="rId49"/>
    <p:sldId id="308" r:id="rId50"/>
    <p:sldId id="310" r:id="rId51"/>
    <p:sldId id="309" r:id="rId52"/>
    <p:sldId id="307" r:id="rId53"/>
    <p:sldId id="311" r:id="rId54"/>
    <p:sldId id="312" r:id="rId55"/>
    <p:sldId id="313" r:id="rId56"/>
    <p:sldId id="315" r:id="rId57"/>
    <p:sldId id="316" r:id="rId58"/>
    <p:sldId id="314" r:id="rId59"/>
    <p:sldId id="317" r:id="rId60"/>
    <p:sldId id="287" r:id="rId61"/>
    <p:sldId id="288" r:id="rId6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92" autoAdjust="0"/>
    <p:restoredTop sz="94660"/>
  </p:normalViewPr>
  <p:slideViewPr>
    <p:cSldViewPr snapToGrid="0">
      <p:cViewPr varScale="1">
        <p:scale>
          <a:sx n="88" d="100"/>
          <a:sy n="88" d="100"/>
        </p:scale>
        <p:origin x="283"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9567AB63-E518-48BF-ADBB-538C167074F5}" type="datetimeFigureOut">
              <a:rPr lang="fr-FR" smtClean="0"/>
              <a:t>20/05/2026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D515441-0CEB-433D-A61B-937E6E51D842}" type="slidenum">
              <a:rPr lang="fr-FR" smtClean="0"/>
              <a:t>‹N°›</a:t>
            </a:fld>
            <a:endParaRPr lang="fr-FR"/>
          </a:p>
        </p:txBody>
      </p:sp>
    </p:spTree>
    <p:extLst>
      <p:ext uri="{BB962C8B-B14F-4D97-AF65-F5344CB8AC3E}">
        <p14:creationId xmlns:p14="http://schemas.microsoft.com/office/powerpoint/2010/main" val="2702021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9567AB63-E518-48BF-ADBB-538C167074F5}" type="datetimeFigureOut">
              <a:rPr lang="fr-FR" smtClean="0"/>
              <a:t>20/05/2026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D515441-0CEB-433D-A61B-937E6E51D842}" type="slidenum">
              <a:rPr lang="fr-FR" smtClean="0"/>
              <a:t>‹N°›</a:t>
            </a:fld>
            <a:endParaRPr lang="fr-FR"/>
          </a:p>
        </p:txBody>
      </p:sp>
    </p:spTree>
    <p:extLst>
      <p:ext uri="{BB962C8B-B14F-4D97-AF65-F5344CB8AC3E}">
        <p14:creationId xmlns:p14="http://schemas.microsoft.com/office/powerpoint/2010/main" val="3786563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9567AB63-E518-48BF-ADBB-538C167074F5}" type="datetimeFigureOut">
              <a:rPr lang="fr-FR" smtClean="0"/>
              <a:t>20/05/2026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D515441-0CEB-433D-A61B-937E6E51D842}" type="slidenum">
              <a:rPr lang="fr-FR" smtClean="0"/>
              <a:t>‹N°›</a:t>
            </a:fld>
            <a:endParaRPr lang="fr-FR"/>
          </a:p>
        </p:txBody>
      </p:sp>
    </p:spTree>
    <p:extLst>
      <p:ext uri="{BB962C8B-B14F-4D97-AF65-F5344CB8AC3E}">
        <p14:creationId xmlns:p14="http://schemas.microsoft.com/office/powerpoint/2010/main" val="30723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9567AB63-E518-48BF-ADBB-538C167074F5}" type="datetimeFigureOut">
              <a:rPr lang="fr-FR" smtClean="0"/>
              <a:t>20/05/2026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D515441-0CEB-433D-A61B-937E6E51D842}" type="slidenum">
              <a:rPr lang="fr-FR" smtClean="0"/>
              <a:t>‹N°›</a:t>
            </a:fld>
            <a:endParaRPr lang="fr-FR"/>
          </a:p>
        </p:txBody>
      </p:sp>
    </p:spTree>
    <p:extLst>
      <p:ext uri="{BB962C8B-B14F-4D97-AF65-F5344CB8AC3E}">
        <p14:creationId xmlns:p14="http://schemas.microsoft.com/office/powerpoint/2010/main" val="1213736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9567AB63-E518-48BF-ADBB-538C167074F5}" type="datetimeFigureOut">
              <a:rPr lang="fr-FR" smtClean="0"/>
              <a:t>20/05/2026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D515441-0CEB-433D-A61B-937E6E51D842}" type="slidenum">
              <a:rPr lang="fr-FR" smtClean="0"/>
              <a:t>‹N°›</a:t>
            </a:fld>
            <a:endParaRPr lang="fr-FR"/>
          </a:p>
        </p:txBody>
      </p:sp>
    </p:spTree>
    <p:extLst>
      <p:ext uri="{BB962C8B-B14F-4D97-AF65-F5344CB8AC3E}">
        <p14:creationId xmlns:p14="http://schemas.microsoft.com/office/powerpoint/2010/main" val="3518502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9567AB63-E518-48BF-ADBB-538C167074F5}" type="datetimeFigureOut">
              <a:rPr lang="fr-FR" smtClean="0"/>
              <a:t>20/05/2026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D515441-0CEB-433D-A61B-937E6E51D842}" type="slidenum">
              <a:rPr lang="fr-FR" smtClean="0"/>
              <a:t>‹N°›</a:t>
            </a:fld>
            <a:endParaRPr lang="fr-FR"/>
          </a:p>
        </p:txBody>
      </p:sp>
    </p:spTree>
    <p:extLst>
      <p:ext uri="{BB962C8B-B14F-4D97-AF65-F5344CB8AC3E}">
        <p14:creationId xmlns:p14="http://schemas.microsoft.com/office/powerpoint/2010/main" val="3591064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567AB63-E518-48BF-ADBB-538C167074F5}" type="datetimeFigureOut">
              <a:rPr lang="fr-FR" smtClean="0"/>
              <a:t>20/05/2026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D515441-0CEB-433D-A61B-937E6E51D842}" type="slidenum">
              <a:rPr lang="fr-FR" smtClean="0"/>
              <a:t>‹N°›</a:t>
            </a:fld>
            <a:endParaRPr lang="fr-FR"/>
          </a:p>
        </p:txBody>
      </p:sp>
    </p:spTree>
    <p:extLst>
      <p:ext uri="{BB962C8B-B14F-4D97-AF65-F5344CB8AC3E}">
        <p14:creationId xmlns:p14="http://schemas.microsoft.com/office/powerpoint/2010/main" val="3242608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9567AB63-E518-48BF-ADBB-538C167074F5}" type="datetimeFigureOut">
              <a:rPr lang="fr-FR" smtClean="0"/>
              <a:t>20/05/2026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D515441-0CEB-433D-A61B-937E6E51D842}" type="slidenum">
              <a:rPr lang="fr-FR" smtClean="0"/>
              <a:t>‹N°›</a:t>
            </a:fld>
            <a:endParaRPr lang="fr-FR"/>
          </a:p>
        </p:txBody>
      </p:sp>
    </p:spTree>
    <p:extLst>
      <p:ext uri="{BB962C8B-B14F-4D97-AF65-F5344CB8AC3E}">
        <p14:creationId xmlns:p14="http://schemas.microsoft.com/office/powerpoint/2010/main" val="2969599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9567AB63-E518-48BF-ADBB-538C167074F5}" type="datetimeFigureOut">
              <a:rPr lang="fr-FR" smtClean="0"/>
              <a:t>20/05/2026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D515441-0CEB-433D-A61B-937E6E51D842}" type="slidenum">
              <a:rPr lang="fr-FR" smtClean="0"/>
              <a:t>‹N°›</a:t>
            </a:fld>
            <a:endParaRPr lang="fr-FR"/>
          </a:p>
        </p:txBody>
      </p:sp>
    </p:spTree>
    <p:extLst>
      <p:ext uri="{BB962C8B-B14F-4D97-AF65-F5344CB8AC3E}">
        <p14:creationId xmlns:p14="http://schemas.microsoft.com/office/powerpoint/2010/main" val="914348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9567AB63-E518-48BF-ADBB-538C167074F5}" type="datetimeFigureOut">
              <a:rPr lang="fr-FR" smtClean="0"/>
              <a:t>20/05/2026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D515441-0CEB-433D-A61B-937E6E51D842}" type="slidenum">
              <a:rPr lang="fr-FR" smtClean="0"/>
              <a:t>‹N°›</a:t>
            </a:fld>
            <a:endParaRPr lang="fr-FR"/>
          </a:p>
        </p:txBody>
      </p:sp>
    </p:spTree>
    <p:extLst>
      <p:ext uri="{BB962C8B-B14F-4D97-AF65-F5344CB8AC3E}">
        <p14:creationId xmlns:p14="http://schemas.microsoft.com/office/powerpoint/2010/main" val="1178116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9567AB63-E518-48BF-ADBB-538C167074F5}" type="datetimeFigureOut">
              <a:rPr lang="fr-FR" smtClean="0"/>
              <a:t>20/05/2026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D515441-0CEB-433D-A61B-937E6E51D842}" type="slidenum">
              <a:rPr lang="fr-FR" smtClean="0"/>
              <a:t>‹N°›</a:t>
            </a:fld>
            <a:endParaRPr lang="fr-FR"/>
          </a:p>
        </p:txBody>
      </p:sp>
    </p:spTree>
    <p:extLst>
      <p:ext uri="{BB962C8B-B14F-4D97-AF65-F5344CB8AC3E}">
        <p14:creationId xmlns:p14="http://schemas.microsoft.com/office/powerpoint/2010/main" val="2738674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67AB63-E518-48BF-ADBB-538C167074F5}" type="datetimeFigureOut">
              <a:rPr lang="fr-FR" smtClean="0"/>
              <a:t>20/05/2026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515441-0CEB-433D-A61B-937E6E51D842}" type="slidenum">
              <a:rPr lang="fr-FR" smtClean="0"/>
              <a:t>‹N°›</a:t>
            </a:fld>
            <a:endParaRPr lang="fr-FR"/>
          </a:p>
        </p:txBody>
      </p:sp>
    </p:spTree>
    <p:extLst>
      <p:ext uri="{BB962C8B-B14F-4D97-AF65-F5344CB8AC3E}">
        <p14:creationId xmlns:p14="http://schemas.microsoft.com/office/powerpoint/2010/main" val="3329206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184365"/>
            <a:ext cx="12192000" cy="535577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1" y="0"/>
            <a:ext cx="8995952" cy="74893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10406743" y="6400800"/>
            <a:ext cx="1785256" cy="465909"/>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2" y="6571006"/>
            <a:ext cx="10406743" cy="295703"/>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8995953" y="0"/>
            <a:ext cx="3196048" cy="74893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p:cNvSpPr txBox="1"/>
          <p:nvPr/>
        </p:nvSpPr>
        <p:spPr>
          <a:xfrm>
            <a:off x="374466" y="2917371"/>
            <a:ext cx="11538860" cy="1236617"/>
          </a:xfrm>
          <a:prstGeom prst="rect">
            <a:avLst/>
          </a:prstGeom>
          <a:solidFill>
            <a:schemeClr val="accent6">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endParaRPr lang="fr-FR" dirty="0"/>
          </a:p>
        </p:txBody>
      </p:sp>
      <p:sp>
        <p:nvSpPr>
          <p:cNvPr id="12" name="ZoneTexte 11"/>
          <p:cNvSpPr txBox="1"/>
          <p:nvPr/>
        </p:nvSpPr>
        <p:spPr>
          <a:xfrm>
            <a:off x="374466" y="-106603"/>
            <a:ext cx="8621486" cy="892552"/>
          </a:xfrm>
          <a:prstGeom prst="rect">
            <a:avLst/>
          </a:prstGeom>
          <a:noFill/>
        </p:spPr>
        <p:txBody>
          <a:bodyPr wrap="square" rtlCol="0">
            <a:spAutoFit/>
          </a:bodyPr>
          <a:lstStyle/>
          <a:p>
            <a:r>
              <a:rPr lang="fr-FR" sz="2800" b="1" dirty="0" smtClean="0">
                <a:solidFill>
                  <a:srgbClr val="FFC000"/>
                </a:solidFill>
                <a:latin typeface="Franklin Gothic Medium" panose="020B0603020102020204" pitchFamily="34" charset="0"/>
              </a:rPr>
              <a:t>Fondements de la Modélisation Spatiale et Statistique </a:t>
            </a:r>
          </a:p>
          <a:p>
            <a:r>
              <a:rPr lang="fr-FR" sz="2400" b="1" i="1" dirty="0">
                <a:solidFill>
                  <a:srgbClr val="FFC000"/>
                </a:solidFill>
                <a:latin typeface="Franklin Gothic Medium" panose="020B0603020102020204" pitchFamily="34" charset="0"/>
              </a:rPr>
              <a:t> </a:t>
            </a:r>
            <a:r>
              <a:rPr lang="fr-FR" sz="2400" b="1" i="1" dirty="0" smtClean="0">
                <a:solidFill>
                  <a:srgbClr val="FFC000"/>
                </a:solidFill>
                <a:latin typeface="Franklin Gothic Medium" panose="020B0603020102020204" pitchFamily="34" charset="0"/>
              </a:rPr>
              <a:t>        </a:t>
            </a:r>
            <a:r>
              <a:rPr lang="fr-FR" sz="1600" i="1" dirty="0" smtClean="0">
                <a:solidFill>
                  <a:schemeClr val="bg1"/>
                </a:solidFill>
                <a:latin typeface="Franklin Gothic Medium" panose="020B0603020102020204" pitchFamily="34" charset="0"/>
              </a:rPr>
              <a:t>Agriculture, Environnement et Santé Approche One </a:t>
            </a:r>
            <a:r>
              <a:rPr lang="fr-FR" sz="1600" i="1" dirty="0" err="1" smtClean="0">
                <a:solidFill>
                  <a:schemeClr val="bg1"/>
                </a:solidFill>
                <a:latin typeface="Franklin Gothic Medium" panose="020B0603020102020204" pitchFamily="34" charset="0"/>
              </a:rPr>
              <a:t>Health</a:t>
            </a:r>
            <a:endParaRPr lang="fr-FR" sz="1600" i="1" dirty="0">
              <a:solidFill>
                <a:schemeClr val="bg1"/>
              </a:solidFill>
              <a:latin typeface="Franklin Gothic Medium" panose="020B0603020102020204" pitchFamily="34" charset="0"/>
            </a:endParaRPr>
          </a:p>
        </p:txBody>
      </p:sp>
      <p:sp>
        <p:nvSpPr>
          <p:cNvPr id="13" name="ZoneTexte 12"/>
          <p:cNvSpPr txBox="1"/>
          <p:nvPr/>
        </p:nvSpPr>
        <p:spPr>
          <a:xfrm>
            <a:off x="0" y="784163"/>
            <a:ext cx="12191999" cy="369332"/>
          </a:xfrm>
          <a:prstGeom prst="rect">
            <a:avLst/>
          </a:prstGeom>
          <a:solidFill>
            <a:schemeClr val="accent2">
              <a:lumMod val="50000"/>
            </a:schemeClr>
          </a:solidFill>
        </p:spPr>
        <p:txBody>
          <a:bodyPr wrap="square" rtlCol="0">
            <a:spAutoFit/>
          </a:bodyPr>
          <a:lstStyle/>
          <a:p>
            <a:r>
              <a:rPr lang="fr-FR" dirty="0" smtClean="0">
                <a:solidFill>
                  <a:srgbClr val="FFC000"/>
                </a:solidFill>
                <a:latin typeface="Franklin Gothic Medium" panose="020B0603020102020204" pitchFamily="34" charset="0"/>
              </a:rPr>
              <a:t>Semaine 1 — Fondements R I Deuxième séance I En ligne I ✉ Gadasol25@gmail.com  I </a:t>
            </a:r>
            <a:r>
              <a:rPr lang="fr-FR" dirty="0" err="1" smtClean="0">
                <a:solidFill>
                  <a:srgbClr val="FFC000"/>
                </a:solidFill>
                <a:latin typeface="Franklin Gothic Medium" panose="020B0603020102020204" pitchFamily="34" charset="0"/>
              </a:rPr>
              <a:t>GeoAgri</a:t>
            </a:r>
            <a:r>
              <a:rPr lang="fr-FR" dirty="0" smtClean="0">
                <a:solidFill>
                  <a:srgbClr val="FFC000"/>
                </a:solidFill>
                <a:latin typeface="Franklin Gothic Medium" panose="020B0603020102020204" pitchFamily="34" charset="0"/>
              </a:rPr>
              <a:t> Data </a:t>
            </a:r>
            <a:r>
              <a:rPr lang="fr-FR" dirty="0" err="1" smtClean="0">
                <a:solidFill>
                  <a:srgbClr val="FFC000"/>
                </a:solidFill>
                <a:latin typeface="Franklin Gothic Medium" panose="020B0603020102020204" pitchFamily="34" charset="0"/>
              </a:rPr>
              <a:t>Analytics</a:t>
            </a:r>
            <a:r>
              <a:rPr lang="fr-FR" dirty="0" smtClean="0">
                <a:solidFill>
                  <a:srgbClr val="FFC000"/>
                </a:solidFill>
                <a:latin typeface="Franklin Gothic Medium" panose="020B0603020102020204" pitchFamily="34" charset="0"/>
              </a:rPr>
              <a:t> &amp; Solution  </a:t>
            </a:r>
            <a:endParaRPr lang="fr-FR" dirty="0">
              <a:solidFill>
                <a:srgbClr val="FFC000"/>
              </a:solidFill>
              <a:latin typeface="Franklin Gothic Medium" panose="020B0603020102020204" pitchFamily="34" charset="0"/>
            </a:endParaRPr>
          </a:p>
        </p:txBody>
      </p:sp>
      <p:sp>
        <p:nvSpPr>
          <p:cNvPr id="14" name="ZoneTexte 13"/>
          <p:cNvSpPr txBox="1"/>
          <p:nvPr/>
        </p:nvSpPr>
        <p:spPr>
          <a:xfrm>
            <a:off x="9170124" y="44326"/>
            <a:ext cx="2847703" cy="369332"/>
          </a:xfrm>
          <a:prstGeom prst="rect">
            <a:avLst/>
          </a:prstGeom>
          <a:noFill/>
        </p:spPr>
        <p:txBody>
          <a:bodyPr wrap="square" rtlCol="0">
            <a:spAutoFit/>
          </a:bodyPr>
          <a:lstStyle/>
          <a:p>
            <a:endParaRPr lang="fr-FR" dirty="0"/>
          </a:p>
        </p:txBody>
      </p:sp>
      <p:pic>
        <p:nvPicPr>
          <p:cNvPr id="15" name="Imag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10174" y="-97034"/>
            <a:ext cx="3446279" cy="849652"/>
          </a:xfrm>
          <a:prstGeom prst="rect">
            <a:avLst/>
          </a:prstGeom>
        </p:spPr>
      </p:pic>
      <p:sp>
        <p:nvSpPr>
          <p:cNvPr id="16" name="ZoneTexte 15"/>
          <p:cNvSpPr txBox="1"/>
          <p:nvPr/>
        </p:nvSpPr>
        <p:spPr>
          <a:xfrm>
            <a:off x="444140" y="3243291"/>
            <a:ext cx="11469186" cy="584775"/>
          </a:xfrm>
          <a:prstGeom prst="rect">
            <a:avLst/>
          </a:prstGeom>
          <a:noFill/>
        </p:spPr>
        <p:txBody>
          <a:bodyPr wrap="square" rtlCol="0">
            <a:spAutoFit/>
          </a:bodyPr>
          <a:lstStyle/>
          <a:p>
            <a:r>
              <a:rPr lang="fr-FR" sz="3200" b="1" dirty="0" smtClean="0">
                <a:solidFill>
                  <a:srgbClr val="C00000"/>
                </a:solidFill>
                <a:latin typeface="Franklin Gothic Medium" panose="020B0603020102020204" pitchFamily="34" charset="0"/>
              </a:rPr>
              <a:t>Statistiques descriptives, nettoyage et structuration des données</a:t>
            </a:r>
            <a:endParaRPr lang="fr-FR" sz="3200" b="1" dirty="0">
              <a:solidFill>
                <a:srgbClr val="C00000"/>
              </a:solidFill>
              <a:latin typeface="Franklin Gothic Medium" panose="020B0603020102020204" pitchFamily="34" charset="0"/>
            </a:endParaRPr>
          </a:p>
        </p:txBody>
      </p:sp>
      <p:sp>
        <p:nvSpPr>
          <p:cNvPr id="17" name="ZoneTexte 16"/>
          <p:cNvSpPr txBox="1"/>
          <p:nvPr/>
        </p:nvSpPr>
        <p:spPr>
          <a:xfrm>
            <a:off x="2414450" y="4385680"/>
            <a:ext cx="7363098" cy="400110"/>
          </a:xfrm>
          <a:prstGeom prst="rect">
            <a:avLst/>
          </a:prstGeom>
          <a:noFill/>
        </p:spPr>
        <p:txBody>
          <a:bodyPr wrap="square" rtlCol="0">
            <a:spAutoFit/>
          </a:bodyPr>
          <a:lstStyle/>
          <a:p>
            <a:r>
              <a:rPr lang="fr-FR" sz="2000" b="1" i="1" dirty="0" smtClean="0">
                <a:solidFill>
                  <a:schemeClr val="accent6">
                    <a:lumMod val="50000"/>
                  </a:schemeClr>
                </a:solidFill>
                <a:latin typeface="Franklin Gothic Medium" panose="020B0603020102020204" pitchFamily="34" charset="0"/>
              </a:rPr>
              <a:t>Préparation des données pour une analyse fiable et interprétable</a:t>
            </a:r>
            <a:endParaRPr lang="fr-FR" sz="2000" i="1" dirty="0">
              <a:solidFill>
                <a:schemeClr val="accent6">
                  <a:lumMod val="50000"/>
                </a:schemeClr>
              </a:solidFill>
              <a:latin typeface="Franklin Gothic Medium" panose="020B0603020102020204" pitchFamily="34" charset="0"/>
            </a:endParaRPr>
          </a:p>
        </p:txBody>
      </p:sp>
      <p:graphicFrame>
        <p:nvGraphicFramePr>
          <p:cNvPr id="18" name="Tableau 17"/>
          <p:cNvGraphicFramePr>
            <a:graphicFrameLocks noGrp="1"/>
          </p:cNvGraphicFramePr>
          <p:nvPr>
            <p:extLst>
              <p:ext uri="{D42A27DB-BD31-4B8C-83A1-F6EECF244321}">
                <p14:modId xmlns:p14="http://schemas.microsoft.com/office/powerpoint/2010/main" val="3450182876"/>
              </p:ext>
            </p:extLst>
          </p:nvPr>
        </p:nvGraphicFramePr>
        <p:xfrm>
          <a:off x="2031999" y="4981302"/>
          <a:ext cx="8128000" cy="365760"/>
        </p:xfrm>
        <a:graphic>
          <a:graphicData uri="http://schemas.openxmlformats.org/drawingml/2006/table">
            <a:tbl>
              <a:tblPr firstRow="1" bandRow="1">
                <a:tableStyleId>{93296810-A885-4BE3-A3E7-6D5BEEA58F35}</a:tableStyleId>
              </a:tblPr>
              <a:tblGrid>
                <a:gridCol w="4064000">
                  <a:extLst>
                    <a:ext uri="{9D8B030D-6E8A-4147-A177-3AD203B41FA5}">
                      <a16:colId xmlns:a16="http://schemas.microsoft.com/office/drawing/2014/main" val="101956957"/>
                    </a:ext>
                  </a:extLst>
                </a:gridCol>
                <a:gridCol w="4064000">
                  <a:extLst>
                    <a:ext uri="{9D8B030D-6E8A-4147-A177-3AD203B41FA5}">
                      <a16:colId xmlns:a16="http://schemas.microsoft.com/office/drawing/2014/main" val="1825228665"/>
                    </a:ext>
                  </a:extLst>
                </a:gridCol>
              </a:tblGrid>
              <a:tr h="278526">
                <a:tc>
                  <a:txBody>
                    <a:bodyPr/>
                    <a:lstStyle/>
                    <a:p>
                      <a:r>
                        <a:rPr lang="fr-FR" dirty="0" smtClean="0">
                          <a:latin typeface="Franklin Gothic Medium" panose="020B0603020102020204" pitchFamily="34" charset="0"/>
                        </a:rPr>
                        <a:t>Présenté</a:t>
                      </a:r>
                      <a:r>
                        <a:rPr lang="fr-FR" baseline="0" dirty="0" smtClean="0">
                          <a:latin typeface="Franklin Gothic Medium" panose="020B0603020102020204" pitchFamily="34" charset="0"/>
                        </a:rPr>
                        <a:t> par : FAZILI BAGALWA Arsène</a:t>
                      </a:r>
                      <a:endParaRPr lang="fr-FR" dirty="0">
                        <a:latin typeface="Franklin Gothic Medium" panose="020B0603020102020204" pitchFamily="34" charset="0"/>
                      </a:endParaRPr>
                    </a:p>
                  </a:txBody>
                  <a:tcPr/>
                </a:tc>
                <a:tc>
                  <a:txBody>
                    <a:bodyPr/>
                    <a:lstStyle/>
                    <a:p>
                      <a:r>
                        <a:rPr lang="fr-FR" dirty="0" err="1" smtClean="0">
                          <a:latin typeface="Franklin Gothic Medium" panose="020B0603020102020204" pitchFamily="34" charset="0"/>
                        </a:rPr>
                        <a:t>MSc</a:t>
                      </a:r>
                      <a:r>
                        <a:rPr lang="fr-FR" dirty="0" smtClean="0">
                          <a:latin typeface="Franklin Gothic Medium" panose="020B0603020102020204" pitchFamily="34" charset="0"/>
                        </a:rPr>
                        <a:t>(c) – </a:t>
                      </a:r>
                      <a:r>
                        <a:rPr lang="fr-FR" dirty="0" err="1" smtClean="0">
                          <a:latin typeface="Franklin Gothic Medium" panose="020B0603020102020204" pitchFamily="34" charset="0"/>
                        </a:rPr>
                        <a:t>GeoData</a:t>
                      </a:r>
                      <a:r>
                        <a:rPr lang="fr-FR" dirty="0" smtClean="0">
                          <a:latin typeface="Franklin Gothic Medium" panose="020B0603020102020204" pitchFamily="34" charset="0"/>
                        </a:rPr>
                        <a:t> </a:t>
                      </a:r>
                      <a:r>
                        <a:rPr lang="fr-FR" dirty="0" err="1" smtClean="0">
                          <a:latin typeface="Franklin Gothic Medium" panose="020B0603020102020204" pitchFamily="34" charset="0"/>
                        </a:rPr>
                        <a:t>Analytics</a:t>
                      </a:r>
                      <a:endParaRPr lang="fr-FR" dirty="0">
                        <a:latin typeface="Franklin Gothic Medium" panose="020B0603020102020204" pitchFamily="34" charset="0"/>
                      </a:endParaRPr>
                    </a:p>
                  </a:txBody>
                  <a:tcPr/>
                </a:tc>
                <a:extLst>
                  <a:ext uri="{0D108BD9-81ED-4DB2-BD59-A6C34878D82A}">
                    <a16:rowId xmlns:a16="http://schemas.microsoft.com/office/drawing/2014/main" val="3355145597"/>
                  </a:ext>
                </a:extLst>
              </a:tr>
            </a:tbl>
          </a:graphicData>
        </a:graphic>
      </p:graphicFrame>
      <p:sp>
        <p:nvSpPr>
          <p:cNvPr id="19" name="ZoneTexte 18"/>
          <p:cNvSpPr txBox="1"/>
          <p:nvPr/>
        </p:nvSpPr>
        <p:spPr>
          <a:xfrm>
            <a:off x="10702834" y="6448585"/>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1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20" name="ZoneTexte 19"/>
          <p:cNvSpPr txBox="1"/>
          <p:nvPr/>
        </p:nvSpPr>
        <p:spPr>
          <a:xfrm>
            <a:off x="870860" y="6027948"/>
            <a:ext cx="4683037" cy="276999"/>
          </a:xfrm>
          <a:prstGeom prst="rect">
            <a:avLst/>
          </a:prstGeom>
          <a:solidFill>
            <a:schemeClr val="accent2">
              <a:lumMod val="50000"/>
            </a:schemeClr>
          </a:solidFill>
        </p:spPr>
        <p:txBody>
          <a:bodyPr wrap="square" rtlCol="0">
            <a:spAutoFit/>
          </a:bodyPr>
          <a:lstStyle/>
          <a:p>
            <a:r>
              <a:rPr lang="fr-FR" sz="1200" b="1" dirty="0" smtClean="0">
                <a:solidFill>
                  <a:schemeClr val="accent4">
                    <a:lumMod val="20000"/>
                    <a:lumOff val="80000"/>
                  </a:schemeClr>
                </a:solidFill>
                <a:latin typeface="Franklin Gothic Medium" panose="020B0603020102020204" pitchFamily="34" charset="0"/>
              </a:rPr>
              <a:t>https://gada-training.github.io/gada-training/espace-cours-sig.html</a:t>
            </a:r>
            <a:endParaRPr lang="fr-FR" sz="1200" b="1" dirty="0">
              <a:solidFill>
                <a:schemeClr val="accent4">
                  <a:lumMod val="20000"/>
                  <a:lumOff val="80000"/>
                </a:schemeClr>
              </a:solidFill>
              <a:latin typeface="Franklin Gothic Medium" panose="020B0603020102020204" pitchFamily="34" charset="0"/>
            </a:endParaRPr>
          </a:p>
        </p:txBody>
      </p:sp>
      <p:sp>
        <p:nvSpPr>
          <p:cNvPr id="21" name="ZoneTexte 20"/>
          <p:cNvSpPr txBox="1"/>
          <p:nvPr/>
        </p:nvSpPr>
        <p:spPr>
          <a:xfrm>
            <a:off x="7238275" y="6035876"/>
            <a:ext cx="4061096" cy="276999"/>
          </a:xfrm>
          <a:prstGeom prst="rect">
            <a:avLst/>
          </a:prstGeom>
          <a:solidFill>
            <a:schemeClr val="accent4">
              <a:lumMod val="60000"/>
              <a:lumOff val="40000"/>
            </a:schemeClr>
          </a:solidFill>
        </p:spPr>
        <p:txBody>
          <a:bodyPr wrap="square" rtlCol="0">
            <a:spAutoFit/>
          </a:bodyPr>
          <a:lstStyle/>
          <a:p>
            <a:r>
              <a:rPr lang="fr-FR" sz="1200" b="1" dirty="0" smtClean="0">
                <a:solidFill>
                  <a:schemeClr val="accent2">
                    <a:lumMod val="50000"/>
                  </a:schemeClr>
                </a:solidFill>
                <a:latin typeface="Franklin Gothic Medium" panose="020B0603020102020204" pitchFamily="34" charset="0"/>
              </a:rPr>
              <a:t>https://gada-training.github.io/gada-training/#formations</a:t>
            </a:r>
            <a:endParaRPr lang="fr-FR" sz="1200" b="1" dirty="0">
              <a:solidFill>
                <a:schemeClr val="accent2">
                  <a:lumMod val="50000"/>
                </a:schemeClr>
              </a:solidFill>
              <a:latin typeface="Franklin Gothic Medium" panose="020B0603020102020204" pitchFamily="34" charset="0"/>
            </a:endParaRPr>
          </a:p>
        </p:txBody>
      </p:sp>
      <p:sp>
        <p:nvSpPr>
          <p:cNvPr id="22" name="ZoneTexte 21"/>
          <p:cNvSpPr txBox="1"/>
          <p:nvPr/>
        </p:nvSpPr>
        <p:spPr>
          <a:xfrm>
            <a:off x="4362994" y="2117681"/>
            <a:ext cx="3222172" cy="369332"/>
          </a:xfrm>
          <a:prstGeom prst="rect">
            <a:avLst/>
          </a:prstGeom>
          <a:solidFill>
            <a:schemeClr val="accent2">
              <a:lumMod val="50000"/>
            </a:schemeClr>
          </a:solidFill>
        </p:spPr>
        <p:txBody>
          <a:bodyPr wrap="square" rtlCol="0">
            <a:spAutoFit/>
          </a:bodyPr>
          <a:lstStyle/>
          <a:p>
            <a:r>
              <a:rPr lang="fr-FR" dirty="0" smtClean="0">
                <a:solidFill>
                  <a:srgbClr val="FFC000"/>
                </a:solidFill>
                <a:latin typeface="Franklin Gothic Medium" panose="020B0603020102020204" pitchFamily="34" charset="0"/>
              </a:rPr>
              <a:t>https://www.gadatraining.org/</a:t>
            </a:r>
            <a:endParaRPr lang="fr-FR" dirty="0">
              <a:solidFill>
                <a:srgbClr val="FFC000"/>
              </a:solidFill>
              <a:latin typeface="Franklin Gothic Medium" panose="020B0603020102020204" pitchFamily="34" charset="0"/>
            </a:endParaRPr>
          </a:p>
        </p:txBody>
      </p:sp>
    </p:spTree>
    <p:extLst>
      <p:ext uri="{BB962C8B-B14F-4D97-AF65-F5344CB8AC3E}">
        <p14:creationId xmlns:p14="http://schemas.microsoft.com/office/powerpoint/2010/main" val="39636620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a:solidFill>
                  <a:srgbClr val="C00000"/>
                </a:solidFill>
                <a:latin typeface="Franklin Gothic Medium" panose="020B0603020102020204" pitchFamily="34" charset="0"/>
              </a:rPr>
              <a:t>2</a:t>
            </a:r>
            <a:r>
              <a:rPr lang="fr-FR" sz="2400" b="1" dirty="0" smtClean="0">
                <a:solidFill>
                  <a:srgbClr val="C00000"/>
                </a:solidFill>
                <a:latin typeface="Franklin Gothic Medium" panose="020B0603020102020204" pitchFamily="34" charset="0"/>
              </a:rPr>
              <a:t>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2" name="ZoneTexte 1"/>
          <p:cNvSpPr txBox="1"/>
          <p:nvPr/>
        </p:nvSpPr>
        <p:spPr>
          <a:xfrm>
            <a:off x="496390" y="1189399"/>
            <a:ext cx="10598331" cy="4893647"/>
          </a:xfrm>
          <a:prstGeom prst="rect">
            <a:avLst/>
          </a:prstGeom>
          <a:noFill/>
        </p:spPr>
        <p:txBody>
          <a:bodyPr wrap="square" rtlCol="0">
            <a:spAutoFit/>
          </a:bodyPr>
          <a:lstStyle/>
          <a:p>
            <a:pPr algn="just"/>
            <a:r>
              <a:rPr lang="fr-FR" sz="2400" b="1" dirty="0" smtClean="0">
                <a:solidFill>
                  <a:schemeClr val="accent2"/>
                </a:solidFill>
                <a:latin typeface="Franklin Gothic Medium" panose="020B0603020102020204" pitchFamily="34" charset="0"/>
              </a:rPr>
              <a:t>Introduction</a:t>
            </a:r>
          </a:p>
          <a:p>
            <a:pPr lvl="1" algn="just"/>
            <a:r>
              <a:rPr lang="fr-FR" sz="2400" dirty="0" smtClean="0">
                <a:latin typeface="Franklin Gothic Medium" panose="020B0603020102020204" pitchFamily="34" charset="0"/>
              </a:rPr>
              <a:t>Contexte et importance des données</a:t>
            </a:r>
          </a:p>
          <a:p>
            <a:pPr lvl="1" algn="just"/>
            <a:r>
              <a:rPr lang="fr-FR" sz="2400" dirty="0" smtClean="0">
                <a:latin typeface="Franklin Gothic Medium" panose="020B0603020102020204" pitchFamily="34" charset="0"/>
              </a:rPr>
              <a:t>Objectifs de l’analyse</a:t>
            </a:r>
          </a:p>
          <a:p>
            <a:pPr algn="just"/>
            <a:endParaRPr lang="fr-FR" sz="2400" dirty="0">
              <a:latin typeface="Franklin Gothic Medium" panose="020B0603020102020204" pitchFamily="34" charset="0"/>
            </a:endParaRPr>
          </a:p>
          <a:p>
            <a:pPr algn="just"/>
            <a:r>
              <a:rPr lang="fr-FR" sz="2400" b="1" dirty="0" smtClean="0">
                <a:solidFill>
                  <a:schemeClr val="accent2"/>
                </a:solidFill>
                <a:latin typeface="Franklin Gothic Medium" panose="020B0603020102020204" pitchFamily="34" charset="0"/>
              </a:rPr>
              <a:t>Nettoyage des données</a:t>
            </a:r>
          </a:p>
          <a:p>
            <a:pPr lvl="1" algn="just"/>
            <a:r>
              <a:rPr lang="fr-FR" sz="2400" dirty="0" smtClean="0">
                <a:latin typeface="Franklin Gothic Medium" panose="020B0603020102020204" pitchFamily="34" charset="0"/>
              </a:rPr>
              <a:t>Identification des valeurs manquantes</a:t>
            </a:r>
          </a:p>
          <a:p>
            <a:pPr lvl="1" algn="just"/>
            <a:r>
              <a:rPr lang="fr-FR" sz="2400" dirty="0" smtClean="0">
                <a:latin typeface="Franklin Gothic Medium" panose="020B0603020102020204" pitchFamily="34" charset="0"/>
              </a:rPr>
              <a:t>Détection et traitement des valeurs aberrantes</a:t>
            </a:r>
          </a:p>
          <a:p>
            <a:pPr lvl="1" algn="just"/>
            <a:r>
              <a:rPr lang="fr-FR" sz="2400" dirty="0" smtClean="0">
                <a:latin typeface="Franklin Gothic Medium" panose="020B0603020102020204" pitchFamily="34" charset="0"/>
              </a:rPr>
              <a:t>Correction des erreurs</a:t>
            </a:r>
          </a:p>
          <a:p>
            <a:pPr algn="just"/>
            <a:endParaRPr lang="fr-FR" sz="2400" dirty="0">
              <a:latin typeface="Franklin Gothic Medium" panose="020B0603020102020204" pitchFamily="34" charset="0"/>
            </a:endParaRPr>
          </a:p>
          <a:p>
            <a:pPr algn="just"/>
            <a:r>
              <a:rPr lang="fr-FR" sz="2400" b="1" dirty="0" smtClean="0">
                <a:solidFill>
                  <a:schemeClr val="accent2"/>
                </a:solidFill>
                <a:latin typeface="Franklin Gothic Medium" panose="020B0603020102020204" pitchFamily="34" charset="0"/>
              </a:rPr>
              <a:t>Structuration des données </a:t>
            </a:r>
          </a:p>
          <a:p>
            <a:pPr lvl="1" algn="just"/>
            <a:r>
              <a:rPr lang="fr-FR" sz="2400" dirty="0" smtClean="0">
                <a:latin typeface="Franklin Gothic Medium" panose="020B0603020102020204" pitchFamily="34" charset="0"/>
              </a:rPr>
              <a:t>Organisation des variables </a:t>
            </a:r>
          </a:p>
          <a:p>
            <a:pPr lvl="1" algn="just"/>
            <a:r>
              <a:rPr lang="fr-FR" sz="2400" dirty="0" smtClean="0">
                <a:latin typeface="Franklin Gothic Medium" panose="020B0603020102020204" pitchFamily="34" charset="0"/>
              </a:rPr>
              <a:t>Transformation des données</a:t>
            </a:r>
          </a:p>
          <a:p>
            <a:pPr lvl="1" algn="just"/>
            <a:r>
              <a:rPr lang="fr-FR" sz="2400" dirty="0" smtClean="0">
                <a:latin typeface="Franklin Gothic Medium" panose="020B0603020102020204" pitchFamily="34" charset="0"/>
              </a:rPr>
              <a:t>Intégration et mise en forme pour l’analyse</a:t>
            </a:r>
            <a:endParaRPr lang="fr-FR" sz="2400" dirty="0">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PLAN DE PRESENTATION</a:t>
            </a:r>
            <a:endParaRPr lang="fr-FR" sz="3200" b="1" dirty="0">
              <a:solidFill>
                <a:srgbClr val="FFC000"/>
              </a:solidFill>
              <a:latin typeface="Franklin Gothic Medium" panose="020B0603020102020204" pitchFamily="34" charset="0"/>
            </a:endParaRPr>
          </a:p>
        </p:txBody>
      </p:sp>
      <p:sp>
        <p:nvSpPr>
          <p:cNvPr id="11" name="Organigramme : Connecteur 10"/>
          <p:cNvSpPr/>
          <p:nvPr/>
        </p:nvSpPr>
        <p:spPr>
          <a:xfrm>
            <a:off x="322218" y="1341121"/>
            <a:ext cx="243840" cy="217713"/>
          </a:xfrm>
          <a:prstGeom prst="flowChartConnector">
            <a:avLst/>
          </a:prstGeom>
          <a:gradFill flip="none" rotWithShape="1">
            <a:gsLst>
              <a:gs pos="0">
                <a:schemeClr val="accent2">
                  <a:lumMod val="50000"/>
                  <a:tint val="66000"/>
                  <a:satMod val="160000"/>
                </a:schemeClr>
              </a:gs>
              <a:gs pos="50000">
                <a:schemeClr val="accent2">
                  <a:lumMod val="50000"/>
                  <a:tint val="44500"/>
                  <a:satMod val="160000"/>
                </a:schemeClr>
              </a:gs>
              <a:gs pos="100000">
                <a:schemeClr val="accent2">
                  <a:lumMod val="50000"/>
                  <a:tint val="23500"/>
                  <a:satMod val="16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rganigramme : Connecteur 11"/>
          <p:cNvSpPr/>
          <p:nvPr/>
        </p:nvSpPr>
        <p:spPr>
          <a:xfrm>
            <a:off x="322218" y="2750014"/>
            <a:ext cx="243840" cy="217713"/>
          </a:xfrm>
          <a:prstGeom prst="flowChartConnector">
            <a:avLst/>
          </a:prstGeom>
          <a:gradFill flip="none" rotWithShape="1">
            <a:gsLst>
              <a:gs pos="0">
                <a:schemeClr val="accent2">
                  <a:lumMod val="50000"/>
                  <a:tint val="66000"/>
                  <a:satMod val="160000"/>
                </a:schemeClr>
              </a:gs>
              <a:gs pos="50000">
                <a:schemeClr val="accent2">
                  <a:lumMod val="50000"/>
                  <a:tint val="44500"/>
                  <a:satMod val="160000"/>
                </a:schemeClr>
              </a:gs>
              <a:gs pos="100000">
                <a:schemeClr val="accent2">
                  <a:lumMod val="50000"/>
                  <a:tint val="23500"/>
                  <a:satMod val="16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313510" y="4577584"/>
            <a:ext cx="243840" cy="217713"/>
          </a:xfrm>
          <a:prstGeom prst="flowChartConnector">
            <a:avLst/>
          </a:prstGeom>
          <a:gradFill flip="none" rotWithShape="1">
            <a:gsLst>
              <a:gs pos="0">
                <a:schemeClr val="accent2">
                  <a:lumMod val="50000"/>
                  <a:tint val="66000"/>
                  <a:satMod val="160000"/>
                </a:schemeClr>
              </a:gs>
              <a:gs pos="50000">
                <a:schemeClr val="accent2">
                  <a:lumMod val="50000"/>
                  <a:tint val="44500"/>
                  <a:satMod val="160000"/>
                </a:schemeClr>
              </a:gs>
              <a:gs pos="100000">
                <a:schemeClr val="accent2">
                  <a:lumMod val="50000"/>
                  <a:tint val="23500"/>
                  <a:satMod val="16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rganigramme : Connecteur 13"/>
          <p:cNvSpPr/>
          <p:nvPr/>
        </p:nvSpPr>
        <p:spPr>
          <a:xfrm>
            <a:off x="785949" y="1727598"/>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rganigramme : Connecteur 14"/>
          <p:cNvSpPr/>
          <p:nvPr/>
        </p:nvSpPr>
        <p:spPr>
          <a:xfrm>
            <a:off x="785949" y="2098554"/>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Organigramme : Connecteur 15"/>
          <p:cNvSpPr/>
          <p:nvPr/>
        </p:nvSpPr>
        <p:spPr>
          <a:xfrm>
            <a:off x="785949" y="3151399"/>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rganigramme : Connecteur 16"/>
          <p:cNvSpPr/>
          <p:nvPr/>
        </p:nvSpPr>
        <p:spPr>
          <a:xfrm>
            <a:off x="781595" y="3555170"/>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rganigramme : Connecteur 17"/>
          <p:cNvSpPr/>
          <p:nvPr/>
        </p:nvSpPr>
        <p:spPr>
          <a:xfrm>
            <a:off x="781595" y="3956131"/>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rganigramme : Connecteur 18"/>
          <p:cNvSpPr/>
          <p:nvPr/>
        </p:nvSpPr>
        <p:spPr>
          <a:xfrm>
            <a:off x="781595" y="5008976"/>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Organigramme : Connecteur 19"/>
          <p:cNvSpPr/>
          <p:nvPr/>
        </p:nvSpPr>
        <p:spPr>
          <a:xfrm>
            <a:off x="781595" y="5391708"/>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Organigramme : Connecteur 20"/>
          <p:cNvSpPr/>
          <p:nvPr/>
        </p:nvSpPr>
        <p:spPr>
          <a:xfrm>
            <a:off x="781595" y="5762664"/>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6307138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2" name="ZoneTexte 1"/>
          <p:cNvSpPr txBox="1"/>
          <p:nvPr/>
        </p:nvSpPr>
        <p:spPr>
          <a:xfrm>
            <a:off x="566058" y="1180191"/>
            <a:ext cx="10598331" cy="5632311"/>
          </a:xfrm>
          <a:prstGeom prst="rect">
            <a:avLst/>
          </a:prstGeom>
          <a:noFill/>
        </p:spPr>
        <p:txBody>
          <a:bodyPr wrap="square" rtlCol="0">
            <a:spAutoFit/>
          </a:bodyPr>
          <a:lstStyle/>
          <a:p>
            <a:pPr algn="just"/>
            <a:r>
              <a:rPr lang="fr-FR" sz="2400" b="1" dirty="0" smtClean="0">
                <a:solidFill>
                  <a:schemeClr val="accent2"/>
                </a:solidFill>
                <a:latin typeface="Franklin Gothic Medium" panose="020B0603020102020204" pitchFamily="34" charset="0"/>
              </a:rPr>
              <a:t>Statistiques descriptives</a:t>
            </a:r>
          </a:p>
          <a:p>
            <a:pPr lvl="1" algn="just"/>
            <a:r>
              <a:rPr lang="fr-FR" sz="2400" dirty="0" smtClean="0">
                <a:latin typeface="Franklin Gothic Medium" panose="020B0603020102020204" pitchFamily="34" charset="0"/>
              </a:rPr>
              <a:t>Mesures de tendance centrale </a:t>
            </a:r>
          </a:p>
          <a:p>
            <a:pPr lvl="1" algn="just"/>
            <a:r>
              <a:rPr lang="fr-FR" sz="2400" dirty="0" smtClean="0">
                <a:latin typeface="Franklin Gothic Medium" panose="020B0603020102020204" pitchFamily="34" charset="0"/>
              </a:rPr>
              <a:t>Mesures de dispersion </a:t>
            </a:r>
          </a:p>
          <a:p>
            <a:pPr lvl="1" algn="just"/>
            <a:r>
              <a:rPr lang="fr-FR" sz="2400" dirty="0" smtClean="0">
                <a:latin typeface="Franklin Gothic Medium" panose="020B0603020102020204" pitchFamily="34" charset="0"/>
              </a:rPr>
              <a:t>Distribution des données</a:t>
            </a:r>
          </a:p>
          <a:p>
            <a:pPr algn="just"/>
            <a:endParaRPr lang="fr-FR" sz="2400" b="1" dirty="0" smtClean="0">
              <a:solidFill>
                <a:schemeClr val="accent2"/>
              </a:solidFill>
              <a:latin typeface="Franklin Gothic Medium" panose="020B0603020102020204" pitchFamily="34" charset="0"/>
            </a:endParaRPr>
          </a:p>
          <a:p>
            <a:pPr algn="just"/>
            <a:r>
              <a:rPr lang="fr-FR" sz="2400" b="1" dirty="0" smtClean="0">
                <a:solidFill>
                  <a:schemeClr val="accent2"/>
                </a:solidFill>
                <a:latin typeface="Franklin Gothic Medium" panose="020B0603020102020204" pitchFamily="34" charset="0"/>
              </a:rPr>
              <a:t> Visualisation et interprétation</a:t>
            </a:r>
          </a:p>
          <a:p>
            <a:pPr lvl="1" algn="just"/>
            <a:r>
              <a:rPr lang="fr-FR" sz="2400" dirty="0" smtClean="0">
                <a:latin typeface="Franklin Gothic Medium" panose="020B0603020102020204" pitchFamily="34" charset="0"/>
              </a:rPr>
              <a:t>Graphiques</a:t>
            </a:r>
          </a:p>
          <a:p>
            <a:pPr lvl="1" algn="just"/>
            <a:r>
              <a:rPr lang="fr-FR" sz="2400" dirty="0" smtClean="0">
                <a:latin typeface="Franklin Gothic Medium" panose="020B0603020102020204" pitchFamily="34" charset="0"/>
              </a:rPr>
              <a:t>Analyse des tendances et </a:t>
            </a:r>
            <a:r>
              <a:rPr lang="fr-FR" sz="2400" dirty="0" smtClean="0">
                <a:latin typeface="Franklin Gothic Medium" panose="020B0603020102020204" pitchFamily="34" charset="0"/>
              </a:rPr>
              <a:t>patterns</a:t>
            </a:r>
          </a:p>
          <a:p>
            <a:pPr lvl="1" algn="just"/>
            <a:endParaRPr lang="fr-FR" sz="2400" dirty="0" smtClean="0">
              <a:latin typeface="Franklin Gothic Medium" panose="020B0603020102020204" pitchFamily="34" charset="0"/>
            </a:endParaRPr>
          </a:p>
          <a:p>
            <a:pPr algn="just"/>
            <a:r>
              <a:rPr lang="fr-FR" sz="2400" b="1" dirty="0" smtClean="0">
                <a:solidFill>
                  <a:schemeClr val="accent2"/>
                </a:solidFill>
                <a:latin typeface="Franklin Gothic Medium" panose="020B0603020102020204" pitchFamily="34" charset="0"/>
              </a:rPr>
              <a:t>Pratique sous R</a:t>
            </a:r>
          </a:p>
          <a:p>
            <a:pPr algn="just"/>
            <a:endParaRPr lang="fr-FR" sz="2400" b="1" dirty="0" smtClean="0">
              <a:solidFill>
                <a:schemeClr val="accent2"/>
              </a:solidFill>
              <a:latin typeface="Franklin Gothic Medium" panose="020B0603020102020204" pitchFamily="34" charset="0"/>
            </a:endParaRPr>
          </a:p>
          <a:p>
            <a:pPr algn="just"/>
            <a:r>
              <a:rPr lang="fr-FR" sz="2400" b="1" dirty="0" smtClean="0">
                <a:solidFill>
                  <a:schemeClr val="accent2"/>
                </a:solidFill>
                <a:latin typeface="Franklin Gothic Medium" panose="020B0603020102020204" pitchFamily="34" charset="0"/>
              </a:rPr>
              <a:t>Conclusion</a:t>
            </a:r>
            <a:endParaRPr lang="fr-FR" sz="2400" b="1" dirty="0" smtClean="0">
              <a:solidFill>
                <a:schemeClr val="accent2"/>
              </a:solidFill>
              <a:latin typeface="Franklin Gothic Medium" panose="020B0603020102020204" pitchFamily="34" charset="0"/>
            </a:endParaRPr>
          </a:p>
          <a:p>
            <a:pPr lvl="1" algn="just"/>
            <a:r>
              <a:rPr lang="fr-FR" sz="2400" dirty="0" smtClean="0">
                <a:latin typeface="Franklin Gothic Medium" panose="020B0603020102020204" pitchFamily="34" charset="0"/>
              </a:rPr>
              <a:t>Synthèse des résultats</a:t>
            </a:r>
          </a:p>
          <a:p>
            <a:pPr lvl="1" algn="just"/>
            <a:r>
              <a:rPr lang="fr-FR" sz="2400" dirty="0" smtClean="0">
                <a:latin typeface="Franklin Gothic Medium" panose="020B0603020102020204" pitchFamily="34" charset="0"/>
              </a:rPr>
              <a:t>Qualité des données obtenues</a:t>
            </a:r>
          </a:p>
          <a:p>
            <a:pPr lvl="1" algn="just"/>
            <a:r>
              <a:rPr lang="fr-FR" sz="2400" dirty="0" smtClean="0">
                <a:latin typeface="Franklin Gothic Medium" panose="020B0603020102020204" pitchFamily="34" charset="0"/>
              </a:rPr>
              <a:t> </a:t>
            </a:r>
            <a:endParaRPr lang="fr-FR" sz="2400" dirty="0">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PLAN DE PRESENTATION</a:t>
            </a:r>
            <a:endParaRPr lang="fr-FR" sz="3200" b="1" dirty="0">
              <a:solidFill>
                <a:srgbClr val="FFC000"/>
              </a:solidFill>
              <a:latin typeface="Franklin Gothic Medium" panose="020B0603020102020204" pitchFamily="34" charset="0"/>
            </a:endParaRPr>
          </a:p>
        </p:txBody>
      </p:sp>
      <p:sp>
        <p:nvSpPr>
          <p:cNvPr id="11" name="Organigramme : Connecteur 10"/>
          <p:cNvSpPr/>
          <p:nvPr/>
        </p:nvSpPr>
        <p:spPr>
          <a:xfrm>
            <a:off x="322218" y="1341121"/>
            <a:ext cx="243840" cy="217713"/>
          </a:xfrm>
          <a:prstGeom prst="flowChartConnector">
            <a:avLst/>
          </a:prstGeom>
          <a:gradFill flip="none" rotWithShape="1">
            <a:gsLst>
              <a:gs pos="0">
                <a:schemeClr val="accent2">
                  <a:lumMod val="50000"/>
                  <a:tint val="66000"/>
                  <a:satMod val="160000"/>
                </a:schemeClr>
              </a:gs>
              <a:gs pos="50000">
                <a:schemeClr val="accent2">
                  <a:lumMod val="50000"/>
                  <a:tint val="44500"/>
                  <a:satMod val="160000"/>
                </a:schemeClr>
              </a:gs>
              <a:gs pos="100000">
                <a:schemeClr val="accent2">
                  <a:lumMod val="50000"/>
                  <a:tint val="23500"/>
                  <a:satMod val="16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Organigramme : Connecteur 11"/>
          <p:cNvSpPr/>
          <p:nvPr/>
        </p:nvSpPr>
        <p:spPr>
          <a:xfrm>
            <a:off x="374470" y="3168693"/>
            <a:ext cx="243840" cy="217713"/>
          </a:xfrm>
          <a:prstGeom prst="flowChartConnector">
            <a:avLst/>
          </a:prstGeom>
          <a:gradFill flip="none" rotWithShape="1">
            <a:gsLst>
              <a:gs pos="0">
                <a:schemeClr val="accent2">
                  <a:lumMod val="50000"/>
                  <a:tint val="66000"/>
                  <a:satMod val="160000"/>
                </a:schemeClr>
              </a:gs>
              <a:gs pos="50000">
                <a:schemeClr val="accent2">
                  <a:lumMod val="50000"/>
                  <a:tint val="44500"/>
                  <a:satMod val="160000"/>
                </a:schemeClr>
              </a:gs>
              <a:gs pos="100000">
                <a:schemeClr val="accent2">
                  <a:lumMod val="50000"/>
                  <a:tint val="23500"/>
                  <a:satMod val="16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Organigramme : Connecteur 12"/>
          <p:cNvSpPr/>
          <p:nvPr/>
        </p:nvSpPr>
        <p:spPr>
          <a:xfrm>
            <a:off x="348345" y="5377963"/>
            <a:ext cx="243840" cy="217713"/>
          </a:xfrm>
          <a:prstGeom prst="flowChartConnector">
            <a:avLst/>
          </a:prstGeom>
          <a:gradFill flip="none" rotWithShape="1">
            <a:gsLst>
              <a:gs pos="0">
                <a:schemeClr val="accent2">
                  <a:lumMod val="50000"/>
                  <a:tint val="66000"/>
                  <a:satMod val="160000"/>
                </a:schemeClr>
              </a:gs>
              <a:gs pos="50000">
                <a:schemeClr val="accent2">
                  <a:lumMod val="50000"/>
                  <a:tint val="44500"/>
                  <a:satMod val="160000"/>
                </a:schemeClr>
              </a:gs>
              <a:gs pos="100000">
                <a:schemeClr val="accent2">
                  <a:lumMod val="50000"/>
                  <a:tint val="23500"/>
                  <a:satMod val="16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Organigramme : Connecteur 13"/>
          <p:cNvSpPr/>
          <p:nvPr/>
        </p:nvSpPr>
        <p:spPr>
          <a:xfrm>
            <a:off x="785949" y="1727598"/>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Organigramme : Connecteur 14"/>
          <p:cNvSpPr/>
          <p:nvPr/>
        </p:nvSpPr>
        <p:spPr>
          <a:xfrm>
            <a:off x="785949" y="2098554"/>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Organigramme : Connecteur 16"/>
          <p:cNvSpPr/>
          <p:nvPr/>
        </p:nvSpPr>
        <p:spPr>
          <a:xfrm>
            <a:off x="781595" y="3555170"/>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Organigramme : Connecteur 17"/>
          <p:cNvSpPr/>
          <p:nvPr/>
        </p:nvSpPr>
        <p:spPr>
          <a:xfrm>
            <a:off x="781595" y="3956131"/>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Organigramme : Connecteur 18"/>
          <p:cNvSpPr/>
          <p:nvPr/>
        </p:nvSpPr>
        <p:spPr>
          <a:xfrm>
            <a:off x="785949" y="5773749"/>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Organigramme : Connecteur 19"/>
          <p:cNvSpPr/>
          <p:nvPr/>
        </p:nvSpPr>
        <p:spPr>
          <a:xfrm>
            <a:off x="781595" y="6189517"/>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Organigramme : Connecteur 20"/>
          <p:cNvSpPr/>
          <p:nvPr/>
        </p:nvSpPr>
        <p:spPr>
          <a:xfrm>
            <a:off x="781595" y="2460061"/>
            <a:ext cx="161108" cy="143690"/>
          </a:xfrm>
          <a:prstGeom prst="flowChartConnector">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Organigramme : Connecteur 22"/>
          <p:cNvSpPr/>
          <p:nvPr/>
        </p:nvSpPr>
        <p:spPr>
          <a:xfrm>
            <a:off x="330928" y="4646653"/>
            <a:ext cx="243840" cy="217713"/>
          </a:xfrm>
          <a:prstGeom prst="flowChartConnector">
            <a:avLst/>
          </a:prstGeom>
          <a:gradFill flip="none" rotWithShape="1">
            <a:gsLst>
              <a:gs pos="0">
                <a:schemeClr val="accent2">
                  <a:lumMod val="50000"/>
                  <a:tint val="66000"/>
                  <a:satMod val="160000"/>
                </a:schemeClr>
              </a:gs>
              <a:gs pos="50000">
                <a:schemeClr val="accent2">
                  <a:lumMod val="50000"/>
                  <a:tint val="44500"/>
                  <a:satMod val="160000"/>
                </a:schemeClr>
              </a:gs>
              <a:gs pos="100000">
                <a:schemeClr val="accent2">
                  <a:lumMod val="50000"/>
                  <a:tint val="23500"/>
                  <a:satMod val="160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3226437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a:solidFill>
                  <a:srgbClr val="C00000"/>
                </a:solidFill>
                <a:latin typeface="Franklin Gothic Medium" panose="020B0603020102020204" pitchFamily="34" charset="0"/>
              </a:rPr>
              <a:t>4</a:t>
            </a:r>
            <a:r>
              <a:rPr lang="fr-FR" sz="2400" b="1" dirty="0" smtClean="0">
                <a:solidFill>
                  <a:srgbClr val="C00000"/>
                </a:solidFill>
                <a:latin typeface="Franklin Gothic Medium" panose="020B0603020102020204" pitchFamily="34" charset="0"/>
              </a:rPr>
              <a:t>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Introduction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1880393"/>
            <a:ext cx="11512730" cy="3046988"/>
          </a:xfrm>
          <a:prstGeom prst="rect">
            <a:avLst/>
          </a:prstGeom>
          <a:solidFill>
            <a:schemeClr val="accent2">
              <a:lumMod val="20000"/>
              <a:lumOff val="80000"/>
            </a:schemeClr>
          </a:solidFill>
        </p:spPr>
        <p:txBody>
          <a:bodyPr wrap="square" rtlCol="0">
            <a:spAutoFit/>
          </a:bodyPr>
          <a:lstStyle/>
          <a:p>
            <a:pPr algn="just"/>
            <a:endParaRPr lang="fr-FR" sz="2400" dirty="0" smtClean="0">
              <a:latin typeface="Franklin Gothic Medium" panose="020B0603020102020204" pitchFamily="34" charset="0"/>
            </a:endParaRPr>
          </a:p>
          <a:p>
            <a:pPr algn="just"/>
            <a:r>
              <a:rPr lang="fr-FR" sz="2400" dirty="0" smtClean="0">
                <a:latin typeface="Franklin Gothic Medium" panose="020B0603020102020204" pitchFamily="34" charset="0"/>
              </a:rPr>
              <a:t>Dans un contexte marqué par la transformation numérique et l’essor des technologies de collecte d’informations (capteurs, satellites, enquêtes terrain, bases de données), les données occupent une place centrale dans la prise de décision, notamment dans les domaines de l’environnement, de l’agriculture et de la gestion des ressources naturelles. Les données, qu’elles soient statistiques ou </a:t>
            </a:r>
            <a:r>
              <a:rPr lang="fr-FR" sz="2400" dirty="0" err="1" smtClean="0">
                <a:latin typeface="Franklin Gothic Medium" panose="020B0603020102020204" pitchFamily="34" charset="0"/>
              </a:rPr>
              <a:t>géospatiales</a:t>
            </a:r>
            <a:r>
              <a:rPr lang="fr-FR" sz="2400" dirty="0" smtClean="0">
                <a:latin typeface="Franklin Gothic Medium" panose="020B0603020102020204" pitchFamily="34" charset="0"/>
              </a:rPr>
              <a:t>, constituent une ressource stratégique permettant de comprendre les phénomènes, de suivre les dynamiques spatio-temporelles et d’orienter les politiques de développement.</a:t>
            </a:r>
            <a:endParaRPr lang="fr-FR" sz="2400" dirty="0">
              <a:latin typeface="Franklin Gothic Medium" panose="020B0603020102020204" pitchFamily="34" charset="0"/>
            </a:endParaRPr>
          </a:p>
        </p:txBody>
      </p:sp>
      <p:sp>
        <p:nvSpPr>
          <p:cNvPr id="23" name="Rectangle 22"/>
          <p:cNvSpPr/>
          <p:nvPr/>
        </p:nvSpPr>
        <p:spPr>
          <a:xfrm>
            <a:off x="269966" y="1522558"/>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365760" y="1586637"/>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Contexte et importance des données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24476243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5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Introduction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3416320"/>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Cependant, les données brutes sont souvent hétérogènes, incomplètes ou entachées d’erreurs. Sans un traitement adéquat, leur exploitation peut conduire à des interprétations biaisées et à des décisions inappropriées. C’est pourquoi les étapes de nettoyage, de structuration et d’analyse descriptive sont essentielles. Elles permettent d’améliorer la qualité des données, de les rendre cohérentes et exploitables, et de garantir la fiabilité des résultats obtenus. Dans le domaine de la géomatique et de la télédétection, cette rigueur est d’autant plus cruciale que les données proviennent de sources variées (imagerie satellitaire, relevés GPS, bases SIG) et nécessitent une harmonisation préalable.</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Contexte et importance des données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6420543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a:solidFill>
                  <a:srgbClr val="C00000"/>
                </a:solidFill>
                <a:latin typeface="Franklin Gothic Medium" panose="020B0603020102020204" pitchFamily="34" charset="0"/>
              </a:rPr>
              <a:t>6</a:t>
            </a:r>
            <a:r>
              <a:rPr lang="fr-FR" sz="2400" b="1" dirty="0" smtClean="0">
                <a:solidFill>
                  <a:srgbClr val="C00000"/>
                </a:solidFill>
                <a:latin typeface="Franklin Gothic Medium" panose="020B0603020102020204" pitchFamily="34" charset="0"/>
              </a:rPr>
              <a:t>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Introduction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677656"/>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L’objectif principal de cette analyse est de préparer et d’explorer les données afin d’en extraire des informations pertinentes et fiables. Plus spécifiquement, il s’agit dans un premier temps d’assurer la qualité des données à travers des opérations de nettoyage, incluant la gestion des valeurs manquantes, la correction des incohérences et l’élimination des anomalies. Ensuite, l’analyse vise à structurer les données de manière logique et standardisée, en facilitant leur manipulation et leur intégration dans des outils d’analyse statistique ou </a:t>
            </a:r>
            <a:r>
              <a:rPr lang="fr-FR" sz="2400" dirty="0" err="1" smtClean="0">
                <a:latin typeface="Franklin Gothic Medium" panose="020B0603020102020204" pitchFamily="34" charset="0"/>
              </a:rPr>
              <a:t>géospatiale</a:t>
            </a:r>
            <a:r>
              <a:rPr lang="fr-FR" sz="2400" dirty="0" smtClean="0">
                <a:latin typeface="Franklin Gothic Medium" panose="020B0603020102020204" pitchFamily="34" charset="0"/>
              </a:rPr>
              <a:t>.</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Objectifs de l’analyse</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4568597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7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Introduction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3046988"/>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Par ailleurs, l’analyse descriptive a pour but de résumer les caractéristiques essentielles des données à l’aide d’indicateurs statistiques (tendance centrale, dispersion) et de représentations graphiques. Cette étape permet de dégager les grandes tendances, d’identifier les patterns et de formuler des hypothèses d’analyse plus approfondies. Dans un contexte appliqué, notamment en data science environnementale ou en SIG, ces objectifs contribuent à améliorer la compréhension des phénomènes étudiés et à appuyer une prise de décision basée sur des données fiables (data-</a:t>
            </a:r>
            <a:r>
              <a:rPr lang="fr-FR" sz="2400" dirty="0" err="1" smtClean="0">
                <a:latin typeface="Franklin Gothic Medium" panose="020B0603020102020204" pitchFamily="34" charset="0"/>
              </a:rPr>
              <a:t>driven</a:t>
            </a:r>
            <a:r>
              <a:rPr lang="fr-FR" sz="2400" dirty="0" smtClean="0">
                <a:latin typeface="Franklin Gothic Medium" panose="020B0603020102020204" pitchFamily="34" charset="0"/>
              </a:rPr>
              <a:t> </a:t>
            </a:r>
            <a:r>
              <a:rPr lang="fr-FR" sz="2400" dirty="0" err="1" smtClean="0">
                <a:latin typeface="Franklin Gothic Medium" panose="020B0603020102020204" pitchFamily="34" charset="0"/>
              </a:rPr>
              <a:t>decision</a:t>
            </a:r>
            <a:r>
              <a:rPr lang="fr-FR" sz="2400" dirty="0" smtClean="0">
                <a:latin typeface="Franklin Gothic Medium" panose="020B0603020102020204" pitchFamily="34" charset="0"/>
              </a:rPr>
              <a:t> </a:t>
            </a:r>
            <a:r>
              <a:rPr lang="fr-FR" sz="2400" dirty="0" err="1" smtClean="0">
                <a:latin typeface="Franklin Gothic Medium" panose="020B0603020102020204" pitchFamily="34" charset="0"/>
              </a:rPr>
              <a:t>making</a:t>
            </a:r>
            <a:r>
              <a:rPr lang="fr-FR" sz="2400" dirty="0" smtClean="0">
                <a:latin typeface="Franklin Gothic Medium" panose="020B0603020102020204" pitchFamily="34" charset="0"/>
              </a:rPr>
              <a:t>).</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Objectifs de l’analyse</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0652496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8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Nettoyage des données</a:t>
            </a:r>
          </a:p>
        </p:txBody>
      </p:sp>
      <p:sp>
        <p:nvSpPr>
          <p:cNvPr id="16" name="ZoneTexte 15"/>
          <p:cNvSpPr txBox="1"/>
          <p:nvPr/>
        </p:nvSpPr>
        <p:spPr>
          <a:xfrm>
            <a:off x="269966" y="2305742"/>
            <a:ext cx="11512730" cy="2677656"/>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Le nettoyage des données constitue une étape fondamentale dans tout processus d’analyse, car il conditionne directement la qualité et la fiabilité des résultats. Les données brutes, issues de diverses sources (enquêtes terrain, capteurs, bases SIG, imagerie satellitaire), présentent souvent des imperfections telles que des valeurs manquantes, des anomalies ou des incohérences. Une démarche rigoureuse de nettoyage permet donc de transformer ces données en un jeu exploitable, cohérent et adapté aux analyses statistiques et </a:t>
            </a:r>
            <a:r>
              <a:rPr lang="fr-FR" sz="2400" dirty="0" err="1" smtClean="0">
                <a:latin typeface="Franklin Gothic Medium" panose="020B0603020102020204" pitchFamily="34" charset="0"/>
              </a:rPr>
              <a:t>géospatiales</a:t>
            </a:r>
            <a:r>
              <a:rPr lang="fr-FR" sz="2400" dirty="0" smtClean="0">
                <a:latin typeface="Franklin Gothic Medium" panose="020B0603020102020204" pitchFamily="34" charset="0"/>
              </a:rPr>
              <a:t>.</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11219756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a:solidFill>
                  <a:srgbClr val="C00000"/>
                </a:solidFill>
                <a:latin typeface="Franklin Gothic Medium" panose="020B0603020102020204" pitchFamily="34" charset="0"/>
              </a:rPr>
              <a:t>9</a:t>
            </a:r>
            <a:r>
              <a:rPr lang="fr-FR" sz="2400" b="1" dirty="0" smtClean="0">
                <a:solidFill>
                  <a:srgbClr val="C00000"/>
                </a:solidFill>
                <a:latin typeface="Franklin Gothic Medium" panose="020B0603020102020204" pitchFamily="34" charset="0"/>
              </a:rPr>
              <a:t>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Nettoyage des données</a:t>
            </a:r>
          </a:p>
        </p:txBody>
      </p:sp>
      <p:sp>
        <p:nvSpPr>
          <p:cNvPr id="16" name="ZoneTexte 15"/>
          <p:cNvSpPr txBox="1"/>
          <p:nvPr/>
        </p:nvSpPr>
        <p:spPr>
          <a:xfrm>
            <a:off x="269966" y="2305742"/>
            <a:ext cx="11512730" cy="2308324"/>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Les valeurs manquantes représentent un problème fréquent dans les jeux de données, notamment dans les contextes de collecte terrain ou de télédétection où certaines informations peuvent être indisponibles ou mal enregistrées. Leur identification constitue la première étape du nettoyage. Elle consiste à repérer les champs vides, les valeurs nulles ou les codes spécifiques (NA, -9999, etc.) utilisés pour signaler l’absence de données.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Identification des valeurs manquantes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2406715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10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Nettoyage des données</a:t>
            </a:r>
          </a:p>
        </p:txBody>
      </p:sp>
      <p:sp>
        <p:nvSpPr>
          <p:cNvPr id="16" name="ZoneTexte 15"/>
          <p:cNvSpPr txBox="1"/>
          <p:nvPr/>
        </p:nvSpPr>
        <p:spPr>
          <a:xfrm>
            <a:off x="269966" y="2305742"/>
            <a:ext cx="11512730" cy="3046988"/>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Une fois identifiées, plusieurs stratégies peuvent être adoptées en fonction de la nature des données et des objectifs de l’étude. Il peut s’agir de supprimer les observations incomplètes lorsque leur proportion est faible, ou de procéder à une imputation (remplacement) en utilisant des méthodes statistiques telles que la moyenne, la médiane ou des approches plus avancées (interpolation spatiale, régression). Dans le domaine de la géomatique, par exemple, les valeurs manquantes dans des images satellitaires (pixels masqués par les nuages) peuvent être comblées par des techniques de reconstruction temporelle ou spatiale.</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Identification des valeurs manquantes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274732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11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smtClean="0">
                <a:solidFill>
                  <a:srgbClr val="FFC000"/>
                </a:solidFill>
                <a:latin typeface="Franklin Gothic Medium" panose="020B0603020102020204" pitchFamily="34" charset="0"/>
              </a:rPr>
              <a:t>Nettoyage des données</a:t>
            </a:r>
            <a:endParaRPr lang="fr-FR" sz="3200" b="1" dirty="0" err="1" smtClean="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1938992"/>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Les valeurs aberrantes (</a:t>
            </a:r>
            <a:r>
              <a:rPr lang="fr-FR" sz="2400" dirty="0" err="1" smtClean="0">
                <a:latin typeface="Franklin Gothic Medium" panose="020B0603020102020204" pitchFamily="34" charset="0"/>
              </a:rPr>
              <a:t>outliers</a:t>
            </a:r>
            <a:r>
              <a:rPr lang="fr-FR" sz="2400" dirty="0" smtClean="0">
                <a:latin typeface="Franklin Gothic Medium" panose="020B0603020102020204" pitchFamily="34" charset="0"/>
              </a:rPr>
              <a:t>) sont des observations qui s’écartent significativement du comportement général des données. Elles peuvent résulter d’erreurs de mesure, de saisie ou refléter des phénomènes réels mais rares. Leur détection est essentielle, car elles peuvent fortement influencer les analyses statistiques, notamment les moyennes et les modèles prédictifs.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Détection et traitement des valeurs aberrantes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29576948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12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smtClean="0">
                <a:solidFill>
                  <a:srgbClr val="FFC000"/>
                </a:solidFill>
                <a:latin typeface="Franklin Gothic Medium" panose="020B0603020102020204" pitchFamily="34" charset="0"/>
              </a:rPr>
              <a:t>Nettoyage des données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3046988"/>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Plusieurs méthodes permettent d’identifier ces valeurs, telles que l’utilisation des intervalles interquartiles (IQR), des scores normalisés (z-score) ou encore des visualisations comme les </a:t>
            </a:r>
            <a:r>
              <a:rPr lang="fr-FR" sz="2400" dirty="0" err="1" smtClean="0">
                <a:latin typeface="Franklin Gothic Medium" panose="020B0603020102020204" pitchFamily="34" charset="0"/>
              </a:rPr>
              <a:t>boxplots</a:t>
            </a:r>
            <a:r>
              <a:rPr lang="fr-FR" sz="2400" dirty="0" smtClean="0">
                <a:latin typeface="Franklin Gothic Medium" panose="020B0603020102020204" pitchFamily="34" charset="0"/>
              </a:rPr>
              <a:t>. Une fois détectées, les valeurs aberrantes doivent être analysées avec prudence : si elles résultent d’erreurs, elles peuvent être corrigées ou supprimées ; en revanche, si elles traduisent une réalité (ex : rendement exceptionnel, anomalie climatique), elles doivent être conservées mais interprétées avec précaution. En analyse spatiale, ces valeurs peuvent également révéler des zones spécifiques nécessitant une attention particulière.</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Détection et traitement des valeurs aberrantes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7211655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13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smtClean="0">
                <a:solidFill>
                  <a:srgbClr val="FFC000"/>
                </a:solidFill>
                <a:latin typeface="Franklin Gothic Medium" panose="020B0603020102020204" pitchFamily="34" charset="0"/>
              </a:rPr>
              <a:t>Nettoyage des données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677656"/>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Les incohérences, quant à elles, concernent des problèmes tels que des unités de mesure différentes (hectares vs m²), des formats de dates variés, ou des valeurs impossibles (ex : température négative irréaliste dans un contexte donné). Leur correction nécessite une harmonisation des formats, une standardisation des unités et parfois une validation croisée avec d’autres sources de données. Dans les systèmes d’information géographique, cela peut inclure la correction de projections spatiales ou la vérification de la topologie des données.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Correction des erreurs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23801723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14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smtClean="0">
                <a:solidFill>
                  <a:srgbClr val="FFC000"/>
                </a:solidFill>
                <a:latin typeface="Franklin Gothic Medium" panose="020B0603020102020204" pitchFamily="34" charset="0"/>
              </a:rPr>
              <a:t>Nettoyage des données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308324"/>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Les erreurs dans les données peuvent également prendre la forme de doublons (enregistrements répétés) ou d’incohérences (valeurs contradictoires ou formats non homogènes). Les doublons surviennent souvent lors de la fusion de bases de données ou d’erreurs de saisie, et peuvent biaiser les résultats en surreprésentant certaines observations. Leur détection repose sur l’identification de lignes identiques ou de clés uniques répétées, suivie de leur suppression ou consolidation.</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Correction des erreurs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26624018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15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Structuration des données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677656"/>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La structuration des données constitue une étape essentielle qui intervient après le nettoyage et vise à organiser les données de manière logique, cohérente et adaptée aux outils d’analyse. Une bonne structuration facilite non seulement la manipulation des données, mais aussi leur interprétation et leur intégration dans des modèles statistiques ou </a:t>
            </a:r>
            <a:r>
              <a:rPr lang="fr-FR" sz="2400" dirty="0" err="1" smtClean="0">
                <a:latin typeface="Franklin Gothic Medium" panose="020B0603020102020204" pitchFamily="34" charset="0"/>
              </a:rPr>
              <a:t>géospatiaux</a:t>
            </a:r>
            <a:r>
              <a:rPr lang="fr-FR" sz="2400" dirty="0" smtClean="0">
                <a:latin typeface="Franklin Gothic Medium" panose="020B0603020102020204" pitchFamily="34" charset="0"/>
              </a:rPr>
              <a:t>. Dans les domaines de la data science, des SIG et de la télédétection, cette étape est cruciale pour garantir l’interopérabilité entre différentes sources et assurer la reproductibilité des analyses.</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3325350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16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Structuration des données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1938992"/>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L’organisation des variables consiste à définir clairement la structure du jeu de données en attribuant à chaque variable un type et un format appropriés. Il s’agit notamment de distinguer les variables quantitatives (continues ou discrètes), qualitatives (catégorielles) ou encore temporelles et spatiales. Cette classification est importante, car elle conditionne les méthodes d’analyse à utiliser.</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Organisation des variables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9526303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17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Structuration des données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3046988"/>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Par ailleurs, les formats des variables doivent être homogènes et adaptés : par exemple, les dates doivent être converties dans un format standard (YYYY-MM-DD), les coordonnées géographiques doivent être exprimées dans un système de référence cohérent (WGS84, UTM, etc.), et les variables numériques doivent être correctement typées (entier, flottant). Une mauvaise définition des types peut entraîner des erreurs d’analyse ou empêcher l’utilisation de certains outils. Dans un contexte SIG, cela inclut également la structuration des tables attributaires et la gestion correcte des champs géographiques.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Organisation des variables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6969290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18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Structuration des données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308324"/>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La transformation des données vise à rendre les variables comparables et exploitables dans les analyses. Elle comprend plusieurs opérations, parmi lesquelles la normalisation et la standardisation, qui permettent de ramener les variables à une même échelle. Cela est particulièrement utile dans les modèles statistiques ou d’apprentissage automatique, où des variables de grande amplitude peuvent dominer les autres.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smtClean="0">
                <a:solidFill>
                  <a:srgbClr val="C00000"/>
                </a:solidFill>
                <a:latin typeface="Franklin Gothic Medium" panose="020B0603020102020204" pitchFamily="34" charset="0"/>
              </a:rPr>
              <a:t>Transformation des données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8451490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19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Structuration des données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3046988"/>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La codification est une autre étape importante, notamment pour les variables qualitatives. Elle consiste à convertir des catégories (ex : types de cultures, classes d’occupation du sol) en valeurs numériques ou en codes standardisés, facilitant ainsi leur traitement par les logiciels d’analyse. Dans les applications géospatiales, cette transformation peut également inclure le reclassage des images satellitaires (par exemple, regroupement de classes d’occupation du sol) ou la création d’indices (NDVI, indices de sécheresse, etc.). Ces transformations permettent d’extraire des informations plus pertinentes et de préparer les données à des analyses avancées.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smtClean="0">
                <a:solidFill>
                  <a:srgbClr val="C00000"/>
                </a:solidFill>
                <a:latin typeface="Franklin Gothic Medium" panose="020B0603020102020204" pitchFamily="34" charset="0"/>
              </a:rPr>
              <a:t>Transformation des données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21257977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20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Structuration des données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308324"/>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L’intégration des données consiste à combiner plusieurs sources de données en un ensemble cohérent et structuré. Dans les projets environnementaux et agricoles, les données proviennent souvent de sources diverses : enquêtes terrain, données climatiques, images satellitaires, bases SIG, etc. Leur intégration nécessite une harmonisation des formats, des unités, des systèmes de coordonnées et des échelles spatiales et temporelles.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smtClean="0">
                <a:solidFill>
                  <a:srgbClr val="C00000"/>
                </a:solidFill>
                <a:latin typeface="Franklin Gothic Medium" panose="020B0603020102020204" pitchFamily="34" charset="0"/>
              </a:rPr>
              <a:t>Intégration et mise en forme pour l’analyse</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42090135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21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Structuration des données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677656"/>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La mise en forme finale vise à organiser les données dans une structure adaptée à l’analyse, comme des tableaux bien formatés, des bases de données relationnelles ou des couches SIG prêtes à être exploitées. Cela peut inclure la création de nouvelles variables dérivées, la réorganisation des colonnes, ou encore l’exportation dans des formats compatibles avec les outils d’analyse (CSV, GeoJSON, Shapefile, etc.). Une bonne mise en forme facilite non seulement l’analyse exploratoire, mais aussi la visualisation et la modélisation.</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smtClean="0">
                <a:solidFill>
                  <a:srgbClr val="C00000"/>
                </a:solidFill>
                <a:latin typeface="Franklin Gothic Medium" panose="020B0603020102020204" pitchFamily="34" charset="0"/>
              </a:rPr>
              <a:t>Intégration et mise en forme pour l’analyse</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7025901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22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Statistiques descriptives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3046988"/>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Les statistiques descriptives constituent une étape essentielle de l’analyse des données, car elles permettent de résumer, organiser et comprendre les principales caractéristiques d’un jeu de données. Elles offrent une première lecture synthétique des informations disponibles, facilitant ainsi l’identification des tendances générales, des variations et des éventuelles anomalies. Dans les domaines de la data science, de l’agronomie et de la géomatique, elles sont particulièrement utiles pour explorer des variables telles que les rendements agricoles, les indices de végétation ou les paramètres climatiques avant toute modélisation approfondie.</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230386005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23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Statistiques descriptives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3785652"/>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Les mesures de tendance centrale permettent de déterminer la valeur représentative ou typique d’un ensemble de données. La moyenne correspond à la somme des valeurs divisée par le nombre d’observations ; elle est largement utilisée pour résumer les données quantitatives, mais reste sensible aux valeurs extrêmes. La médiane, quant à elle, représente la valeur centrale qui divise les données ordonnées en deux parties égales. Elle est particulièrement utile lorsque les données sont asymétriques ou contiennent des valeurs aberrantes, car elle est moins influencée par ces dernières. Enfin, le mode correspond à la valeur la plus fréquente dans un jeu de données, ce qui le rend pertinent pour l’analyse des variables qualitatives ou catégorielles, comme les types de cultures ou les classes d’occupation du sol.</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smtClean="0">
                <a:solidFill>
                  <a:srgbClr val="C00000"/>
                </a:solidFill>
                <a:latin typeface="Franklin Gothic Medium" panose="020B0603020102020204" pitchFamily="34" charset="0"/>
              </a:rPr>
              <a:t>Mesures de tendance centrale</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18871238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24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Statistiques descriptives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1200329"/>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Ces indicateurs permettent d’avoir une première compréhension des données et servent souvent de base pour comparer différents groupes ou zones d’étude, par exemple comparer les rendements moyens entre différentes parcelles ou régions.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smtClean="0">
                <a:solidFill>
                  <a:srgbClr val="C00000"/>
                </a:solidFill>
                <a:latin typeface="Franklin Gothic Medium" panose="020B0603020102020204" pitchFamily="34" charset="0"/>
              </a:rPr>
              <a:t>Mesures de tendance centrale</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16744193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25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Statistiques descriptives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308324"/>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Les mesures de dispersion complètent les indicateurs de tendance centrale en évaluant la variabilité ou la dispersion des données autour de leur valeur moyenne. La variance mesure l’écart moyen des observations par rapport à la moyenne, exprimé au carré, ce qui permet de quantifier l’ampleur de la variabilité. L’écart-type, qui est la racine carrée de la variance, est plus couramment utilisé car il est exprimé dans la même unité que les données, facilitant ainsi son interprétation.</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smtClean="0">
                <a:solidFill>
                  <a:srgbClr val="C00000"/>
                </a:solidFill>
                <a:latin typeface="Franklin Gothic Medium" panose="020B0603020102020204" pitchFamily="34" charset="0"/>
              </a:rPr>
              <a:t>Mesures de dispersion</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205441445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26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Statistiques descriptives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677656"/>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Une faible dispersion indique que les valeurs sont proches les unes des autres, traduisant une certaine homogénéité, tandis qu’une forte dispersion révèle une grande variabilité au sein du jeu de données. Dans un contexte agricole, par exemple, un écart-type élevé des rendements peut indiquer des différences importantes entre parcelles, possiblement liées à des facteurs environnementaux ou de gestion. Ces mesures sont donc essentielles pour évaluer la stabilité et la fiabilité des phénomènes observés.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smtClean="0">
                <a:solidFill>
                  <a:srgbClr val="C00000"/>
                </a:solidFill>
                <a:latin typeface="Franklin Gothic Medium" panose="020B0603020102020204" pitchFamily="34" charset="0"/>
              </a:rPr>
              <a:t>Mesures de dispersion</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428197881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27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Statistiques descriptives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1938992"/>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L’analyse de la distribution des données permet de comprendre la manière dont les valeurs sont réparties. Elle peut être étudiée à l’aide de tableaux de fréquences ou de représentations graphiques telles que les histogrammes. Un histogramme permet de visualiser la répartition des données en classes et d’identifier la forme de la distribution (symétrique, asymétrique, unimodale, bimodale, etc.).</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Distribution des données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7524145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28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Statistiques descriptives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308324"/>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Les fréquences (absolues ou relatives) indiquent combien de fois une valeur ou une classe apparaît dans le jeu de données. Cette analyse permet de détecter des concentrations de valeurs, des tendances dominantes ou des anomalies. Dans les applications géospatiales, elle peut être utilisée pour analyser la distribution des indices (comme le NDVI), des précipitations ou des températures, et ainsi mieux comprendre les dynamiques environnementales.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Distribution des données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65688199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29 /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866503" y="152755"/>
            <a:ext cx="4781006"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Statistiques descriptives</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1200329"/>
          </a:xfrm>
          <a:prstGeom prst="rect">
            <a:avLst/>
          </a:prstGeom>
          <a:solidFill>
            <a:schemeClr val="accent2">
              <a:lumMod val="20000"/>
              <a:lumOff val="80000"/>
            </a:schemeClr>
          </a:solidFill>
        </p:spPr>
        <p:txBody>
          <a:bodyPr wrap="square" rtlCol="0">
            <a:spAutoFit/>
          </a:bodyPr>
          <a:lstStyle/>
          <a:p>
            <a:pPr algn="just"/>
            <a:r>
              <a:rPr lang="fr-FR" sz="2400" smtClean="0">
                <a:latin typeface="Franklin Gothic Medium" panose="020B0603020102020204" pitchFamily="34" charset="0"/>
              </a:rPr>
              <a:t>L’étude de la distribution est également importante pour orienter le choix des méthodes statistiques à utiliser par la suite, certaines techniques nécessitant des hypothèses spécifiques sur la forme des données (par exemple, la normalité).</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smtClean="0">
                <a:solidFill>
                  <a:srgbClr val="C00000"/>
                </a:solidFill>
                <a:latin typeface="Franklin Gothic Medium" panose="020B0603020102020204" pitchFamily="34" charset="0"/>
              </a:rPr>
              <a:t>Distribution des données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40665900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30</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a:solidFill>
                  <a:srgbClr val="FFC000"/>
                </a:solidFill>
                <a:latin typeface="Franklin Gothic Medium" panose="020B0603020102020204" pitchFamily="34" charset="0"/>
              </a:rPr>
              <a:t>Visualisation et interprétation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677656"/>
          </a:xfrm>
          <a:prstGeom prst="rect">
            <a:avLst/>
          </a:prstGeom>
          <a:solidFill>
            <a:schemeClr val="accent2">
              <a:lumMod val="20000"/>
              <a:lumOff val="80000"/>
            </a:schemeClr>
          </a:solidFill>
        </p:spPr>
        <p:txBody>
          <a:bodyPr wrap="square" rtlCol="0">
            <a:spAutoFit/>
          </a:bodyPr>
          <a:lstStyle/>
          <a:p>
            <a:pPr algn="just"/>
            <a:r>
              <a:rPr lang="fr-FR" sz="2400">
                <a:latin typeface="Franklin Gothic Medium" panose="020B0603020102020204" pitchFamily="34" charset="0"/>
              </a:rPr>
              <a:t>La visualisation des données constitue une étape essentielle dans le processus d’analyse, car elle permet de représenter les informations de manière graphique afin de faciliter leur compréhension. Contrairement aux tableaux de données brutes ou aux indicateurs statistiques, les graphiques offrent une lecture intuitive et rapide des tendances, des variations et des relations entre variables. Dans les domaines de la data science, de l’agronomie et de la géomatique, la visualisation joue un rôle clé dans la communication des résultats et dans l’aide à la prise de décision.</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46486095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31</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a:solidFill>
                  <a:srgbClr val="FFC000"/>
                </a:solidFill>
                <a:latin typeface="Franklin Gothic Medium" panose="020B0603020102020204" pitchFamily="34" charset="0"/>
              </a:rPr>
              <a:t>Visualisation et interprétation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677656"/>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Les graphiques permettent de traduire les données en représentations visuelles adaptées à leur nature et à l’objectif de l’analyse. Parmi les plus utilisés, l’histogramme permet d’observer la distribution d’une variable quantitative, comme la hauteur des plants, en mettant en évidence la fréquence des valeurs. Le </a:t>
            </a:r>
            <a:r>
              <a:rPr lang="fr-FR" sz="2400" dirty="0" err="1">
                <a:latin typeface="Franklin Gothic Medium" panose="020B0603020102020204" pitchFamily="34" charset="0"/>
              </a:rPr>
              <a:t>boxplot</a:t>
            </a:r>
            <a:r>
              <a:rPr lang="fr-FR" sz="2400" dirty="0">
                <a:latin typeface="Franklin Gothic Medium" panose="020B0603020102020204" pitchFamily="34" charset="0"/>
              </a:rPr>
              <a:t> (boîte à moustaches) est particulièrement utile pour visualiser la dispersion des données et détecter la présence de valeurs aberrantes, tout en facilitant la comparaison entre différents groupes, par exemple entre traitements agronomiques.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a:solidFill>
                  <a:srgbClr val="C00000"/>
                </a:solidFill>
                <a:latin typeface="Franklin Gothic Medium" panose="020B0603020102020204" pitchFamily="34" charset="0"/>
              </a:rPr>
              <a:t>Graphiques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700857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32</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a:solidFill>
                  <a:srgbClr val="FFC000"/>
                </a:solidFill>
                <a:latin typeface="Franklin Gothic Medium" panose="020B0603020102020204" pitchFamily="34" charset="0"/>
              </a:rPr>
              <a:t>Visualisation et interprétation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3046988"/>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Les diagrammes de dispersion (</a:t>
            </a:r>
            <a:r>
              <a:rPr lang="fr-FR" sz="2400" dirty="0" err="1">
                <a:latin typeface="Franklin Gothic Medium" panose="020B0603020102020204" pitchFamily="34" charset="0"/>
              </a:rPr>
              <a:t>scatter</a:t>
            </a:r>
            <a:r>
              <a:rPr lang="fr-FR" sz="2400" dirty="0">
                <a:latin typeface="Franklin Gothic Medium" panose="020B0603020102020204" pitchFamily="34" charset="0"/>
              </a:rPr>
              <a:t> plots) permettent d’explorer les relations entre deux variables quantitatives, comme le diamètre et la hauteur des plants, et d’identifier d’éventuelles corrélations. Les courbes temporelles, quant à elles, sont utilisées pour analyser l’évolution d’un paramètre dans le temps, par exemple la croissance des plants au fil des semaines. Dans un contexte </a:t>
            </a:r>
            <a:r>
              <a:rPr lang="fr-FR" sz="2400" dirty="0" err="1">
                <a:latin typeface="Franklin Gothic Medium" panose="020B0603020102020204" pitchFamily="34" charset="0"/>
              </a:rPr>
              <a:t>géospatial</a:t>
            </a:r>
            <a:r>
              <a:rPr lang="fr-FR" sz="2400" dirty="0">
                <a:latin typeface="Franklin Gothic Medium" panose="020B0603020102020204" pitchFamily="34" charset="0"/>
              </a:rPr>
              <a:t>, la visualisation peut également inclure des cartes thématiques, permettant de représenter la distribution spatiale de variables comme le rendement, l’humidité du sol ou les indices de végétation.</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a:solidFill>
                  <a:srgbClr val="C00000"/>
                </a:solidFill>
                <a:latin typeface="Franklin Gothic Medium" panose="020B0603020102020204" pitchFamily="34" charset="0"/>
              </a:rPr>
              <a:t>Graphiques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12065836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33</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a:solidFill>
                  <a:srgbClr val="FFC000"/>
                </a:solidFill>
                <a:latin typeface="Franklin Gothic Medium" panose="020B0603020102020204" pitchFamily="34" charset="0"/>
              </a:rPr>
              <a:t>Visualisation et interprétation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308324"/>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L’interprétation des graphiques consiste à extraire du sens à partir des représentations visuelles. Elle permet d’identifier des tendances générales, telles qu’une augmentation ou une diminution progressive d’une variable, ainsi que des patterns (motifs récurrents) dans les données. Par exemple, une courbe de croissance peut révéler une progression régulière de la hauteur des plants, tandis qu’un histogramme peut indiquer une distribution normale ou asymétrique des valeurs.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a:solidFill>
                  <a:srgbClr val="C00000"/>
                </a:solidFill>
                <a:latin typeface="Franklin Gothic Medium" panose="020B0603020102020204" pitchFamily="34" charset="0"/>
              </a:rPr>
              <a:t>Analyse des tendances et patterns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9158558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34</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a:solidFill>
                  <a:srgbClr val="FFC000"/>
                </a:solidFill>
                <a:latin typeface="Franklin Gothic Medium" panose="020B0603020102020204" pitchFamily="34" charset="0"/>
              </a:rPr>
              <a:t>Visualisation et interprétation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2308324"/>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L’analyse peut également mettre en évidence des différences significatives entre groupes, comme l’effet de différents traitements sur la croissance des cultures. De plus, les graphiques permettent de détecter des anomalies ou des comportements atypiques qui pourraient nécessiter une investigation supplémentaire. Dans les analyses spatiales, les patterns observés peuvent révéler des zones de forte ou faible productivité, ou encore des gradients environnementaux.</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a:solidFill>
                  <a:srgbClr val="C00000"/>
                </a:solidFill>
                <a:latin typeface="Franklin Gothic Medium" panose="020B0603020102020204" pitchFamily="34" charset="0"/>
              </a:rPr>
              <a:t>Analyse des tendances et patterns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409750115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35</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a:solidFill>
                  <a:srgbClr val="FFC000"/>
                </a:solidFill>
                <a:latin typeface="Franklin Gothic Medium" panose="020B0603020102020204" pitchFamily="34" charset="0"/>
              </a:rPr>
              <a:t>Visualisation et interprétation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1938992"/>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Enfin, l’interprétation doit toujours être réalisée avec rigueur et mise en relation avec le contexte de l’étude. Les résultats observés doivent être confrontés aux connaissances théoriques et aux conditions du terrain afin d’éviter les conclusions hâtives. Ainsi, la visualisation et l’interprétation des données constituent un pont entre l’analyse quantitative et la compréhension réelle des phénomènes étudiés.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dirty="0">
                <a:solidFill>
                  <a:srgbClr val="C00000"/>
                </a:solidFill>
                <a:latin typeface="Franklin Gothic Medium" panose="020B0603020102020204" pitchFamily="34" charset="0"/>
              </a:rPr>
              <a:t>Analyse des tendances et patterns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00101842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36</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1" y="2415522"/>
            <a:ext cx="12191999" cy="3785652"/>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Ce bloc de code correspond à la préparation de l’environnement de travail pour l’analyse des données dans R</a:t>
            </a:r>
            <a:r>
              <a:rPr lang="fr-FR" sz="2400" dirty="0" smtClean="0">
                <a:latin typeface="Franklin Gothic Medium" panose="020B0603020102020204" pitchFamily="34" charset="0"/>
              </a:rPr>
              <a:t>.</a:t>
            </a:r>
          </a:p>
          <a:p>
            <a:pPr algn="just"/>
            <a:r>
              <a:rPr lang="fr-FR" sz="2400" dirty="0" err="1" smtClean="0">
                <a:solidFill>
                  <a:srgbClr val="002060"/>
                </a:solidFill>
                <a:latin typeface="Franklin Gothic Medium" panose="020B0603020102020204" pitchFamily="34" charset="0"/>
              </a:rPr>
              <a:t>setwd</a:t>
            </a:r>
            <a:r>
              <a:rPr lang="fr-FR" sz="2400" dirty="0">
                <a:solidFill>
                  <a:srgbClr val="002060"/>
                </a:solidFill>
                <a:latin typeface="Franklin Gothic Medium" panose="020B0603020102020204" pitchFamily="34" charset="0"/>
              </a:rPr>
              <a:t>("E:/GADA Solution/site clone/</a:t>
            </a:r>
            <a:r>
              <a:rPr lang="fr-FR" sz="2400" dirty="0" err="1">
                <a:solidFill>
                  <a:srgbClr val="002060"/>
                </a:solidFill>
                <a:latin typeface="Franklin Gothic Medium" panose="020B0603020102020204" pitchFamily="34" charset="0"/>
              </a:rPr>
              <a:t>gada</a:t>
            </a:r>
            <a:r>
              <a:rPr lang="fr-FR" sz="2400" dirty="0">
                <a:solidFill>
                  <a:srgbClr val="002060"/>
                </a:solidFill>
                <a:latin typeface="Franklin Gothic Medium" panose="020B0603020102020204" pitchFamily="34" charset="0"/>
              </a:rPr>
              <a:t>-training/documents</a:t>
            </a:r>
            <a:r>
              <a:rPr lang="fr-FR" sz="2400" dirty="0" smtClean="0">
                <a:solidFill>
                  <a:srgbClr val="002060"/>
                </a:solidFill>
                <a:latin typeface="Franklin Gothic Medium" panose="020B0603020102020204" pitchFamily="34" charset="0"/>
              </a:rPr>
              <a:t>")</a:t>
            </a:r>
          </a:p>
          <a:p>
            <a:pPr algn="just"/>
            <a:r>
              <a:rPr lang="fr-FR" sz="2400" dirty="0" smtClean="0">
                <a:latin typeface="Franklin Gothic Medium" panose="020B0603020102020204" pitchFamily="34" charset="0"/>
              </a:rPr>
              <a:t>Définit </a:t>
            </a:r>
            <a:r>
              <a:rPr lang="fr-FR" sz="2400" dirty="0">
                <a:latin typeface="Franklin Gothic Medium" panose="020B0603020102020204" pitchFamily="34" charset="0"/>
              </a:rPr>
              <a:t>le répertoire de travail.→ C’est le dossier dans lequel R va chercher les fichiers (ex : Excel) et enregistrer les résultats</a:t>
            </a:r>
            <a:r>
              <a:rPr lang="fr-FR" sz="2400" dirty="0" smtClean="0">
                <a:latin typeface="Franklin Gothic Medium" panose="020B0603020102020204" pitchFamily="34" charset="0"/>
              </a:rPr>
              <a:t>.</a:t>
            </a:r>
          </a:p>
          <a:p>
            <a:pPr algn="just"/>
            <a:r>
              <a:rPr lang="fr-FR" sz="2400" dirty="0" err="1" smtClean="0">
                <a:solidFill>
                  <a:srgbClr val="002060"/>
                </a:solidFill>
                <a:latin typeface="Franklin Gothic Medium" panose="020B0603020102020204" pitchFamily="34" charset="0"/>
              </a:rPr>
              <a:t>library</a:t>
            </a:r>
            <a:r>
              <a:rPr lang="fr-FR" sz="2400" dirty="0" smtClean="0">
                <a:solidFill>
                  <a:srgbClr val="002060"/>
                </a:solidFill>
                <a:latin typeface="Franklin Gothic Medium" panose="020B0603020102020204" pitchFamily="34" charset="0"/>
              </a:rPr>
              <a:t>(</a:t>
            </a:r>
            <a:r>
              <a:rPr lang="fr-FR" sz="2400" dirty="0" err="1" smtClean="0">
                <a:solidFill>
                  <a:srgbClr val="002060"/>
                </a:solidFill>
                <a:latin typeface="Franklin Gothic Medium" panose="020B0603020102020204" pitchFamily="34" charset="0"/>
              </a:rPr>
              <a:t>readxl</a:t>
            </a:r>
            <a:r>
              <a:rPr lang="fr-FR" sz="2400" dirty="0" smtClean="0">
                <a:solidFill>
                  <a:srgbClr val="002060"/>
                </a:solidFill>
                <a:latin typeface="Franklin Gothic Medium" panose="020B0603020102020204" pitchFamily="34" charset="0"/>
              </a:rPr>
              <a:t>)</a:t>
            </a:r>
            <a:r>
              <a:rPr lang="fr-FR" sz="2400" dirty="0" smtClean="0">
                <a:latin typeface="Franklin Gothic Medium" panose="020B0603020102020204" pitchFamily="34" charset="0"/>
              </a:rPr>
              <a:t>Charge </a:t>
            </a:r>
            <a:r>
              <a:rPr lang="fr-FR" sz="2400" dirty="0">
                <a:latin typeface="Franklin Gothic Medium" panose="020B0603020102020204" pitchFamily="34" charset="0"/>
              </a:rPr>
              <a:t>la bibliothèque permettant de lire les fichiers Excel (.</a:t>
            </a:r>
            <a:r>
              <a:rPr lang="fr-FR" sz="2400" dirty="0" err="1">
                <a:latin typeface="Franklin Gothic Medium" panose="020B0603020102020204" pitchFamily="34" charset="0"/>
              </a:rPr>
              <a:t>xlsx</a:t>
            </a:r>
            <a:r>
              <a:rPr lang="fr-FR" sz="2400" dirty="0">
                <a:latin typeface="Franklin Gothic Medium" panose="020B0603020102020204" pitchFamily="34" charset="0"/>
              </a:rPr>
              <a:t>) dans R</a:t>
            </a:r>
            <a:r>
              <a:rPr lang="fr-FR" sz="2400" dirty="0" smtClean="0">
                <a:latin typeface="Franklin Gothic Medium" panose="020B0603020102020204" pitchFamily="34" charset="0"/>
              </a:rPr>
              <a:t>.</a:t>
            </a:r>
          </a:p>
          <a:p>
            <a:pPr algn="just"/>
            <a:r>
              <a:rPr lang="fr-FR" sz="2400" dirty="0" err="1" smtClean="0">
                <a:solidFill>
                  <a:srgbClr val="002060"/>
                </a:solidFill>
                <a:latin typeface="Franklin Gothic Medium" panose="020B0603020102020204" pitchFamily="34" charset="0"/>
              </a:rPr>
              <a:t>library</a:t>
            </a:r>
            <a:r>
              <a:rPr lang="fr-FR" sz="2400" dirty="0" smtClean="0">
                <a:solidFill>
                  <a:srgbClr val="002060"/>
                </a:solidFill>
                <a:latin typeface="Franklin Gothic Medium" panose="020B0603020102020204" pitchFamily="34" charset="0"/>
              </a:rPr>
              <a:t>(</a:t>
            </a:r>
            <a:r>
              <a:rPr lang="fr-FR" sz="2400" dirty="0" err="1" smtClean="0">
                <a:solidFill>
                  <a:srgbClr val="002060"/>
                </a:solidFill>
                <a:latin typeface="Franklin Gothic Medium" panose="020B0603020102020204" pitchFamily="34" charset="0"/>
              </a:rPr>
              <a:t>dplyr</a:t>
            </a:r>
            <a:r>
              <a:rPr lang="fr-FR" sz="2400" dirty="0" smtClean="0">
                <a:solidFill>
                  <a:srgbClr val="002060"/>
                </a:solidFill>
                <a:latin typeface="Franklin Gothic Medium" panose="020B0603020102020204" pitchFamily="34" charset="0"/>
              </a:rPr>
              <a:t>)</a:t>
            </a:r>
            <a:r>
              <a:rPr lang="fr-FR" sz="2400" dirty="0" smtClean="0">
                <a:latin typeface="Franklin Gothic Medium" panose="020B0603020102020204" pitchFamily="34" charset="0"/>
              </a:rPr>
              <a:t>Charge </a:t>
            </a:r>
            <a:r>
              <a:rPr lang="fr-FR" sz="2400" dirty="0">
                <a:latin typeface="Franklin Gothic Medium" panose="020B0603020102020204" pitchFamily="34" charset="0"/>
              </a:rPr>
              <a:t>un package dédié à la manipulation des données (filtrage, sélection, transformation</a:t>
            </a:r>
            <a:r>
              <a:rPr lang="fr-FR" sz="2400" dirty="0" smtClean="0">
                <a:latin typeface="Franklin Gothic Medium" panose="020B0603020102020204" pitchFamily="34" charset="0"/>
              </a:rPr>
              <a:t>).</a:t>
            </a:r>
          </a:p>
          <a:p>
            <a:pPr algn="just"/>
            <a:r>
              <a:rPr lang="fr-FR" sz="2400" dirty="0" err="1" smtClean="0">
                <a:solidFill>
                  <a:srgbClr val="002060"/>
                </a:solidFill>
                <a:latin typeface="Franklin Gothic Medium" panose="020B0603020102020204" pitchFamily="34" charset="0"/>
              </a:rPr>
              <a:t>library</a:t>
            </a:r>
            <a:r>
              <a:rPr lang="fr-FR" sz="2400" dirty="0" smtClean="0">
                <a:solidFill>
                  <a:srgbClr val="002060"/>
                </a:solidFill>
                <a:latin typeface="Franklin Gothic Medium" panose="020B0603020102020204" pitchFamily="34" charset="0"/>
              </a:rPr>
              <a:t>(ggplot2)</a:t>
            </a:r>
            <a:r>
              <a:rPr lang="fr-FR" sz="2400" dirty="0" smtClean="0">
                <a:latin typeface="Franklin Gothic Medium" panose="020B0603020102020204" pitchFamily="34" charset="0"/>
              </a:rPr>
              <a:t>Charge </a:t>
            </a:r>
            <a:r>
              <a:rPr lang="fr-FR" sz="2400" dirty="0">
                <a:latin typeface="Franklin Gothic Medium" panose="020B0603020102020204" pitchFamily="34" charset="0"/>
              </a:rPr>
              <a:t>un package utilisé pour la visualisation graphique professionnelle des données.</a:t>
            </a:r>
            <a:endParaRPr lang="fr-FR" sz="2400" dirty="0">
              <a:latin typeface="Franklin Gothic Medium" panose="020B0603020102020204" pitchFamily="34" charset="0"/>
            </a:endParaRPr>
          </a:p>
        </p:txBody>
      </p:sp>
      <p:sp>
        <p:nvSpPr>
          <p:cNvPr id="23" name="Rectangle 22"/>
          <p:cNvSpPr/>
          <p:nvPr/>
        </p:nvSpPr>
        <p:spPr>
          <a:xfrm>
            <a:off x="-1" y="890289"/>
            <a:ext cx="12191999" cy="1447528"/>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0" y="1024945"/>
            <a:ext cx="11286309" cy="1200329"/>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1. Chargement des bibliothèques et importation des </a:t>
            </a:r>
            <a:r>
              <a:rPr lang="fr-FR" sz="2400" dirty="0" err="1">
                <a:solidFill>
                  <a:srgbClr val="C00000"/>
                </a:solidFill>
                <a:latin typeface="Franklin Gothic Medium" panose="020B0603020102020204" pitchFamily="34" charset="0"/>
              </a:rPr>
              <a:t>donnéessetwd</a:t>
            </a:r>
            <a:r>
              <a:rPr lang="fr-FR" sz="2400" dirty="0">
                <a:solidFill>
                  <a:srgbClr val="C00000"/>
                </a:solidFill>
                <a:latin typeface="Franklin Gothic Medium" panose="020B0603020102020204" pitchFamily="34" charset="0"/>
              </a:rPr>
              <a:t>("E:/GADA Solution/site clone/</a:t>
            </a:r>
            <a:r>
              <a:rPr lang="fr-FR" sz="2400" dirty="0" err="1">
                <a:solidFill>
                  <a:srgbClr val="C00000"/>
                </a:solidFill>
                <a:latin typeface="Franklin Gothic Medium" panose="020B0603020102020204" pitchFamily="34" charset="0"/>
              </a:rPr>
              <a:t>gada</a:t>
            </a:r>
            <a:r>
              <a:rPr lang="fr-FR" sz="2400" dirty="0">
                <a:solidFill>
                  <a:srgbClr val="C00000"/>
                </a:solidFill>
                <a:latin typeface="Franklin Gothic Medium" panose="020B0603020102020204" pitchFamily="34" charset="0"/>
              </a:rPr>
              <a:t>-training/documents</a:t>
            </a:r>
            <a:r>
              <a:rPr lang="fr-FR" sz="2400" dirty="0" smtClean="0">
                <a:solidFill>
                  <a:srgbClr val="C00000"/>
                </a:solidFill>
                <a:latin typeface="Franklin Gothic Medium" panose="020B0603020102020204" pitchFamily="34" charset="0"/>
              </a:rPr>
              <a:t>")</a:t>
            </a:r>
          </a:p>
          <a:p>
            <a:r>
              <a:rPr lang="fr-FR" sz="2400" dirty="0" err="1" smtClean="0">
                <a:solidFill>
                  <a:srgbClr val="C00000"/>
                </a:solidFill>
                <a:latin typeface="Franklin Gothic Medium" panose="020B0603020102020204" pitchFamily="34" charset="0"/>
              </a:rPr>
              <a:t>library</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readxl</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library</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dplyr</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library</a:t>
            </a:r>
            <a:r>
              <a:rPr lang="fr-FR" sz="2400" dirty="0" smtClean="0">
                <a:solidFill>
                  <a:srgbClr val="C00000"/>
                </a:solidFill>
                <a:latin typeface="Franklin Gothic Medium" panose="020B0603020102020204" pitchFamily="34" charset="0"/>
              </a:rPr>
              <a:t>(ggplot2</a:t>
            </a:r>
            <a:r>
              <a:rPr lang="fr-FR" sz="2400" dirty="0">
                <a:solidFill>
                  <a:srgbClr val="C00000"/>
                </a:solidFill>
                <a:latin typeface="Franklin Gothic Medium" panose="020B0603020102020204" pitchFamily="34" charset="0"/>
              </a:rPr>
              <a:t>)</a:t>
            </a:r>
            <a:endParaRPr lang="fr-FR" sz="2400"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198296667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37</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1" y="3091066"/>
            <a:ext cx="12191999" cy="3046988"/>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Ce bloc de code permet de charger les données et effectuer une première vérification de leur </a:t>
            </a:r>
            <a:r>
              <a:rPr lang="fr-FR" sz="2400" dirty="0" err="1">
                <a:latin typeface="Franklin Gothic Medium" panose="020B0603020102020204" pitchFamily="34" charset="0"/>
              </a:rPr>
              <a:t>structure.data</a:t>
            </a:r>
            <a:r>
              <a:rPr lang="fr-FR" sz="2400" dirty="0">
                <a:latin typeface="Franklin Gothic Medium" panose="020B0603020102020204" pitchFamily="34" charset="0"/>
              </a:rPr>
              <a:t> </a:t>
            </a:r>
            <a:r>
              <a:rPr lang="fr-FR" sz="2400" dirty="0">
                <a:solidFill>
                  <a:srgbClr val="002060"/>
                </a:solidFill>
                <a:latin typeface="Franklin Gothic Medium" panose="020B0603020102020204" pitchFamily="34" charset="0"/>
              </a:rPr>
              <a:t>&lt;- </a:t>
            </a:r>
            <a:r>
              <a:rPr lang="fr-FR" sz="2400" dirty="0" err="1">
                <a:solidFill>
                  <a:srgbClr val="002060"/>
                </a:solidFill>
                <a:latin typeface="Franklin Gothic Medium" panose="020B0603020102020204" pitchFamily="34" charset="0"/>
              </a:rPr>
              <a:t>read_excel</a:t>
            </a:r>
            <a:r>
              <a:rPr lang="fr-FR" sz="2400" dirty="0">
                <a:solidFill>
                  <a:srgbClr val="002060"/>
                </a:solidFill>
                <a:latin typeface="Franklin Gothic Medium" panose="020B0603020102020204" pitchFamily="34" charset="0"/>
              </a:rPr>
              <a:t>("Donnees_sorgho_Benoit_kajora_complet.xlsx")</a:t>
            </a:r>
            <a:r>
              <a:rPr lang="fr-FR" sz="2400" dirty="0">
                <a:latin typeface="Franklin Gothic Medium" panose="020B0603020102020204" pitchFamily="34" charset="0"/>
              </a:rPr>
              <a:t>Importe le fichier Excel dans R et le stocke dans un objet nommé data.→ Cette étape permet de rendre les données disponibles pour l’analyse</a:t>
            </a:r>
            <a:r>
              <a:rPr lang="fr-FR" sz="2400" dirty="0" smtClean="0">
                <a:latin typeface="Franklin Gothic Medium" panose="020B0603020102020204" pitchFamily="34" charset="0"/>
              </a:rPr>
              <a:t>. </a:t>
            </a:r>
            <a:r>
              <a:rPr lang="fr-FR" sz="2400" dirty="0" err="1" smtClean="0">
                <a:solidFill>
                  <a:srgbClr val="002060"/>
                </a:solidFill>
                <a:latin typeface="Franklin Gothic Medium" panose="020B0603020102020204" pitchFamily="34" charset="0"/>
              </a:rPr>
              <a:t>str</a:t>
            </a:r>
            <a:r>
              <a:rPr lang="fr-FR" sz="2400" dirty="0" smtClean="0">
                <a:solidFill>
                  <a:srgbClr val="002060"/>
                </a:solidFill>
                <a:latin typeface="Franklin Gothic Medium" panose="020B0603020102020204" pitchFamily="34" charset="0"/>
              </a:rPr>
              <a:t>(data)</a:t>
            </a:r>
            <a:r>
              <a:rPr lang="fr-FR" sz="2400" dirty="0" smtClean="0">
                <a:latin typeface="Franklin Gothic Medium" panose="020B0603020102020204" pitchFamily="34" charset="0"/>
              </a:rPr>
              <a:t>Affiche </a:t>
            </a:r>
            <a:r>
              <a:rPr lang="fr-FR" sz="2400" dirty="0">
                <a:latin typeface="Franklin Gothic Medium" panose="020B0603020102020204" pitchFamily="34" charset="0"/>
              </a:rPr>
              <a:t>la structure du jeu de données :→ types de variables (numérique, texte, facteur)→ nombre de lignes et de colonnes→ aperçu des </a:t>
            </a:r>
            <a:r>
              <a:rPr lang="fr-FR" sz="2400" dirty="0" smtClean="0">
                <a:latin typeface="Franklin Gothic Medium" panose="020B0603020102020204" pitchFamily="34" charset="0"/>
              </a:rPr>
              <a:t>variables </a:t>
            </a:r>
            <a:r>
              <a:rPr lang="fr-FR" sz="2400" dirty="0" err="1" smtClean="0">
                <a:solidFill>
                  <a:srgbClr val="002060"/>
                </a:solidFill>
                <a:latin typeface="Franklin Gothic Medium" panose="020B0603020102020204" pitchFamily="34" charset="0"/>
              </a:rPr>
              <a:t>summary</a:t>
            </a:r>
            <a:r>
              <a:rPr lang="fr-FR" sz="2400" dirty="0" smtClean="0">
                <a:solidFill>
                  <a:srgbClr val="002060"/>
                </a:solidFill>
                <a:latin typeface="Franklin Gothic Medium" panose="020B0603020102020204" pitchFamily="34" charset="0"/>
              </a:rPr>
              <a:t>(data) </a:t>
            </a:r>
            <a:r>
              <a:rPr lang="fr-FR" sz="2400" dirty="0" smtClean="0">
                <a:latin typeface="Franklin Gothic Medium" panose="020B0603020102020204" pitchFamily="34" charset="0"/>
              </a:rPr>
              <a:t>Fournit </a:t>
            </a:r>
            <a:r>
              <a:rPr lang="fr-FR" sz="2400" dirty="0">
                <a:latin typeface="Franklin Gothic Medium" panose="020B0603020102020204" pitchFamily="34" charset="0"/>
              </a:rPr>
              <a:t>un résumé statistique rapide :→ minimum, maximum, moyenne, médiane (variables numériques)→ distribution des valeurs (variables qualitatives)</a:t>
            </a:r>
            <a:endParaRPr lang="fr-FR" sz="2400" dirty="0">
              <a:latin typeface="Franklin Gothic Medium" panose="020B0603020102020204" pitchFamily="34" charset="0"/>
            </a:endParaRPr>
          </a:p>
        </p:txBody>
      </p:sp>
      <p:sp>
        <p:nvSpPr>
          <p:cNvPr id="23" name="Rectangle 22"/>
          <p:cNvSpPr/>
          <p:nvPr/>
        </p:nvSpPr>
        <p:spPr>
          <a:xfrm>
            <a:off x="-1" y="890289"/>
            <a:ext cx="12191999" cy="213769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0" y="1003524"/>
            <a:ext cx="12052663" cy="1938992"/>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Importation du fichier </a:t>
            </a:r>
            <a:r>
              <a:rPr lang="fr-FR" sz="2400" dirty="0" smtClean="0">
                <a:solidFill>
                  <a:srgbClr val="C00000"/>
                </a:solidFill>
                <a:latin typeface="Franklin Gothic Medium" panose="020B0603020102020204" pitchFamily="34" charset="0"/>
              </a:rPr>
              <a:t>Excel</a:t>
            </a:r>
          </a:p>
          <a:p>
            <a:r>
              <a:rPr lang="fr-FR" sz="2400" dirty="0" smtClean="0">
                <a:solidFill>
                  <a:srgbClr val="C00000"/>
                </a:solidFill>
                <a:latin typeface="Franklin Gothic Medium" panose="020B0603020102020204" pitchFamily="34" charset="0"/>
              </a:rPr>
              <a:t>data </a:t>
            </a:r>
            <a:r>
              <a:rPr lang="fr-FR" sz="2400" dirty="0">
                <a:solidFill>
                  <a:srgbClr val="C00000"/>
                </a:solidFill>
                <a:latin typeface="Franklin Gothic Medium" panose="020B0603020102020204" pitchFamily="34" charset="0"/>
              </a:rPr>
              <a:t>&lt;- </a:t>
            </a:r>
            <a:r>
              <a:rPr lang="fr-FR" sz="2400" dirty="0" err="1">
                <a:solidFill>
                  <a:srgbClr val="C00000"/>
                </a:solidFill>
                <a:latin typeface="Franklin Gothic Medium" panose="020B0603020102020204" pitchFamily="34" charset="0"/>
              </a:rPr>
              <a:t>read_excel</a:t>
            </a:r>
            <a:r>
              <a:rPr lang="fr-FR" sz="2400" dirty="0">
                <a:solidFill>
                  <a:srgbClr val="C00000"/>
                </a:solidFill>
                <a:latin typeface="Franklin Gothic Medium" panose="020B0603020102020204" pitchFamily="34" charset="0"/>
              </a:rPr>
              <a:t>("Donnees_sorgho_Benoit_kajora_complet.xlsx</a:t>
            </a:r>
            <a:r>
              <a:rPr lang="fr-FR" sz="2400" dirty="0" smtClean="0">
                <a:solidFill>
                  <a:srgbClr val="C00000"/>
                </a:solidFill>
                <a:latin typeface="Franklin Gothic Medium" panose="020B0603020102020204" pitchFamily="34" charset="0"/>
              </a:rPr>
              <a:t>")</a:t>
            </a:r>
          </a:p>
          <a:p>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Vérification de la structure des </a:t>
            </a:r>
            <a:r>
              <a:rPr lang="fr-FR" sz="2400" dirty="0" smtClean="0">
                <a:solidFill>
                  <a:srgbClr val="C00000"/>
                </a:solidFill>
                <a:latin typeface="Franklin Gothic Medium" panose="020B0603020102020204" pitchFamily="34" charset="0"/>
              </a:rPr>
              <a:t>données</a:t>
            </a:r>
          </a:p>
          <a:p>
            <a:r>
              <a:rPr lang="fr-FR" sz="2400" dirty="0" err="1" smtClean="0">
                <a:solidFill>
                  <a:srgbClr val="C00000"/>
                </a:solidFill>
                <a:latin typeface="Franklin Gothic Medium" panose="020B0603020102020204" pitchFamily="34" charset="0"/>
              </a:rPr>
              <a:t>str</a:t>
            </a:r>
            <a:r>
              <a:rPr lang="fr-FR" sz="2400" dirty="0" smtClean="0">
                <a:solidFill>
                  <a:srgbClr val="C00000"/>
                </a:solidFill>
                <a:latin typeface="Franklin Gothic Medium" panose="020B0603020102020204" pitchFamily="34" charset="0"/>
              </a:rPr>
              <a:t>(data)</a:t>
            </a:r>
          </a:p>
          <a:p>
            <a:r>
              <a:rPr lang="fr-FR" sz="2400" dirty="0" err="1" smtClean="0">
                <a:solidFill>
                  <a:srgbClr val="C00000"/>
                </a:solidFill>
                <a:latin typeface="Franklin Gothic Medium" panose="020B0603020102020204" pitchFamily="34" charset="0"/>
              </a:rPr>
              <a:t>summary</a:t>
            </a:r>
            <a:r>
              <a:rPr lang="fr-FR" sz="2400" dirty="0" smtClean="0">
                <a:solidFill>
                  <a:srgbClr val="C00000"/>
                </a:solidFill>
                <a:latin typeface="Franklin Gothic Medium" panose="020B0603020102020204" pitchFamily="34" charset="0"/>
              </a:rPr>
              <a:t>(data</a:t>
            </a:r>
            <a:r>
              <a:rPr lang="fr-FR" sz="2400" dirty="0">
                <a:solidFill>
                  <a:srgbClr val="C00000"/>
                </a:solidFill>
                <a:latin typeface="Franklin Gothic Medium" panose="020B0603020102020204" pitchFamily="34" charset="0"/>
              </a:rPr>
              <a:t>)</a:t>
            </a:r>
            <a:endParaRPr lang="fr-FR" sz="2400"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18213002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38</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pic>
        <p:nvPicPr>
          <p:cNvPr id="2" name="Image 1"/>
          <p:cNvPicPr>
            <a:picLocks noChangeAspect="1"/>
          </p:cNvPicPr>
          <p:nvPr/>
        </p:nvPicPr>
        <p:blipFill>
          <a:blip r:embed="rId2"/>
          <a:stretch>
            <a:fillRect/>
          </a:stretch>
        </p:blipFill>
        <p:spPr>
          <a:xfrm>
            <a:off x="251379" y="1181670"/>
            <a:ext cx="8983329" cy="2734057"/>
          </a:xfrm>
          <a:prstGeom prst="rect">
            <a:avLst/>
          </a:prstGeom>
        </p:spPr>
      </p:pic>
      <p:pic>
        <p:nvPicPr>
          <p:cNvPr id="11" name="Image 10"/>
          <p:cNvPicPr>
            <a:picLocks noChangeAspect="1"/>
          </p:cNvPicPr>
          <p:nvPr/>
        </p:nvPicPr>
        <p:blipFill>
          <a:blip r:embed="rId3"/>
          <a:stretch>
            <a:fillRect/>
          </a:stretch>
        </p:blipFill>
        <p:spPr>
          <a:xfrm>
            <a:off x="222800" y="4058672"/>
            <a:ext cx="9011908" cy="952633"/>
          </a:xfrm>
          <a:prstGeom prst="rect">
            <a:avLst/>
          </a:prstGeom>
        </p:spPr>
      </p:pic>
    </p:spTree>
    <p:extLst>
      <p:ext uri="{BB962C8B-B14F-4D97-AF65-F5344CB8AC3E}">
        <p14:creationId xmlns:p14="http://schemas.microsoft.com/office/powerpoint/2010/main" val="36557213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39</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pic>
        <p:nvPicPr>
          <p:cNvPr id="12" name="Image 11"/>
          <p:cNvPicPr>
            <a:picLocks noChangeAspect="1"/>
          </p:cNvPicPr>
          <p:nvPr/>
        </p:nvPicPr>
        <p:blipFill>
          <a:blip r:embed="rId2"/>
          <a:stretch>
            <a:fillRect/>
          </a:stretch>
        </p:blipFill>
        <p:spPr>
          <a:xfrm>
            <a:off x="163417" y="1052857"/>
            <a:ext cx="7859222" cy="2838846"/>
          </a:xfrm>
          <a:prstGeom prst="rect">
            <a:avLst/>
          </a:prstGeom>
        </p:spPr>
      </p:pic>
    </p:spTree>
    <p:extLst>
      <p:ext uri="{BB962C8B-B14F-4D97-AF65-F5344CB8AC3E}">
        <p14:creationId xmlns:p14="http://schemas.microsoft.com/office/powerpoint/2010/main" val="322755746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40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23" name="Rectangle 22"/>
          <p:cNvSpPr/>
          <p:nvPr/>
        </p:nvSpPr>
        <p:spPr>
          <a:xfrm>
            <a:off x="-1" y="890288"/>
            <a:ext cx="12191999" cy="532550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69666" y="953369"/>
            <a:ext cx="12052663" cy="4893647"/>
          </a:xfrm>
          <a:prstGeom prst="rect">
            <a:avLst/>
          </a:prstGeom>
          <a:noFill/>
        </p:spPr>
        <p:txBody>
          <a:bodyPr wrap="square" rtlCol="0">
            <a:spAutoFit/>
          </a:bodyPr>
          <a:lstStyle/>
          <a:p>
            <a:r>
              <a:rPr lang="fr-FR" sz="2400" dirty="0" smtClean="0">
                <a:solidFill>
                  <a:srgbClr val="C00000"/>
                </a:solidFill>
                <a:latin typeface="Franklin Gothic Medium" panose="020B0603020102020204" pitchFamily="34" charset="0"/>
              </a:rPr>
              <a:t># 2. Nettoyage des données# </a:t>
            </a:r>
          </a:p>
          <a:p>
            <a:r>
              <a:rPr lang="fr-FR" sz="2400" dirty="0" smtClean="0">
                <a:solidFill>
                  <a:srgbClr val="C00000"/>
                </a:solidFill>
                <a:latin typeface="Franklin Gothic Medium" panose="020B0603020102020204" pitchFamily="34" charset="0"/>
              </a:rPr>
              <a:t>2.1 Identification des valeurs manquantes</a:t>
            </a:r>
          </a:p>
          <a:p>
            <a:r>
              <a:rPr lang="fr-FR" sz="2400" dirty="0" err="1" smtClean="0">
                <a:solidFill>
                  <a:srgbClr val="C00000"/>
                </a:solidFill>
                <a:latin typeface="Franklin Gothic Medium" panose="020B0603020102020204" pitchFamily="34" charset="0"/>
              </a:rPr>
              <a:t>colSums</a:t>
            </a:r>
            <a:r>
              <a:rPr lang="fr-FR" sz="2400" dirty="0" smtClean="0">
                <a:solidFill>
                  <a:srgbClr val="C00000"/>
                </a:solidFill>
                <a:latin typeface="Franklin Gothic Medium" panose="020B0603020102020204" pitchFamily="34" charset="0"/>
              </a:rPr>
              <a:t>(is.na(data))</a:t>
            </a:r>
          </a:p>
          <a:p>
            <a:r>
              <a:rPr lang="fr-FR" sz="2400" dirty="0" smtClean="0">
                <a:solidFill>
                  <a:srgbClr val="C00000"/>
                </a:solidFill>
                <a:latin typeface="Franklin Gothic Medium" panose="020B0603020102020204" pitchFamily="34" charset="0"/>
              </a:rPr>
              <a:t># Suppression des lignes contenant des valeurs manquantes</a:t>
            </a:r>
          </a:p>
          <a:p>
            <a:r>
              <a:rPr lang="fr-FR" sz="2400" dirty="0" err="1" smtClean="0">
                <a:solidFill>
                  <a:srgbClr val="C00000"/>
                </a:solidFill>
                <a:latin typeface="Franklin Gothic Medium" panose="020B0603020102020204" pitchFamily="34" charset="0"/>
              </a:rPr>
              <a:t>data_clean</a:t>
            </a:r>
            <a:r>
              <a:rPr lang="fr-FR" sz="2400" dirty="0" smtClean="0">
                <a:solidFill>
                  <a:srgbClr val="C00000"/>
                </a:solidFill>
                <a:latin typeface="Franklin Gothic Medium" panose="020B0603020102020204" pitchFamily="34" charset="0"/>
              </a:rPr>
              <a:t> &lt;- </a:t>
            </a:r>
            <a:r>
              <a:rPr lang="fr-FR" sz="2400" dirty="0" err="1" smtClean="0">
                <a:solidFill>
                  <a:srgbClr val="C00000"/>
                </a:solidFill>
                <a:latin typeface="Franklin Gothic Medium" panose="020B0603020102020204" pitchFamily="34" charset="0"/>
              </a:rPr>
              <a:t>na.omit</a:t>
            </a:r>
            <a:r>
              <a:rPr lang="fr-FR" sz="2400" dirty="0" smtClean="0">
                <a:solidFill>
                  <a:srgbClr val="C00000"/>
                </a:solidFill>
                <a:latin typeface="Franklin Gothic Medium" panose="020B0603020102020204" pitchFamily="34" charset="0"/>
              </a:rPr>
              <a:t>(data)</a:t>
            </a:r>
          </a:p>
          <a:p>
            <a:r>
              <a:rPr lang="fr-FR" sz="2400" dirty="0" smtClean="0">
                <a:solidFill>
                  <a:srgbClr val="C00000"/>
                </a:solidFill>
                <a:latin typeface="Franklin Gothic Medium" panose="020B0603020102020204" pitchFamily="34" charset="0"/>
              </a:rPr>
              <a:t># 2.2 Détection des valeurs aberrantes (exemple avec Hauteur)</a:t>
            </a:r>
          </a:p>
          <a:p>
            <a:r>
              <a:rPr lang="fr-FR" sz="2400" dirty="0" smtClean="0">
                <a:solidFill>
                  <a:srgbClr val="C00000"/>
                </a:solidFill>
                <a:latin typeface="Franklin Gothic Medium" panose="020B0603020102020204" pitchFamily="34" charset="0"/>
              </a:rPr>
              <a:t>Q1 &lt;- quantile(</a:t>
            </a:r>
            <a:r>
              <a:rPr lang="fr-FR" sz="2400" dirty="0" err="1" smtClean="0">
                <a:solidFill>
                  <a:srgbClr val="C00000"/>
                </a:solidFill>
                <a:latin typeface="Franklin Gothic Medium" panose="020B0603020102020204" pitchFamily="34" charset="0"/>
              </a:rPr>
              <a:t>data_clean$Hauteur</a:t>
            </a:r>
            <a:r>
              <a:rPr lang="fr-FR" sz="2400" dirty="0" smtClean="0">
                <a:solidFill>
                  <a:srgbClr val="C00000"/>
                </a:solidFill>
                <a:latin typeface="Franklin Gothic Medium" panose="020B0603020102020204" pitchFamily="34" charset="0"/>
              </a:rPr>
              <a:t>, 0.25)</a:t>
            </a:r>
          </a:p>
          <a:p>
            <a:r>
              <a:rPr lang="fr-FR" sz="2400" dirty="0" smtClean="0">
                <a:solidFill>
                  <a:srgbClr val="C00000"/>
                </a:solidFill>
                <a:latin typeface="Franklin Gothic Medium" panose="020B0603020102020204" pitchFamily="34" charset="0"/>
              </a:rPr>
              <a:t>Q3 &lt;- quantile(</a:t>
            </a:r>
            <a:r>
              <a:rPr lang="fr-FR" sz="2400" dirty="0" err="1" smtClean="0">
                <a:solidFill>
                  <a:srgbClr val="C00000"/>
                </a:solidFill>
                <a:latin typeface="Franklin Gothic Medium" panose="020B0603020102020204" pitchFamily="34" charset="0"/>
              </a:rPr>
              <a:t>data_clean$Hauteur</a:t>
            </a:r>
            <a:r>
              <a:rPr lang="fr-FR" sz="2400" dirty="0" smtClean="0">
                <a:solidFill>
                  <a:srgbClr val="C00000"/>
                </a:solidFill>
                <a:latin typeface="Franklin Gothic Medium" panose="020B0603020102020204" pitchFamily="34" charset="0"/>
              </a:rPr>
              <a:t>, 0.75)</a:t>
            </a:r>
          </a:p>
          <a:p>
            <a:r>
              <a:rPr lang="fr-FR" sz="2400" dirty="0" err="1" smtClean="0">
                <a:solidFill>
                  <a:srgbClr val="C00000"/>
                </a:solidFill>
                <a:latin typeface="Franklin Gothic Medium" panose="020B0603020102020204" pitchFamily="34" charset="0"/>
              </a:rPr>
              <a:t>IQR_val</a:t>
            </a:r>
            <a:r>
              <a:rPr lang="fr-FR" sz="2400" dirty="0" smtClean="0">
                <a:solidFill>
                  <a:srgbClr val="C00000"/>
                </a:solidFill>
                <a:latin typeface="Franklin Gothic Medium" panose="020B0603020102020204" pitchFamily="34" charset="0"/>
              </a:rPr>
              <a:t> &lt;- Q3 - Q1</a:t>
            </a:r>
          </a:p>
          <a:p>
            <a:r>
              <a:rPr lang="fr-FR" sz="2400" dirty="0" smtClean="0">
                <a:solidFill>
                  <a:srgbClr val="C00000"/>
                </a:solidFill>
                <a:latin typeface="Franklin Gothic Medium" panose="020B0603020102020204" pitchFamily="34" charset="0"/>
              </a:rPr>
              <a:t># Filtrage des valeurs aberrantes</a:t>
            </a:r>
          </a:p>
          <a:p>
            <a:r>
              <a:rPr lang="fr-FR" sz="2400" dirty="0" err="1" smtClean="0">
                <a:solidFill>
                  <a:srgbClr val="C00000"/>
                </a:solidFill>
                <a:latin typeface="Franklin Gothic Medium" panose="020B0603020102020204" pitchFamily="34" charset="0"/>
              </a:rPr>
              <a:t>data_clean</a:t>
            </a:r>
            <a:r>
              <a:rPr lang="fr-FR" sz="2400" dirty="0" smtClean="0">
                <a:solidFill>
                  <a:srgbClr val="C00000"/>
                </a:solidFill>
                <a:latin typeface="Franklin Gothic Medium" panose="020B0603020102020204" pitchFamily="34" charset="0"/>
              </a:rPr>
              <a:t> &lt;- </a:t>
            </a:r>
            <a:r>
              <a:rPr lang="fr-FR" sz="2400" dirty="0" err="1" smtClean="0">
                <a:solidFill>
                  <a:srgbClr val="C00000"/>
                </a:solidFill>
                <a:latin typeface="Franklin Gothic Medium" panose="020B0603020102020204" pitchFamily="34" charset="0"/>
              </a:rPr>
              <a:t>data_clean</a:t>
            </a:r>
            <a:r>
              <a:rPr lang="fr-FR" sz="2400" dirty="0" smtClean="0">
                <a:solidFill>
                  <a:srgbClr val="C00000"/>
                </a:solidFill>
                <a:latin typeface="Franklin Gothic Medium" panose="020B0603020102020204" pitchFamily="34" charset="0"/>
              </a:rPr>
              <a:t> %&gt;%  </a:t>
            </a:r>
          </a:p>
          <a:p>
            <a:r>
              <a:rPr lang="fr-FR" sz="2400" dirty="0">
                <a:solidFill>
                  <a:srgbClr val="C00000"/>
                </a:solidFill>
                <a:latin typeface="Franklin Gothic Medium" panose="020B0603020102020204" pitchFamily="34" charset="0"/>
              </a:rPr>
              <a:t> </a:t>
            </a:r>
            <a:r>
              <a:rPr lang="fr-FR" sz="2400" dirty="0" smtClean="0">
                <a:solidFill>
                  <a:srgbClr val="C00000"/>
                </a:solidFill>
                <a:latin typeface="Franklin Gothic Medium" panose="020B0603020102020204" pitchFamily="34" charset="0"/>
              </a:rPr>
              <a:t>      </a:t>
            </a:r>
            <a:r>
              <a:rPr lang="fr-FR" sz="2400" dirty="0" err="1" smtClean="0">
                <a:solidFill>
                  <a:srgbClr val="C00000"/>
                </a:solidFill>
                <a:latin typeface="Franklin Gothic Medium" panose="020B0603020102020204" pitchFamily="34" charset="0"/>
              </a:rPr>
              <a:t>filter</a:t>
            </a:r>
            <a:r>
              <a:rPr lang="fr-FR" sz="2400" dirty="0" smtClean="0">
                <a:solidFill>
                  <a:srgbClr val="C00000"/>
                </a:solidFill>
                <a:latin typeface="Franklin Gothic Medium" panose="020B0603020102020204" pitchFamily="34" charset="0"/>
              </a:rPr>
              <a:t>(Hauteur &gt;= (Q1 - 1.5 * </a:t>
            </a:r>
            <a:r>
              <a:rPr lang="fr-FR" sz="2400" dirty="0" err="1" smtClean="0">
                <a:solidFill>
                  <a:srgbClr val="C00000"/>
                </a:solidFill>
                <a:latin typeface="Franklin Gothic Medium" panose="020B0603020102020204" pitchFamily="34" charset="0"/>
              </a:rPr>
              <a:t>IQR_val</a:t>
            </a:r>
            <a:r>
              <a:rPr lang="fr-FR" sz="2400" dirty="0" smtClean="0">
                <a:solidFill>
                  <a:srgbClr val="C00000"/>
                </a:solidFill>
                <a:latin typeface="Franklin Gothic Medium" panose="020B0603020102020204" pitchFamily="34" charset="0"/>
              </a:rPr>
              <a:t>) &amp;           </a:t>
            </a:r>
          </a:p>
          <a:p>
            <a:r>
              <a:rPr lang="fr-FR" sz="2400" dirty="0">
                <a:solidFill>
                  <a:srgbClr val="C00000"/>
                </a:solidFill>
                <a:latin typeface="Franklin Gothic Medium" panose="020B0603020102020204" pitchFamily="34" charset="0"/>
              </a:rPr>
              <a:t> </a:t>
            </a:r>
            <a:r>
              <a:rPr lang="fr-FR" sz="2400" dirty="0" smtClean="0">
                <a:solidFill>
                  <a:srgbClr val="C00000"/>
                </a:solidFill>
                <a:latin typeface="Franklin Gothic Medium" panose="020B0603020102020204" pitchFamily="34" charset="0"/>
              </a:rPr>
              <a:t>                  Hauteur &lt;= (Q3 + 1.5 * </a:t>
            </a:r>
            <a:r>
              <a:rPr lang="fr-FR" sz="2400" dirty="0" err="1" smtClean="0">
                <a:solidFill>
                  <a:srgbClr val="C00000"/>
                </a:solidFill>
                <a:latin typeface="Franklin Gothic Medium" panose="020B0603020102020204" pitchFamily="34" charset="0"/>
              </a:rPr>
              <a:t>IQR_val</a:t>
            </a:r>
            <a:r>
              <a:rPr lang="fr-FR" sz="2400" dirty="0" smtClean="0">
                <a:solidFill>
                  <a:srgbClr val="C00000"/>
                </a:solidFill>
                <a:latin typeface="Franklin Gothic Medium" panose="020B0603020102020204" pitchFamily="34" charset="0"/>
              </a:rPr>
              <a:t>))</a:t>
            </a:r>
            <a:endParaRPr lang="fr-FR" sz="2400"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207860312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41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3" name="ZoneTexte 12"/>
          <p:cNvSpPr txBox="1"/>
          <p:nvPr/>
        </p:nvSpPr>
        <p:spPr>
          <a:xfrm>
            <a:off x="-1" y="953369"/>
            <a:ext cx="12191999" cy="5262979"/>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Cette étape vise à améliorer la qualité des données en supprimant les erreurs et incohérences avant l’analyse</a:t>
            </a:r>
            <a:r>
              <a:rPr lang="fr-FR" sz="2400" dirty="0" smtClean="0">
                <a:latin typeface="Franklin Gothic Medium" panose="020B0603020102020204" pitchFamily="34" charset="0"/>
              </a:rPr>
              <a:t>.</a:t>
            </a:r>
          </a:p>
          <a:p>
            <a:pPr marL="457200" indent="-457200" algn="just">
              <a:buAutoNum type="arabicPeriod"/>
            </a:pPr>
            <a:r>
              <a:rPr lang="fr-FR" sz="2400" dirty="0" smtClean="0">
                <a:latin typeface="Franklin Gothic Medium" panose="020B0603020102020204" pitchFamily="34" charset="0"/>
              </a:rPr>
              <a:t>Identification </a:t>
            </a:r>
            <a:r>
              <a:rPr lang="fr-FR" sz="2400" dirty="0">
                <a:latin typeface="Franklin Gothic Medium" panose="020B0603020102020204" pitchFamily="34" charset="0"/>
              </a:rPr>
              <a:t>des valeurs </a:t>
            </a:r>
            <a:r>
              <a:rPr lang="fr-FR" sz="2400" dirty="0" smtClean="0">
                <a:latin typeface="Franklin Gothic Medium" panose="020B0603020102020204" pitchFamily="34" charset="0"/>
              </a:rPr>
              <a:t>manquantes </a:t>
            </a:r>
            <a:r>
              <a:rPr lang="fr-FR" sz="2400" dirty="0" err="1" smtClean="0">
                <a:solidFill>
                  <a:srgbClr val="002060"/>
                </a:solidFill>
                <a:latin typeface="Franklin Gothic Medium" panose="020B0603020102020204" pitchFamily="34" charset="0"/>
              </a:rPr>
              <a:t>colSums</a:t>
            </a:r>
            <a:r>
              <a:rPr lang="fr-FR" sz="2400" dirty="0" smtClean="0">
                <a:solidFill>
                  <a:srgbClr val="002060"/>
                </a:solidFill>
                <a:latin typeface="Franklin Gothic Medium" panose="020B0603020102020204" pitchFamily="34" charset="0"/>
              </a:rPr>
              <a:t>(is.na(data)) </a:t>
            </a:r>
            <a:r>
              <a:rPr lang="fr-FR" sz="2400" dirty="0" smtClean="0">
                <a:latin typeface="Franklin Gothic Medium" panose="020B0603020102020204" pitchFamily="34" charset="0"/>
              </a:rPr>
              <a:t>Permet </a:t>
            </a:r>
            <a:r>
              <a:rPr lang="fr-FR" sz="2400" dirty="0">
                <a:latin typeface="Franklin Gothic Medium" panose="020B0603020102020204" pitchFamily="34" charset="0"/>
              </a:rPr>
              <a:t>de compter le nombre de valeurs manquantes (NA) dans chaque colonne.→ Utile pour identifier les variables </a:t>
            </a:r>
            <a:r>
              <a:rPr lang="fr-FR" sz="2400" dirty="0" smtClean="0">
                <a:latin typeface="Franklin Gothic Medium" panose="020B0603020102020204" pitchFamily="34" charset="0"/>
              </a:rPr>
              <a:t>problématiques</a:t>
            </a:r>
          </a:p>
          <a:p>
            <a:pPr marL="457200" indent="-457200" algn="just">
              <a:buAutoNum type="arabicPeriod"/>
            </a:pPr>
            <a:r>
              <a:rPr lang="fr-FR" sz="2400" dirty="0" smtClean="0">
                <a:latin typeface="Franklin Gothic Medium" panose="020B0603020102020204" pitchFamily="34" charset="0"/>
              </a:rPr>
              <a:t>Suppression </a:t>
            </a:r>
            <a:r>
              <a:rPr lang="fr-FR" sz="2400" dirty="0">
                <a:latin typeface="Franklin Gothic Medium" panose="020B0603020102020204" pitchFamily="34" charset="0"/>
              </a:rPr>
              <a:t>des valeurs </a:t>
            </a:r>
            <a:r>
              <a:rPr lang="fr-FR" sz="2400" dirty="0" smtClean="0">
                <a:latin typeface="Franklin Gothic Medium" panose="020B0603020102020204" pitchFamily="34" charset="0"/>
              </a:rPr>
              <a:t>manquantes </a:t>
            </a:r>
            <a:r>
              <a:rPr lang="fr-FR" sz="2400" dirty="0" err="1" smtClean="0">
                <a:solidFill>
                  <a:srgbClr val="002060"/>
                </a:solidFill>
                <a:latin typeface="Franklin Gothic Medium" panose="020B0603020102020204" pitchFamily="34" charset="0"/>
              </a:rPr>
              <a:t>data_clean</a:t>
            </a:r>
            <a:r>
              <a:rPr lang="fr-FR" sz="2400" dirty="0" smtClean="0">
                <a:solidFill>
                  <a:srgbClr val="002060"/>
                </a:solidFill>
                <a:latin typeface="Franklin Gothic Medium" panose="020B0603020102020204" pitchFamily="34" charset="0"/>
              </a:rPr>
              <a:t> </a:t>
            </a:r>
            <a:r>
              <a:rPr lang="fr-FR" sz="2400" dirty="0">
                <a:solidFill>
                  <a:srgbClr val="002060"/>
                </a:solidFill>
                <a:latin typeface="Franklin Gothic Medium" panose="020B0603020102020204" pitchFamily="34" charset="0"/>
              </a:rPr>
              <a:t>&lt;- </a:t>
            </a:r>
            <a:r>
              <a:rPr lang="fr-FR" sz="2400" dirty="0" err="1">
                <a:solidFill>
                  <a:srgbClr val="002060"/>
                </a:solidFill>
                <a:latin typeface="Franklin Gothic Medium" panose="020B0603020102020204" pitchFamily="34" charset="0"/>
              </a:rPr>
              <a:t>na.omit</a:t>
            </a:r>
            <a:r>
              <a:rPr lang="fr-FR" sz="2400" dirty="0">
                <a:solidFill>
                  <a:srgbClr val="002060"/>
                </a:solidFill>
                <a:latin typeface="Franklin Gothic Medium" panose="020B0603020102020204" pitchFamily="34" charset="0"/>
              </a:rPr>
              <a:t>(data</a:t>
            </a:r>
            <a:r>
              <a:rPr lang="fr-FR" sz="2400" dirty="0" smtClean="0">
                <a:solidFill>
                  <a:srgbClr val="002060"/>
                </a:solidFill>
                <a:latin typeface="Franklin Gothic Medium" panose="020B0603020102020204" pitchFamily="34" charset="0"/>
              </a:rPr>
              <a:t>) </a:t>
            </a:r>
            <a:r>
              <a:rPr lang="fr-FR" sz="2400" dirty="0" smtClean="0">
                <a:latin typeface="Franklin Gothic Medium" panose="020B0603020102020204" pitchFamily="34" charset="0"/>
              </a:rPr>
              <a:t>Supprime </a:t>
            </a:r>
            <a:r>
              <a:rPr lang="fr-FR" sz="2400" dirty="0">
                <a:latin typeface="Franklin Gothic Medium" panose="020B0603020102020204" pitchFamily="34" charset="0"/>
              </a:rPr>
              <a:t>toutes les lignes contenant au moins une valeur manquante.→ On obtient un jeu de données propre </a:t>
            </a:r>
            <a:r>
              <a:rPr lang="fr-FR" sz="2400" dirty="0">
                <a:solidFill>
                  <a:srgbClr val="002060"/>
                </a:solidFill>
                <a:latin typeface="Franklin Gothic Medium" panose="020B0603020102020204" pitchFamily="34" charset="0"/>
              </a:rPr>
              <a:t>(</a:t>
            </a:r>
            <a:r>
              <a:rPr lang="fr-FR" sz="2400" dirty="0" err="1">
                <a:solidFill>
                  <a:srgbClr val="002060"/>
                </a:solidFill>
                <a:latin typeface="Franklin Gothic Medium" panose="020B0603020102020204" pitchFamily="34" charset="0"/>
              </a:rPr>
              <a:t>data_clean</a:t>
            </a:r>
            <a:r>
              <a:rPr lang="fr-FR" sz="2400" dirty="0">
                <a:solidFill>
                  <a:srgbClr val="002060"/>
                </a:solidFill>
                <a:latin typeface="Franklin Gothic Medium" panose="020B0603020102020204" pitchFamily="34" charset="0"/>
              </a:rPr>
              <a:t>) </a:t>
            </a:r>
            <a:r>
              <a:rPr lang="fr-FR" sz="2400" dirty="0">
                <a:latin typeface="Franklin Gothic Medium" panose="020B0603020102020204" pitchFamily="34" charset="0"/>
              </a:rPr>
              <a:t>prêt pour </a:t>
            </a:r>
            <a:r>
              <a:rPr lang="fr-FR" sz="2400" dirty="0" smtClean="0">
                <a:latin typeface="Franklin Gothic Medium" panose="020B0603020102020204" pitchFamily="34" charset="0"/>
              </a:rPr>
              <a:t>l’analyse.</a:t>
            </a:r>
          </a:p>
          <a:p>
            <a:pPr marL="457200" indent="-457200" algn="just">
              <a:buAutoNum type="arabicPeriod"/>
            </a:pPr>
            <a:r>
              <a:rPr lang="fr-FR" sz="2400" dirty="0" smtClean="0">
                <a:latin typeface="Franklin Gothic Medium" panose="020B0603020102020204" pitchFamily="34" charset="0"/>
              </a:rPr>
              <a:t>Détection </a:t>
            </a:r>
            <a:r>
              <a:rPr lang="fr-FR" sz="2400" dirty="0">
                <a:latin typeface="Franklin Gothic Medium" panose="020B0603020102020204" pitchFamily="34" charset="0"/>
              </a:rPr>
              <a:t>des valeurs aberrantes </a:t>
            </a:r>
            <a:r>
              <a:rPr lang="fr-FR" sz="2400" dirty="0" smtClean="0">
                <a:solidFill>
                  <a:srgbClr val="002060"/>
                </a:solidFill>
                <a:latin typeface="Franklin Gothic Medium" panose="020B0603020102020204" pitchFamily="34" charset="0"/>
              </a:rPr>
              <a:t>(</a:t>
            </a:r>
            <a:r>
              <a:rPr lang="fr-FR" sz="2400" dirty="0" err="1" smtClean="0">
                <a:solidFill>
                  <a:srgbClr val="002060"/>
                </a:solidFill>
                <a:latin typeface="Franklin Gothic Medium" panose="020B0603020102020204" pitchFamily="34" charset="0"/>
              </a:rPr>
              <a:t>Outliers</a:t>
            </a:r>
            <a:r>
              <a:rPr lang="fr-FR" sz="2400" dirty="0" smtClean="0">
                <a:solidFill>
                  <a:srgbClr val="002060"/>
                </a:solidFill>
                <a:latin typeface="Franklin Gothic Medium" panose="020B0603020102020204" pitchFamily="34" charset="0"/>
              </a:rPr>
              <a:t>)Q1 &lt;- quantile(</a:t>
            </a:r>
            <a:r>
              <a:rPr lang="fr-FR" sz="2400" dirty="0" err="1" smtClean="0">
                <a:solidFill>
                  <a:srgbClr val="002060"/>
                </a:solidFill>
                <a:latin typeface="Franklin Gothic Medium" panose="020B0603020102020204" pitchFamily="34" charset="0"/>
              </a:rPr>
              <a:t>data_clean$Hauteur</a:t>
            </a:r>
            <a:r>
              <a:rPr lang="fr-FR" sz="2400" dirty="0" smtClean="0">
                <a:solidFill>
                  <a:srgbClr val="002060"/>
                </a:solidFill>
                <a:latin typeface="Franklin Gothic Medium" panose="020B0603020102020204" pitchFamily="34" charset="0"/>
              </a:rPr>
              <a:t>, 0.25) </a:t>
            </a:r>
            <a:r>
              <a:rPr lang="fr-FR" sz="2400" dirty="0" smtClean="0">
                <a:latin typeface="Franklin Gothic Medium" panose="020B0603020102020204" pitchFamily="34" charset="0"/>
              </a:rPr>
              <a:t>Calcule </a:t>
            </a:r>
            <a:r>
              <a:rPr lang="fr-FR" sz="2400" dirty="0">
                <a:latin typeface="Franklin Gothic Medium" panose="020B0603020102020204" pitchFamily="34" charset="0"/>
              </a:rPr>
              <a:t>le premier quartile (25</a:t>
            </a:r>
            <a:r>
              <a:rPr lang="fr-FR" sz="2400" dirty="0" smtClean="0">
                <a:latin typeface="Franklin Gothic Medium" panose="020B0603020102020204" pitchFamily="34" charset="0"/>
              </a:rPr>
              <a:t>%) </a:t>
            </a:r>
            <a:r>
              <a:rPr lang="fr-FR" sz="2400" dirty="0" smtClean="0">
                <a:solidFill>
                  <a:srgbClr val="002060"/>
                </a:solidFill>
                <a:latin typeface="Franklin Gothic Medium" panose="020B0603020102020204" pitchFamily="34" charset="0"/>
              </a:rPr>
              <a:t>Q3 </a:t>
            </a:r>
            <a:r>
              <a:rPr lang="fr-FR" sz="2400" dirty="0">
                <a:solidFill>
                  <a:srgbClr val="002060"/>
                </a:solidFill>
                <a:latin typeface="Franklin Gothic Medium" panose="020B0603020102020204" pitchFamily="34" charset="0"/>
              </a:rPr>
              <a:t>&lt;- quantile(</a:t>
            </a:r>
            <a:r>
              <a:rPr lang="fr-FR" sz="2400" dirty="0" err="1">
                <a:solidFill>
                  <a:srgbClr val="002060"/>
                </a:solidFill>
                <a:latin typeface="Franklin Gothic Medium" panose="020B0603020102020204" pitchFamily="34" charset="0"/>
              </a:rPr>
              <a:t>data_clean$Hauteur</a:t>
            </a:r>
            <a:r>
              <a:rPr lang="fr-FR" sz="2400" dirty="0">
                <a:solidFill>
                  <a:srgbClr val="002060"/>
                </a:solidFill>
                <a:latin typeface="Franklin Gothic Medium" panose="020B0603020102020204" pitchFamily="34" charset="0"/>
              </a:rPr>
              <a:t>, 0.75</a:t>
            </a:r>
            <a:r>
              <a:rPr lang="fr-FR" sz="2400" dirty="0" smtClean="0">
                <a:solidFill>
                  <a:srgbClr val="002060"/>
                </a:solidFill>
                <a:latin typeface="Franklin Gothic Medium" panose="020B0603020102020204" pitchFamily="34" charset="0"/>
              </a:rPr>
              <a:t>) </a:t>
            </a:r>
            <a:r>
              <a:rPr lang="fr-FR" sz="2400" dirty="0" smtClean="0">
                <a:latin typeface="Franklin Gothic Medium" panose="020B0603020102020204" pitchFamily="34" charset="0"/>
              </a:rPr>
              <a:t>Calcule </a:t>
            </a:r>
            <a:r>
              <a:rPr lang="fr-FR" sz="2400" dirty="0">
                <a:latin typeface="Franklin Gothic Medium" panose="020B0603020102020204" pitchFamily="34" charset="0"/>
              </a:rPr>
              <a:t>le </a:t>
            </a:r>
            <a:r>
              <a:rPr lang="fr-FR" sz="2400" dirty="0" smtClean="0">
                <a:latin typeface="Franklin Gothic Medium" panose="020B0603020102020204" pitchFamily="34" charset="0"/>
              </a:rPr>
              <a:t>troisième </a:t>
            </a:r>
            <a:r>
              <a:rPr lang="fr-FR" sz="2400" dirty="0">
                <a:latin typeface="Franklin Gothic Medium" panose="020B0603020102020204" pitchFamily="34" charset="0"/>
              </a:rPr>
              <a:t>quartile (75</a:t>
            </a:r>
            <a:r>
              <a:rPr lang="fr-FR" sz="2400" dirty="0" smtClean="0">
                <a:latin typeface="Franklin Gothic Medium" panose="020B0603020102020204" pitchFamily="34" charset="0"/>
              </a:rPr>
              <a:t>%) </a:t>
            </a:r>
            <a:r>
              <a:rPr lang="fr-FR" sz="2400" dirty="0" err="1" smtClean="0">
                <a:solidFill>
                  <a:srgbClr val="002060"/>
                </a:solidFill>
                <a:latin typeface="Franklin Gothic Medium" panose="020B0603020102020204" pitchFamily="34" charset="0"/>
              </a:rPr>
              <a:t>IQR_val</a:t>
            </a:r>
            <a:r>
              <a:rPr lang="fr-FR" sz="2400" dirty="0" smtClean="0">
                <a:solidFill>
                  <a:srgbClr val="002060"/>
                </a:solidFill>
                <a:latin typeface="Franklin Gothic Medium" panose="020B0603020102020204" pitchFamily="34" charset="0"/>
              </a:rPr>
              <a:t> </a:t>
            </a:r>
            <a:r>
              <a:rPr lang="fr-FR" sz="2400" dirty="0">
                <a:solidFill>
                  <a:srgbClr val="002060"/>
                </a:solidFill>
                <a:latin typeface="Franklin Gothic Medium" panose="020B0603020102020204" pitchFamily="34" charset="0"/>
              </a:rPr>
              <a:t>&lt;- Q3 - </a:t>
            </a:r>
            <a:r>
              <a:rPr lang="fr-FR" sz="2400" dirty="0" smtClean="0">
                <a:solidFill>
                  <a:srgbClr val="002060"/>
                </a:solidFill>
                <a:latin typeface="Franklin Gothic Medium" panose="020B0603020102020204" pitchFamily="34" charset="0"/>
              </a:rPr>
              <a:t>Q1 </a:t>
            </a:r>
            <a:r>
              <a:rPr lang="fr-FR" sz="2400" dirty="0" smtClean="0">
                <a:latin typeface="Franklin Gothic Medium" panose="020B0603020102020204" pitchFamily="34" charset="0"/>
              </a:rPr>
              <a:t>Calcule </a:t>
            </a:r>
            <a:r>
              <a:rPr lang="fr-FR" sz="2400" dirty="0">
                <a:latin typeface="Franklin Gothic Medium" panose="020B0603020102020204" pitchFamily="34" charset="0"/>
              </a:rPr>
              <a:t>l’intervalle interquartile </a:t>
            </a:r>
            <a:r>
              <a:rPr lang="fr-FR" sz="2400" dirty="0">
                <a:solidFill>
                  <a:srgbClr val="002060"/>
                </a:solidFill>
                <a:latin typeface="Franklin Gothic Medium" panose="020B0603020102020204" pitchFamily="34" charset="0"/>
              </a:rPr>
              <a:t>(IQR), </a:t>
            </a:r>
            <a:r>
              <a:rPr lang="fr-FR" sz="2400" dirty="0">
                <a:latin typeface="Franklin Gothic Medium" panose="020B0603020102020204" pitchFamily="34" charset="0"/>
              </a:rPr>
              <a:t>mesure de dispersion </a:t>
            </a:r>
            <a:r>
              <a:rPr lang="fr-FR" sz="2400" dirty="0" smtClean="0">
                <a:latin typeface="Franklin Gothic Medium" panose="020B0603020102020204" pitchFamily="34" charset="0"/>
              </a:rPr>
              <a:t>robuste</a:t>
            </a:r>
          </a:p>
          <a:p>
            <a:pPr marL="457200" indent="-457200" algn="just">
              <a:buAutoNum type="arabicPeriod"/>
            </a:pPr>
            <a:r>
              <a:rPr lang="fr-FR" sz="2400" dirty="0" smtClean="0">
                <a:latin typeface="Franklin Gothic Medium" panose="020B0603020102020204" pitchFamily="34" charset="0"/>
              </a:rPr>
              <a:t>Suppression </a:t>
            </a:r>
            <a:r>
              <a:rPr lang="fr-FR" sz="2400" dirty="0">
                <a:latin typeface="Franklin Gothic Medium" panose="020B0603020102020204" pitchFamily="34" charset="0"/>
              </a:rPr>
              <a:t>des valeurs </a:t>
            </a:r>
            <a:r>
              <a:rPr lang="fr-FR" sz="2400" dirty="0" smtClean="0">
                <a:latin typeface="Franklin Gothic Medium" panose="020B0603020102020204" pitchFamily="34" charset="0"/>
              </a:rPr>
              <a:t>aberrantes Filtrage </a:t>
            </a:r>
            <a:r>
              <a:rPr lang="fr-FR" sz="2400" dirty="0">
                <a:latin typeface="Franklin Gothic Medium" panose="020B0603020102020204" pitchFamily="34" charset="0"/>
              </a:rPr>
              <a:t>avec la règle </a:t>
            </a:r>
            <a:r>
              <a:rPr lang="fr-FR" sz="2400" dirty="0">
                <a:solidFill>
                  <a:srgbClr val="002060"/>
                </a:solidFill>
                <a:latin typeface="Franklin Gothic Medium" panose="020B0603020102020204" pitchFamily="34" charset="0"/>
              </a:rPr>
              <a:t>:[Q1 − 1.5 × IQR ; Q3 + 1.5 × IQR]</a:t>
            </a:r>
            <a:endParaRPr lang="fr-FR" sz="2400" dirty="0">
              <a:solidFill>
                <a:srgbClr val="002060"/>
              </a:solidFill>
              <a:latin typeface="Franklin Gothic Medium" panose="020B0603020102020204" pitchFamily="34" charset="0"/>
            </a:endParaRPr>
          </a:p>
        </p:txBody>
      </p:sp>
    </p:spTree>
    <p:extLst>
      <p:ext uri="{BB962C8B-B14F-4D97-AF65-F5344CB8AC3E}">
        <p14:creationId xmlns:p14="http://schemas.microsoft.com/office/powerpoint/2010/main" val="297334421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42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23" name="Rectangle 22"/>
          <p:cNvSpPr/>
          <p:nvPr/>
        </p:nvSpPr>
        <p:spPr>
          <a:xfrm>
            <a:off x="-1" y="890288"/>
            <a:ext cx="12191999" cy="174840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69666" y="953369"/>
            <a:ext cx="12052663" cy="1569660"/>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2.3 Suppression des </a:t>
            </a:r>
            <a:r>
              <a:rPr lang="fr-FR" sz="2400" dirty="0" smtClean="0">
                <a:solidFill>
                  <a:srgbClr val="C00000"/>
                </a:solidFill>
                <a:latin typeface="Franklin Gothic Medium" panose="020B0603020102020204" pitchFamily="34" charset="0"/>
              </a:rPr>
              <a:t>doublons</a:t>
            </a:r>
          </a:p>
          <a:p>
            <a:r>
              <a:rPr lang="fr-FR" sz="2400" dirty="0" err="1" smtClean="0">
                <a:solidFill>
                  <a:srgbClr val="C00000"/>
                </a:solidFill>
                <a:latin typeface="Franklin Gothic Medium" panose="020B0603020102020204" pitchFamily="34" charset="0"/>
              </a:rPr>
              <a:t>data_clean</a:t>
            </a:r>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&lt;- distinct(</a:t>
            </a:r>
            <a:r>
              <a:rPr lang="fr-FR" sz="2400" dirty="0" err="1">
                <a:solidFill>
                  <a:srgbClr val="C00000"/>
                </a:solidFill>
                <a:latin typeface="Franklin Gothic Medium" panose="020B0603020102020204" pitchFamily="34" charset="0"/>
              </a:rPr>
              <a:t>data_clean</a:t>
            </a:r>
            <a:r>
              <a:rPr lang="fr-FR" sz="2400" dirty="0" smtClean="0">
                <a:solidFill>
                  <a:srgbClr val="C00000"/>
                </a:solidFill>
                <a:latin typeface="Franklin Gothic Medium" panose="020B0603020102020204" pitchFamily="34" charset="0"/>
              </a:rPr>
              <a:t>)</a:t>
            </a:r>
          </a:p>
          <a:p>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Conversion du format de </a:t>
            </a:r>
            <a:r>
              <a:rPr lang="fr-FR" sz="2400" dirty="0" smtClean="0">
                <a:solidFill>
                  <a:srgbClr val="C00000"/>
                </a:solidFill>
                <a:latin typeface="Franklin Gothic Medium" panose="020B0603020102020204" pitchFamily="34" charset="0"/>
              </a:rPr>
              <a:t>date</a:t>
            </a:r>
          </a:p>
          <a:p>
            <a:r>
              <a:rPr lang="fr-FR" sz="2400" dirty="0" err="1" smtClean="0">
                <a:solidFill>
                  <a:srgbClr val="C00000"/>
                </a:solidFill>
                <a:latin typeface="Franklin Gothic Medium" panose="020B0603020102020204" pitchFamily="34" charset="0"/>
              </a:rPr>
              <a:t>data_clean$Dates</a:t>
            </a:r>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&lt;- </a:t>
            </a:r>
            <a:r>
              <a:rPr lang="fr-FR" sz="2400" dirty="0" err="1">
                <a:solidFill>
                  <a:srgbClr val="C00000"/>
                </a:solidFill>
                <a:latin typeface="Franklin Gothic Medium" panose="020B0603020102020204" pitchFamily="34" charset="0"/>
              </a:rPr>
              <a:t>as.Date</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data_clean$Dates</a:t>
            </a:r>
            <a:r>
              <a:rPr lang="fr-FR" sz="2400" dirty="0">
                <a:solidFill>
                  <a:srgbClr val="C00000"/>
                </a:solidFill>
                <a:latin typeface="Franklin Gothic Medium" panose="020B0603020102020204" pitchFamily="34" charset="0"/>
              </a:rPr>
              <a:t>, format = "%d/%m/%Y")</a:t>
            </a:r>
            <a:endParaRPr lang="fr-FR" sz="2400" dirty="0">
              <a:solidFill>
                <a:srgbClr val="C00000"/>
              </a:solidFill>
              <a:latin typeface="Franklin Gothic Medium" panose="020B0603020102020204" pitchFamily="34" charset="0"/>
            </a:endParaRPr>
          </a:p>
        </p:txBody>
      </p:sp>
      <p:sp>
        <p:nvSpPr>
          <p:cNvPr id="12" name="ZoneTexte 11"/>
          <p:cNvSpPr txBox="1"/>
          <p:nvPr/>
        </p:nvSpPr>
        <p:spPr>
          <a:xfrm>
            <a:off x="-3" y="2665223"/>
            <a:ext cx="12191999" cy="3785652"/>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Cette partie du code améliore encore la qualité du jeu de données en traitant les doublons et le format des </a:t>
            </a:r>
            <a:r>
              <a:rPr lang="fr-FR" sz="2400" dirty="0" smtClean="0">
                <a:latin typeface="Franklin Gothic Medium" panose="020B0603020102020204" pitchFamily="34" charset="0"/>
              </a:rPr>
              <a:t>dates.</a:t>
            </a:r>
          </a:p>
          <a:p>
            <a:pPr algn="just"/>
            <a:endParaRPr lang="fr-FR" sz="2400" dirty="0">
              <a:latin typeface="Franklin Gothic Medium" panose="020B0603020102020204" pitchFamily="34" charset="0"/>
            </a:endParaRPr>
          </a:p>
          <a:p>
            <a:pPr algn="just"/>
            <a:r>
              <a:rPr lang="fr-FR" sz="2400" dirty="0" smtClean="0">
                <a:latin typeface="Franklin Gothic Medium" panose="020B0603020102020204" pitchFamily="34" charset="0"/>
              </a:rPr>
              <a:t>1</a:t>
            </a:r>
            <a:r>
              <a:rPr lang="fr-FR" sz="2400" dirty="0">
                <a:latin typeface="Franklin Gothic Medium" panose="020B0603020102020204" pitchFamily="34" charset="0"/>
              </a:rPr>
              <a:t>. Suppression des </a:t>
            </a:r>
            <a:r>
              <a:rPr lang="fr-FR" sz="2400" dirty="0" smtClean="0">
                <a:latin typeface="Franklin Gothic Medium" panose="020B0603020102020204" pitchFamily="34" charset="0"/>
              </a:rPr>
              <a:t>doublons </a:t>
            </a:r>
            <a:r>
              <a:rPr lang="fr-FR" sz="2400" dirty="0" err="1" smtClean="0">
                <a:solidFill>
                  <a:srgbClr val="002060"/>
                </a:solidFill>
                <a:latin typeface="Franklin Gothic Medium" panose="020B0603020102020204" pitchFamily="34" charset="0"/>
              </a:rPr>
              <a:t>data_clean</a:t>
            </a:r>
            <a:r>
              <a:rPr lang="fr-FR" sz="2400" dirty="0" smtClean="0">
                <a:solidFill>
                  <a:srgbClr val="002060"/>
                </a:solidFill>
                <a:latin typeface="Franklin Gothic Medium" panose="020B0603020102020204" pitchFamily="34" charset="0"/>
              </a:rPr>
              <a:t> </a:t>
            </a:r>
            <a:r>
              <a:rPr lang="fr-FR" sz="2400" dirty="0">
                <a:solidFill>
                  <a:srgbClr val="002060"/>
                </a:solidFill>
                <a:latin typeface="Franklin Gothic Medium" panose="020B0603020102020204" pitchFamily="34" charset="0"/>
              </a:rPr>
              <a:t>&lt;- distinct(</a:t>
            </a:r>
            <a:r>
              <a:rPr lang="fr-FR" sz="2400" dirty="0" err="1">
                <a:solidFill>
                  <a:srgbClr val="002060"/>
                </a:solidFill>
                <a:latin typeface="Franklin Gothic Medium" panose="020B0603020102020204" pitchFamily="34" charset="0"/>
              </a:rPr>
              <a:t>data_clean</a:t>
            </a:r>
            <a:r>
              <a:rPr lang="fr-FR" sz="2400" dirty="0" smtClean="0">
                <a:solidFill>
                  <a:srgbClr val="002060"/>
                </a:solidFill>
                <a:latin typeface="Franklin Gothic Medium" panose="020B0603020102020204" pitchFamily="34" charset="0"/>
              </a:rPr>
              <a:t>) </a:t>
            </a:r>
            <a:r>
              <a:rPr lang="fr-FR" sz="2400" dirty="0" smtClean="0">
                <a:latin typeface="Franklin Gothic Medium" panose="020B0603020102020204" pitchFamily="34" charset="0"/>
              </a:rPr>
              <a:t>Supprime </a:t>
            </a:r>
            <a:r>
              <a:rPr lang="fr-FR" sz="2400" dirty="0">
                <a:latin typeface="Franklin Gothic Medium" panose="020B0603020102020204" pitchFamily="34" charset="0"/>
              </a:rPr>
              <a:t>les lignes dupliquées dans le jeu de données.→ Cela permet d’éviter :la surreprésentation de certaines </a:t>
            </a:r>
            <a:r>
              <a:rPr lang="fr-FR" sz="2400" dirty="0" smtClean="0">
                <a:latin typeface="Franklin Gothic Medium" panose="020B0603020102020204" pitchFamily="34" charset="0"/>
              </a:rPr>
              <a:t>observations des </a:t>
            </a:r>
            <a:r>
              <a:rPr lang="fr-FR" sz="2400" dirty="0">
                <a:latin typeface="Franklin Gothic Medium" panose="020B0603020102020204" pitchFamily="34" charset="0"/>
              </a:rPr>
              <a:t>biais dans les analyses </a:t>
            </a:r>
            <a:r>
              <a:rPr lang="fr-FR" sz="2400" dirty="0" smtClean="0">
                <a:latin typeface="Franklin Gothic Medium" panose="020B0603020102020204" pitchFamily="34" charset="0"/>
              </a:rPr>
              <a:t>statistiques</a:t>
            </a:r>
          </a:p>
          <a:p>
            <a:pPr algn="just"/>
            <a:endParaRPr lang="fr-FR" sz="2400" dirty="0">
              <a:latin typeface="Franklin Gothic Medium" panose="020B0603020102020204" pitchFamily="34" charset="0"/>
            </a:endParaRPr>
          </a:p>
          <a:p>
            <a:pPr algn="just"/>
            <a:r>
              <a:rPr lang="fr-FR" sz="2400" dirty="0" smtClean="0">
                <a:solidFill>
                  <a:schemeClr val="accent6">
                    <a:lumMod val="50000"/>
                  </a:schemeClr>
                </a:solidFill>
                <a:latin typeface="Franklin Gothic Medium" panose="020B0603020102020204" pitchFamily="34" charset="0"/>
              </a:rPr>
              <a:t>Important </a:t>
            </a:r>
            <a:r>
              <a:rPr lang="fr-FR" sz="2400" dirty="0">
                <a:solidFill>
                  <a:schemeClr val="accent6">
                    <a:lumMod val="50000"/>
                  </a:schemeClr>
                </a:solidFill>
                <a:latin typeface="Franklin Gothic Medium" panose="020B0603020102020204" pitchFamily="34" charset="0"/>
              </a:rPr>
              <a:t>dans un contexte expérimental (ex : essais agronomiques), où chaque observation doit être unique (plant, bloc, traitement).</a:t>
            </a:r>
          </a:p>
          <a:p>
            <a:pPr algn="just"/>
            <a:endParaRPr lang="fr-FR" sz="2400" dirty="0">
              <a:solidFill>
                <a:schemeClr val="accent6">
                  <a:lumMod val="50000"/>
                </a:schemeClr>
              </a:solidFill>
              <a:latin typeface="Franklin Gothic Medium" panose="020B0603020102020204" pitchFamily="34" charset="0"/>
            </a:endParaRPr>
          </a:p>
        </p:txBody>
      </p:sp>
    </p:spTree>
    <p:extLst>
      <p:ext uri="{BB962C8B-B14F-4D97-AF65-F5344CB8AC3E}">
        <p14:creationId xmlns:p14="http://schemas.microsoft.com/office/powerpoint/2010/main" val="373589798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43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23" name="Rectangle 22"/>
          <p:cNvSpPr/>
          <p:nvPr/>
        </p:nvSpPr>
        <p:spPr>
          <a:xfrm>
            <a:off x="-1" y="890288"/>
            <a:ext cx="12191999" cy="174840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69666" y="953369"/>
            <a:ext cx="12052663" cy="1569660"/>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2.3 Suppression des </a:t>
            </a:r>
            <a:r>
              <a:rPr lang="fr-FR" sz="2400" dirty="0" smtClean="0">
                <a:solidFill>
                  <a:srgbClr val="C00000"/>
                </a:solidFill>
                <a:latin typeface="Franklin Gothic Medium" panose="020B0603020102020204" pitchFamily="34" charset="0"/>
              </a:rPr>
              <a:t>doublons</a:t>
            </a:r>
          </a:p>
          <a:p>
            <a:r>
              <a:rPr lang="fr-FR" sz="2400" dirty="0" err="1" smtClean="0">
                <a:solidFill>
                  <a:srgbClr val="C00000"/>
                </a:solidFill>
                <a:latin typeface="Franklin Gothic Medium" panose="020B0603020102020204" pitchFamily="34" charset="0"/>
              </a:rPr>
              <a:t>data_clean</a:t>
            </a:r>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&lt;- distinct(</a:t>
            </a:r>
            <a:r>
              <a:rPr lang="fr-FR" sz="2400" dirty="0" err="1">
                <a:solidFill>
                  <a:srgbClr val="C00000"/>
                </a:solidFill>
                <a:latin typeface="Franklin Gothic Medium" panose="020B0603020102020204" pitchFamily="34" charset="0"/>
              </a:rPr>
              <a:t>data_clean</a:t>
            </a:r>
            <a:r>
              <a:rPr lang="fr-FR" sz="2400" dirty="0" smtClean="0">
                <a:solidFill>
                  <a:srgbClr val="C00000"/>
                </a:solidFill>
                <a:latin typeface="Franklin Gothic Medium" panose="020B0603020102020204" pitchFamily="34" charset="0"/>
              </a:rPr>
              <a:t>)</a:t>
            </a:r>
          </a:p>
          <a:p>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Conversion du format de </a:t>
            </a:r>
            <a:r>
              <a:rPr lang="fr-FR" sz="2400" dirty="0" smtClean="0">
                <a:solidFill>
                  <a:srgbClr val="C00000"/>
                </a:solidFill>
                <a:latin typeface="Franklin Gothic Medium" panose="020B0603020102020204" pitchFamily="34" charset="0"/>
              </a:rPr>
              <a:t>date</a:t>
            </a:r>
          </a:p>
          <a:p>
            <a:r>
              <a:rPr lang="fr-FR" sz="2400" dirty="0" err="1" smtClean="0">
                <a:solidFill>
                  <a:srgbClr val="C00000"/>
                </a:solidFill>
                <a:latin typeface="Franklin Gothic Medium" panose="020B0603020102020204" pitchFamily="34" charset="0"/>
              </a:rPr>
              <a:t>data_clean$Dates</a:t>
            </a:r>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&lt;- </a:t>
            </a:r>
            <a:r>
              <a:rPr lang="fr-FR" sz="2400" dirty="0" err="1">
                <a:solidFill>
                  <a:srgbClr val="C00000"/>
                </a:solidFill>
                <a:latin typeface="Franklin Gothic Medium" panose="020B0603020102020204" pitchFamily="34" charset="0"/>
              </a:rPr>
              <a:t>as.Date</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data_clean$Dates</a:t>
            </a:r>
            <a:r>
              <a:rPr lang="fr-FR" sz="2400" dirty="0">
                <a:solidFill>
                  <a:srgbClr val="C00000"/>
                </a:solidFill>
                <a:latin typeface="Franklin Gothic Medium" panose="020B0603020102020204" pitchFamily="34" charset="0"/>
              </a:rPr>
              <a:t>, format = "%d/%m/%Y")</a:t>
            </a:r>
            <a:endParaRPr lang="fr-FR" sz="2400" dirty="0">
              <a:solidFill>
                <a:srgbClr val="C00000"/>
              </a:solidFill>
              <a:latin typeface="Franklin Gothic Medium" panose="020B0603020102020204" pitchFamily="34" charset="0"/>
            </a:endParaRPr>
          </a:p>
        </p:txBody>
      </p:sp>
      <p:sp>
        <p:nvSpPr>
          <p:cNvPr id="12" name="ZoneTexte 11"/>
          <p:cNvSpPr txBox="1"/>
          <p:nvPr/>
        </p:nvSpPr>
        <p:spPr>
          <a:xfrm>
            <a:off x="1" y="2753646"/>
            <a:ext cx="12191999" cy="2308324"/>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2</a:t>
            </a:r>
            <a:r>
              <a:rPr lang="fr-FR" sz="2400" dirty="0">
                <a:latin typeface="Franklin Gothic Medium" panose="020B0603020102020204" pitchFamily="34" charset="0"/>
              </a:rPr>
              <a:t>. Conversion du format des </a:t>
            </a:r>
            <a:r>
              <a:rPr lang="fr-FR" sz="2400" dirty="0" smtClean="0">
                <a:latin typeface="Franklin Gothic Medium" panose="020B0603020102020204" pitchFamily="34" charset="0"/>
              </a:rPr>
              <a:t>dates </a:t>
            </a:r>
          </a:p>
          <a:p>
            <a:pPr algn="just"/>
            <a:endParaRPr lang="fr-FR" sz="2400" dirty="0" smtClean="0">
              <a:solidFill>
                <a:schemeClr val="accent5">
                  <a:lumMod val="50000"/>
                </a:schemeClr>
              </a:solidFill>
              <a:latin typeface="Franklin Gothic Medium" panose="020B0603020102020204" pitchFamily="34" charset="0"/>
            </a:endParaRPr>
          </a:p>
          <a:p>
            <a:pPr algn="just"/>
            <a:r>
              <a:rPr lang="fr-FR" sz="2400" dirty="0" err="1" smtClean="0">
                <a:solidFill>
                  <a:schemeClr val="accent5">
                    <a:lumMod val="50000"/>
                  </a:schemeClr>
                </a:solidFill>
                <a:latin typeface="Franklin Gothic Medium" panose="020B0603020102020204" pitchFamily="34" charset="0"/>
              </a:rPr>
              <a:t>data_clean$Dates</a:t>
            </a:r>
            <a:r>
              <a:rPr lang="fr-FR" sz="2400" dirty="0" smtClean="0">
                <a:solidFill>
                  <a:schemeClr val="accent5">
                    <a:lumMod val="50000"/>
                  </a:schemeClr>
                </a:solidFill>
                <a:latin typeface="Franklin Gothic Medium" panose="020B0603020102020204" pitchFamily="34" charset="0"/>
              </a:rPr>
              <a:t> </a:t>
            </a:r>
            <a:r>
              <a:rPr lang="fr-FR" sz="2400" dirty="0">
                <a:solidFill>
                  <a:schemeClr val="accent5">
                    <a:lumMod val="50000"/>
                  </a:schemeClr>
                </a:solidFill>
                <a:latin typeface="Franklin Gothic Medium" panose="020B0603020102020204" pitchFamily="34" charset="0"/>
              </a:rPr>
              <a:t>&lt;- </a:t>
            </a:r>
            <a:r>
              <a:rPr lang="fr-FR" sz="2400" dirty="0" err="1">
                <a:solidFill>
                  <a:schemeClr val="accent5">
                    <a:lumMod val="50000"/>
                  </a:schemeClr>
                </a:solidFill>
                <a:latin typeface="Franklin Gothic Medium" panose="020B0603020102020204" pitchFamily="34" charset="0"/>
              </a:rPr>
              <a:t>as.Date</a:t>
            </a:r>
            <a:r>
              <a:rPr lang="fr-FR" sz="2400" dirty="0">
                <a:solidFill>
                  <a:schemeClr val="accent5">
                    <a:lumMod val="50000"/>
                  </a:schemeClr>
                </a:solidFill>
                <a:latin typeface="Franklin Gothic Medium" panose="020B0603020102020204" pitchFamily="34" charset="0"/>
              </a:rPr>
              <a:t>(</a:t>
            </a:r>
            <a:r>
              <a:rPr lang="fr-FR" sz="2400" dirty="0" err="1">
                <a:solidFill>
                  <a:schemeClr val="accent5">
                    <a:lumMod val="50000"/>
                  </a:schemeClr>
                </a:solidFill>
                <a:latin typeface="Franklin Gothic Medium" panose="020B0603020102020204" pitchFamily="34" charset="0"/>
              </a:rPr>
              <a:t>data_clean$Dates</a:t>
            </a:r>
            <a:r>
              <a:rPr lang="fr-FR" sz="2400" dirty="0">
                <a:solidFill>
                  <a:schemeClr val="accent5">
                    <a:lumMod val="50000"/>
                  </a:schemeClr>
                </a:solidFill>
                <a:latin typeface="Franklin Gothic Medium" panose="020B0603020102020204" pitchFamily="34" charset="0"/>
              </a:rPr>
              <a:t>, format = "%d/%m/%Y</a:t>
            </a:r>
            <a:r>
              <a:rPr lang="fr-FR" sz="2400" dirty="0" smtClean="0">
                <a:solidFill>
                  <a:schemeClr val="accent5">
                    <a:lumMod val="50000"/>
                  </a:schemeClr>
                </a:solidFill>
                <a:latin typeface="Franklin Gothic Medium" panose="020B0603020102020204" pitchFamily="34" charset="0"/>
              </a:rPr>
              <a:t>") </a:t>
            </a:r>
          </a:p>
          <a:p>
            <a:pPr algn="just"/>
            <a:r>
              <a:rPr lang="fr-FR" sz="2400" dirty="0" smtClean="0">
                <a:latin typeface="Franklin Gothic Medium" panose="020B0603020102020204" pitchFamily="34" charset="0"/>
              </a:rPr>
              <a:t>Convertit </a:t>
            </a:r>
            <a:r>
              <a:rPr lang="fr-FR" sz="2400" dirty="0">
                <a:latin typeface="Franklin Gothic Medium" panose="020B0603020102020204" pitchFamily="34" charset="0"/>
              </a:rPr>
              <a:t>la variable Dates du format texte (</a:t>
            </a:r>
            <a:r>
              <a:rPr lang="fr-FR" sz="2400" dirty="0" err="1">
                <a:latin typeface="Franklin Gothic Medium" panose="020B0603020102020204" pitchFamily="34" charset="0"/>
              </a:rPr>
              <a:t>character</a:t>
            </a:r>
            <a:r>
              <a:rPr lang="fr-FR" sz="2400" dirty="0">
                <a:latin typeface="Franklin Gothic Medium" panose="020B0603020102020204" pitchFamily="34" charset="0"/>
              </a:rPr>
              <a:t>) vers un format date reconnu par R</a:t>
            </a:r>
            <a:r>
              <a:rPr lang="fr-FR" sz="2400" dirty="0" smtClean="0">
                <a:latin typeface="Franklin Gothic Medium" panose="020B0603020102020204" pitchFamily="34" charset="0"/>
              </a:rPr>
              <a:t>.</a:t>
            </a:r>
          </a:p>
          <a:p>
            <a:pPr algn="just"/>
            <a:endParaRPr lang="fr-FR" sz="2400" dirty="0">
              <a:latin typeface="Franklin Gothic Medium" panose="020B0603020102020204" pitchFamily="34" charset="0"/>
            </a:endParaRPr>
          </a:p>
          <a:p>
            <a:pPr algn="just"/>
            <a:r>
              <a:rPr lang="fr-FR" sz="2400" dirty="0" smtClean="0">
                <a:latin typeface="Franklin Gothic Medium" panose="020B0603020102020204" pitchFamily="34" charset="0"/>
              </a:rPr>
              <a:t>→ </a:t>
            </a:r>
            <a:r>
              <a:rPr lang="fr-FR" sz="2400" dirty="0">
                <a:latin typeface="Franklin Gothic Medium" panose="020B0603020102020204" pitchFamily="34" charset="0"/>
              </a:rPr>
              <a:t>Le format </a:t>
            </a:r>
            <a:r>
              <a:rPr lang="fr-FR" sz="2400" dirty="0">
                <a:solidFill>
                  <a:schemeClr val="accent6">
                    <a:lumMod val="50000"/>
                  </a:schemeClr>
                </a:solidFill>
                <a:latin typeface="Franklin Gothic Medium" panose="020B0603020102020204" pitchFamily="34" charset="0"/>
              </a:rPr>
              <a:t>"%d/%m/%Y" </a:t>
            </a:r>
            <a:r>
              <a:rPr lang="fr-FR" sz="2400" dirty="0">
                <a:latin typeface="Franklin Gothic Medium" panose="020B0603020102020204" pitchFamily="34" charset="0"/>
              </a:rPr>
              <a:t>correspond à :</a:t>
            </a:r>
            <a:r>
              <a:rPr lang="fr-FR" sz="2400" dirty="0">
                <a:solidFill>
                  <a:schemeClr val="accent6">
                    <a:lumMod val="50000"/>
                  </a:schemeClr>
                </a:solidFill>
                <a:latin typeface="Franklin Gothic Medium" panose="020B0603020102020204" pitchFamily="34" charset="0"/>
              </a:rPr>
              <a:t>jour / mois / année </a:t>
            </a:r>
            <a:r>
              <a:rPr lang="fr-FR" sz="2400" dirty="0">
                <a:latin typeface="Franklin Gothic Medium" panose="020B0603020102020204" pitchFamily="34" charset="0"/>
              </a:rPr>
              <a:t>(ex : 14/05/2025)</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254739987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44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1" name="Rectangle 10"/>
          <p:cNvSpPr/>
          <p:nvPr/>
        </p:nvSpPr>
        <p:spPr>
          <a:xfrm>
            <a:off x="-1" y="890288"/>
            <a:ext cx="12191999" cy="538859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p:cNvSpPr txBox="1"/>
          <p:nvPr/>
        </p:nvSpPr>
        <p:spPr>
          <a:xfrm>
            <a:off x="0" y="953325"/>
            <a:ext cx="12052663" cy="5016758"/>
          </a:xfrm>
          <a:prstGeom prst="rect">
            <a:avLst/>
          </a:prstGeom>
          <a:noFill/>
        </p:spPr>
        <p:txBody>
          <a:bodyPr wrap="square" rtlCol="0">
            <a:spAutoFit/>
          </a:bodyPr>
          <a:lstStyle/>
          <a:p>
            <a:r>
              <a:rPr lang="fr-FR" sz="2000" dirty="0">
                <a:solidFill>
                  <a:srgbClr val="C00000"/>
                </a:solidFill>
                <a:latin typeface="Franklin Gothic Medium" panose="020B0603020102020204" pitchFamily="34" charset="0"/>
              </a:rPr>
              <a:t># 3. Structuration des </a:t>
            </a:r>
            <a:r>
              <a:rPr lang="fr-FR" sz="2000" dirty="0" smtClean="0">
                <a:solidFill>
                  <a:srgbClr val="C00000"/>
                </a:solidFill>
                <a:latin typeface="Franklin Gothic Medium" panose="020B0603020102020204" pitchFamily="34" charset="0"/>
              </a:rPr>
              <a:t>données</a:t>
            </a:r>
          </a:p>
          <a:p>
            <a:r>
              <a:rPr lang="fr-FR" sz="2000" dirty="0" smtClean="0">
                <a:solidFill>
                  <a:srgbClr val="C00000"/>
                </a:solidFill>
                <a:latin typeface="Franklin Gothic Medium" panose="020B0603020102020204" pitchFamily="34" charset="0"/>
              </a:rPr>
              <a:t># </a:t>
            </a:r>
            <a:r>
              <a:rPr lang="fr-FR" sz="2000" dirty="0">
                <a:solidFill>
                  <a:srgbClr val="C00000"/>
                </a:solidFill>
                <a:latin typeface="Franklin Gothic Medium" panose="020B0603020102020204" pitchFamily="34" charset="0"/>
              </a:rPr>
              <a:t>Conversion des variables </a:t>
            </a:r>
            <a:r>
              <a:rPr lang="fr-FR" sz="2000" dirty="0" smtClean="0">
                <a:solidFill>
                  <a:srgbClr val="C00000"/>
                </a:solidFill>
                <a:latin typeface="Franklin Gothic Medium" panose="020B0603020102020204" pitchFamily="34" charset="0"/>
              </a:rPr>
              <a:t>catégorielles</a:t>
            </a:r>
          </a:p>
          <a:p>
            <a:r>
              <a:rPr lang="fr-FR" sz="2000" dirty="0" err="1" smtClean="0">
                <a:solidFill>
                  <a:srgbClr val="C00000"/>
                </a:solidFill>
                <a:latin typeface="Franklin Gothic Medium" panose="020B0603020102020204" pitchFamily="34" charset="0"/>
              </a:rPr>
              <a:t>data_clean</a:t>
            </a:r>
            <a:r>
              <a:rPr lang="fr-FR" sz="2000" dirty="0" smtClean="0">
                <a:solidFill>
                  <a:srgbClr val="C00000"/>
                </a:solidFill>
                <a:latin typeface="Franklin Gothic Medium" panose="020B0603020102020204" pitchFamily="34" charset="0"/>
              </a:rPr>
              <a:t> </a:t>
            </a:r>
            <a:r>
              <a:rPr lang="fr-FR" sz="2000" dirty="0">
                <a:solidFill>
                  <a:srgbClr val="C00000"/>
                </a:solidFill>
                <a:latin typeface="Franklin Gothic Medium" panose="020B0603020102020204" pitchFamily="34" charset="0"/>
              </a:rPr>
              <a:t>&lt;- </a:t>
            </a:r>
            <a:r>
              <a:rPr lang="fr-FR" sz="2000" dirty="0" err="1">
                <a:solidFill>
                  <a:srgbClr val="C00000"/>
                </a:solidFill>
                <a:latin typeface="Franklin Gothic Medium" panose="020B0603020102020204" pitchFamily="34" charset="0"/>
              </a:rPr>
              <a:t>data_clean</a:t>
            </a:r>
            <a:r>
              <a:rPr lang="fr-FR" sz="2000" dirty="0">
                <a:solidFill>
                  <a:srgbClr val="C00000"/>
                </a:solidFill>
                <a:latin typeface="Franklin Gothic Medium" panose="020B0603020102020204" pitchFamily="34" charset="0"/>
              </a:rPr>
              <a:t> %&gt;%  </a:t>
            </a:r>
            <a:endParaRPr lang="fr-FR" sz="2000" dirty="0" smtClean="0">
              <a:solidFill>
                <a:srgbClr val="C00000"/>
              </a:solidFill>
              <a:latin typeface="Franklin Gothic Medium" panose="020B0603020102020204" pitchFamily="34" charset="0"/>
            </a:endParaRPr>
          </a:p>
          <a:p>
            <a:r>
              <a:rPr lang="fr-FR" sz="2000" dirty="0" err="1" smtClean="0">
                <a:solidFill>
                  <a:srgbClr val="C00000"/>
                </a:solidFill>
                <a:latin typeface="Franklin Gothic Medium" panose="020B0603020102020204" pitchFamily="34" charset="0"/>
              </a:rPr>
              <a:t>mutate</a:t>
            </a:r>
            <a:r>
              <a:rPr lang="fr-FR" sz="2000" dirty="0">
                <a:solidFill>
                  <a:srgbClr val="C00000"/>
                </a:solidFill>
                <a:latin typeface="Franklin Gothic Medium" panose="020B0603020102020204" pitchFamily="34" charset="0"/>
              </a:rPr>
              <a:t>(    </a:t>
            </a:r>
            <a:endParaRPr lang="fr-FR" sz="2000" dirty="0" smtClean="0">
              <a:solidFill>
                <a:srgbClr val="C00000"/>
              </a:solidFill>
              <a:latin typeface="Franklin Gothic Medium" panose="020B0603020102020204" pitchFamily="34" charset="0"/>
            </a:endParaRPr>
          </a:p>
          <a:p>
            <a:r>
              <a:rPr lang="fr-FR" sz="2000" dirty="0">
                <a:solidFill>
                  <a:srgbClr val="C00000"/>
                </a:solidFill>
                <a:latin typeface="Franklin Gothic Medium" panose="020B0603020102020204" pitchFamily="34" charset="0"/>
              </a:rPr>
              <a:t> </a:t>
            </a:r>
            <a:r>
              <a:rPr lang="fr-FR" sz="2000" dirty="0" smtClean="0">
                <a:solidFill>
                  <a:srgbClr val="C00000"/>
                </a:solidFill>
                <a:latin typeface="Franklin Gothic Medium" panose="020B0603020102020204" pitchFamily="34" charset="0"/>
              </a:rPr>
              <a:t>       Semaines </a:t>
            </a:r>
            <a:r>
              <a:rPr lang="fr-FR" sz="2000" dirty="0">
                <a:solidFill>
                  <a:srgbClr val="C00000"/>
                </a:solidFill>
                <a:latin typeface="Franklin Gothic Medium" panose="020B0603020102020204" pitchFamily="34" charset="0"/>
              </a:rPr>
              <a:t>= </a:t>
            </a:r>
            <a:r>
              <a:rPr lang="fr-FR" sz="2000" dirty="0" err="1">
                <a:solidFill>
                  <a:srgbClr val="C00000"/>
                </a:solidFill>
                <a:latin typeface="Franklin Gothic Medium" panose="020B0603020102020204" pitchFamily="34" charset="0"/>
              </a:rPr>
              <a:t>as.factor</a:t>
            </a:r>
            <a:r>
              <a:rPr lang="fr-FR" sz="2000" dirty="0">
                <a:solidFill>
                  <a:srgbClr val="C00000"/>
                </a:solidFill>
                <a:latin typeface="Franklin Gothic Medium" panose="020B0603020102020204" pitchFamily="34" charset="0"/>
              </a:rPr>
              <a:t>(Semaines),    </a:t>
            </a:r>
            <a:endParaRPr lang="fr-FR" sz="2000" dirty="0" smtClean="0">
              <a:solidFill>
                <a:srgbClr val="C00000"/>
              </a:solidFill>
              <a:latin typeface="Franklin Gothic Medium" panose="020B0603020102020204" pitchFamily="34" charset="0"/>
            </a:endParaRPr>
          </a:p>
          <a:p>
            <a:r>
              <a:rPr lang="fr-FR" sz="2000" dirty="0">
                <a:solidFill>
                  <a:srgbClr val="C00000"/>
                </a:solidFill>
                <a:latin typeface="Franklin Gothic Medium" panose="020B0603020102020204" pitchFamily="34" charset="0"/>
              </a:rPr>
              <a:t> </a:t>
            </a:r>
            <a:r>
              <a:rPr lang="fr-FR" sz="2000" dirty="0" smtClean="0">
                <a:solidFill>
                  <a:srgbClr val="C00000"/>
                </a:solidFill>
                <a:latin typeface="Franklin Gothic Medium" panose="020B0603020102020204" pitchFamily="34" charset="0"/>
              </a:rPr>
              <a:t>       Traitements </a:t>
            </a:r>
            <a:r>
              <a:rPr lang="fr-FR" sz="2000" dirty="0">
                <a:solidFill>
                  <a:srgbClr val="C00000"/>
                </a:solidFill>
                <a:latin typeface="Franklin Gothic Medium" panose="020B0603020102020204" pitchFamily="34" charset="0"/>
              </a:rPr>
              <a:t>= </a:t>
            </a:r>
            <a:r>
              <a:rPr lang="fr-FR" sz="2000" dirty="0" err="1">
                <a:solidFill>
                  <a:srgbClr val="C00000"/>
                </a:solidFill>
                <a:latin typeface="Franklin Gothic Medium" panose="020B0603020102020204" pitchFamily="34" charset="0"/>
              </a:rPr>
              <a:t>as.factor</a:t>
            </a:r>
            <a:r>
              <a:rPr lang="fr-FR" sz="2000" dirty="0">
                <a:solidFill>
                  <a:srgbClr val="C00000"/>
                </a:solidFill>
                <a:latin typeface="Franklin Gothic Medium" panose="020B0603020102020204" pitchFamily="34" charset="0"/>
              </a:rPr>
              <a:t>(Traitements),    </a:t>
            </a:r>
            <a:endParaRPr lang="fr-FR" sz="2000" dirty="0" smtClean="0">
              <a:solidFill>
                <a:srgbClr val="C00000"/>
              </a:solidFill>
              <a:latin typeface="Franklin Gothic Medium" panose="020B0603020102020204" pitchFamily="34" charset="0"/>
            </a:endParaRPr>
          </a:p>
          <a:p>
            <a:r>
              <a:rPr lang="fr-FR" sz="2000" dirty="0">
                <a:solidFill>
                  <a:srgbClr val="C00000"/>
                </a:solidFill>
                <a:latin typeface="Franklin Gothic Medium" panose="020B0603020102020204" pitchFamily="34" charset="0"/>
              </a:rPr>
              <a:t> </a:t>
            </a:r>
            <a:r>
              <a:rPr lang="fr-FR" sz="2000" dirty="0" smtClean="0">
                <a:solidFill>
                  <a:srgbClr val="C00000"/>
                </a:solidFill>
                <a:latin typeface="Franklin Gothic Medium" panose="020B0603020102020204" pitchFamily="34" charset="0"/>
              </a:rPr>
              <a:t>       Blocs </a:t>
            </a:r>
            <a:r>
              <a:rPr lang="fr-FR" sz="2000" dirty="0">
                <a:solidFill>
                  <a:srgbClr val="C00000"/>
                </a:solidFill>
                <a:latin typeface="Franklin Gothic Medium" panose="020B0603020102020204" pitchFamily="34" charset="0"/>
              </a:rPr>
              <a:t>= </a:t>
            </a:r>
            <a:r>
              <a:rPr lang="fr-FR" sz="2000" dirty="0" err="1">
                <a:solidFill>
                  <a:srgbClr val="C00000"/>
                </a:solidFill>
                <a:latin typeface="Franklin Gothic Medium" panose="020B0603020102020204" pitchFamily="34" charset="0"/>
              </a:rPr>
              <a:t>as.factor</a:t>
            </a:r>
            <a:r>
              <a:rPr lang="fr-FR" sz="2000" dirty="0">
                <a:solidFill>
                  <a:srgbClr val="C00000"/>
                </a:solidFill>
                <a:latin typeface="Franklin Gothic Medium" panose="020B0603020102020204" pitchFamily="34" charset="0"/>
              </a:rPr>
              <a:t>(Blocs),    </a:t>
            </a:r>
            <a:endParaRPr lang="fr-FR" sz="2000" dirty="0" smtClean="0">
              <a:solidFill>
                <a:srgbClr val="C00000"/>
              </a:solidFill>
              <a:latin typeface="Franklin Gothic Medium" panose="020B0603020102020204" pitchFamily="34" charset="0"/>
            </a:endParaRPr>
          </a:p>
          <a:p>
            <a:r>
              <a:rPr lang="fr-FR" sz="2000" dirty="0">
                <a:solidFill>
                  <a:srgbClr val="C00000"/>
                </a:solidFill>
                <a:latin typeface="Franklin Gothic Medium" panose="020B0603020102020204" pitchFamily="34" charset="0"/>
              </a:rPr>
              <a:t> </a:t>
            </a:r>
            <a:r>
              <a:rPr lang="fr-FR" sz="2000" dirty="0" smtClean="0">
                <a:solidFill>
                  <a:srgbClr val="C00000"/>
                </a:solidFill>
                <a:latin typeface="Franklin Gothic Medium" panose="020B0603020102020204" pitchFamily="34" charset="0"/>
              </a:rPr>
              <a:t>       Plants </a:t>
            </a:r>
            <a:r>
              <a:rPr lang="fr-FR" sz="2000" dirty="0">
                <a:solidFill>
                  <a:srgbClr val="C00000"/>
                </a:solidFill>
                <a:latin typeface="Franklin Gothic Medium" panose="020B0603020102020204" pitchFamily="34" charset="0"/>
              </a:rPr>
              <a:t>= </a:t>
            </a:r>
            <a:r>
              <a:rPr lang="fr-FR" sz="2000" dirty="0" err="1">
                <a:solidFill>
                  <a:srgbClr val="C00000"/>
                </a:solidFill>
                <a:latin typeface="Franklin Gothic Medium" panose="020B0603020102020204" pitchFamily="34" charset="0"/>
              </a:rPr>
              <a:t>as.factor</a:t>
            </a:r>
            <a:r>
              <a:rPr lang="fr-FR" sz="2000" dirty="0">
                <a:solidFill>
                  <a:srgbClr val="C00000"/>
                </a:solidFill>
                <a:latin typeface="Franklin Gothic Medium" panose="020B0603020102020204" pitchFamily="34" charset="0"/>
              </a:rPr>
              <a:t>(Plants)  </a:t>
            </a:r>
            <a:r>
              <a:rPr lang="fr-FR" sz="2000" dirty="0" smtClean="0">
                <a:solidFill>
                  <a:srgbClr val="C00000"/>
                </a:solidFill>
                <a:latin typeface="Franklin Gothic Medium" panose="020B0603020102020204" pitchFamily="34" charset="0"/>
              </a:rPr>
              <a:t>)</a:t>
            </a:r>
          </a:p>
          <a:p>
            <a:r>
              <a:rPr lang="fr-FR" sz="2000" dirty="0" smtClean="0">
                <a:solidFill>
                  <a:srgbClr val="C00000"/>
                </a:solidFill>
                <a:latin typeface="Franklin Gothic Medium" panose="020B0603020102020204" pitchFamily="34" charset="0"/>
              </a:rPr>
              <a:t># </a:t>
            </a:r>
            <a:r>
              <a:rPr lang="fr-FR" sz="2000" dirty="0">
                <a:solidFill>
                  <a:srgbClr val="C00000"/>
                </a:solidFill>
                <a:latin typeface="Franklin Gothic Medium" panose="020B0603020102020204" pitchFamily="34" charset="0"/>
              </a:rPr>
              <a:t>Normalisation de la variable </a:t>
            </a:r>
            <a:r>
              <a:rPr lang="fr-FR" sz="2000" dirty="0" smtClean="0">
                <a:solidFill>
                  <a:srgbClr val="C00000"/>
                </a:solidFill>
                <a:latin typeface="Franklin Gothic Medium" panose="020B0603020102020204" pitchFamily="34" charset="0"/>
              </a:rPr>
              <a:t>Hauteur</a:t>
            </a:r>
          </a:p>
          <a:p>
            <a:r>
              <a:rPr lang="fr-FR" sz="2000" dirty="0" err="1" smtClean="0">
                <a:solidFill>
                  <a:srgbClr val="C00000"/>
                </a:solidFill>
                <a:latin typeface="Franklin Gothic Medium" panose="020B0603020102020204" pitchFamily="34" charset="0"/>
              </a:rPr>
              <a:t>data_clean</a:t>
            </a:r>
            <a:r>
              <a:rPr lang="fr-FR" sz="2000" dirty="0" smtClean="0">
                <a:solidFill>
                  <a:srgbClr val="C00000"/>
                </a:solidFill>
                <a:latin typeface="Franklin Gothic Medium" panose="020B0603020102020204" pitchFamily="34" charset="0"/>
              </a:rPr>
              <a:t> </a:t>
            </a:r>
            <a:r>
              <a:rPr lang="fr-FR" sz="2000" dirty="0">
                <a:solidFill>
                  <a:srgbClr val="C00000"/>
                </a:solidFill>
                <a:latin typeface="Franklin Gothic Medium" panose="020B0603020102020204" pitchFamily="34" charset="0"/>
              </a:rPr>
              <a:t>&lt;- </a:t>
            </a:r>
            <a:r>
              <a:rPr lang="fr-FR" sz="2000" dirty="0" err="1">
                <a:solidFill>
                  <a:srgbClr val="C00000"/>
                </a:solidFill>
                <a:latin typeface="Franklin Gothic Medium" panose="020B0603020102020204" pitchFamily="34" charset="0"/>
              </a:rPr>
              <a:t>data_clean</a:t>
            </a:r>
            <a:r>
              <a:rPr lang="fr-FR" sz="2000" dirty="0">
                <a:solidFill>
                  <a:srgbClr val="C00000"/>
                </a:solidFill>
                <a:latin typeface="Franklin Gothic Medium" panose="020B0603020102020204" pitchFamily="34" charset="0"/>
              </a:rPr>
              <a:t> %&gt;%  </a:t>
            </a:r>
            <a:endParaRPr lang="fr-FR" sz="2000" dirty="0" smtClean="0">
              <a:solidFill>
                <a:srgbClr val="C00000"/>
              </a:solidFill>
              <a:latin typeface="Franklin Gothic Medium" panose="020B0603020102020204" pitchFamily="34" charset="0"/>
            </a:endParaRPr>
          </a:p>
          <a:p>
            <a:r>
              <a:rPr lang="fr-FR" sz="2000" dirty="0" err="1" smtClean="0">
                <a:solidFill>
                  <a:srgbClr val="C00000"/>
                </a:solidFill>
                <a:latin typeface="Franklin Gothic Medium" panose="020B0603020102020204" pitchFamily="34" charset="0"/>
              </a:rPr>
              <a:t>mutate</a:t>
            </a:r>
            <a:r>
              <a:rPr lang="fr-FR" sz="2000" dirty="0" smtClean="0">
                <a:solidFill>
                  <a:srgbClr val="C00000"/>
                </a:solidFill>
                <a:latin typeface="Franklin Gothic Medium" panose="020B0603020102020204" pitchFamily="34" charset="0"/>
              </a:rPr>
              <a:t>(</a:t>
            </a:r>
          </a:p>
          <a:p>
            <a:r>
              <a:rPr lang="fr-FR" sz="2000" dirty="0" err="1" smtClean="0">
                <a:solidFill>
                  <a:srgbClr val="C00000"/>
                </a:solidFill>
                <a:latin typeface="Franklin Gothic Medium" panose="020B0603020102020204" pitchFamily="34" charset="0"/>
              </a:rPr>
              <a:t>Hauteur_norm</a:t>
            </a:r>
            <a:r>
              <a:rPr lang="fr-FR" sz="2000" dirty="0" smtClean="0">
                <a:solidFill>
                  <a:srgbClr val="C00000"/>
                </a:solidFill>
                <a:latin typeface="Franklin Gothic Medium" panose="020B0603020102020204" pitchFamily="34" charset="0"/>
              </a:rPr>
              <a:t> </a:t>
            </a:r>
            <a:r>
              <a:rPr lang="fr-FR" sz="2000" dirty="0">
                <a:solidFill>
                  <a:srgbClr val="C00000"/>
                </a:solidFill>
                <a:latin typeface="Franklin Gothic Medium" panose="020B0603020102020204" pitchFamily="34" charset="0"/>
              </a:rPr>
              <a:t>= (Hauteur - min(Hauteur)) /          </a:t>
            </a:r>
            <a:endParaRPr lang="fr-FR" sz="2000" dirty="0" smtClean="0">
              <a:solidFill>
                <a:srgbClr val="C00000"/>
              </a:solidFill>
              <a:latin typeface="Franklin Gothic Medium" panose="020B0603020102020204" pitchFamily="34" charset="0"/>
            </a:endParaRPr>
          </a:p>
          <a:p>
            <a:r>
              <a:rPr lang="fr-FR" sz="2000" dirty="0" smtClean="0">
                <a:solidFill>
                  <a:srgbClr val="C00000"/>
                </a:solidFill>
                <a:latin typeface="Franklin Gothic Medium" panose="020B0603020102020204" pitchFamily="34" charset="0"/>
              </a:rPr>
              <a:t> </a:t>
            </a:r>
            <a:r>
              <a:rPr lang="fr-FR" sz="2000" dirty="0">
                <a:solidFill>
                  <a:srgbClr val="C00000"/>
                </a:solidFill>
                <a:latin typeface="Franklin Gothic Medium" panose="020B0603020102020204" pitchFamily="34" charset="0"/>
              </a:rPr>
              <a:t>(max(Hauteur) - min(Hauteur</a:t>
            </a:r>
            <a:r>
              <a:rPr lang="fr-FR" sz="2000" dirty="0" smtClean="0">
                <a:solidFill>
                  <a:srgbClr val="C00000"/>
                </a:solidFill>
                <a:latin typeface="Franklin Gothic Medium" panose="020B0603020102020204" pitchFamily="34" charset="0"/>
              </a:rPr>
              <a:t>)))</a:t>
            </a:r>
          </a:p>
          <a:p>
            <a:r>
              <a:rPr lang="fr-FR" sz="2000" dirty="0" smtClean="0">
                <a:solidFill>
                  <a:srgbClr val="C00000"/>
                </a:solidFill>
                <a:latin typeface="Franklin Gothic Medium" panose="020B0603020102020204" pitchFamily="34" charset="0"/>
              </a:rPr>
              <a:t># </a:t>
            </a:r>
            <a:r>
              <a:rPr lang="fr-FR" sz="2000" dirty="0">
                <a:solidFill>
                  <a:srgbClr val="C00000"/>
                </a:solidFill>
                <a:latin typeface="Franklin Gothic Medium" panose="020B0603020102020204" pitchFamily="34" charset="0"/>
              </a:rPr>
              <a:t>Création de la variable Surface </a:t>
            </a:r>
            <a:r>
              <a:rPr lang="fr-FR" sz="2000" dirty="0" smtClean="0">
                <a:solidFill>
                  <a:srgbClr val="C00000"/>
                </a:solidFill>
                <a:latin typeface="Franklin Gothic Medium" panose="020B0603020102020204" pitchFamily="34" charset="0"/>
              </a:rPr>
              <a:t>foliaire</a:t>
            </a:r>
          </a:p>
          <a:p>
            <a:r>
              <a:rPr lang="fr-FR" sz="2000" dirty="0" err="1" smtClean="0">
                <a:solidFill>
                  <a:srgbClr val="C00000"/>
                </a:solidFill>
                <a:latin typeface="Franklin Gothic Medium" panose="020B0603020102020204" pitchFamily="34" charset="0"/>
              </a:rPr>
              <a:t>data_clean</a:t>
            </a:r>
            <a:r>
              <a:rPr lang="fr-FR" sz="2000" dirty="0" smtClean="0">
                <a:solidFill>
                  <a:srgbClr val="C00000"/>
                </a:solidFill>
                <a:latin typeface="Franklin Gothic Medium" panose="020B0603020102020204" pitchFamily="34" charset="0"/>
              </a:rPr>
              <a:t> </a:t>
            </a:r>
            <a:r>
              <a:rPr lang="fr-FR" sz="2000" dirty="0">
                <a:solidFill>
                  <a:srgbClr val="C00000"/>
                </a:solidFill>
                <a:latin typeface="Franklin Gothic Medium" panose="020B0603020102020204" pitchFamily="34" charset="0"/>
              </a:rPr>
              <a:t>&lt;- </a:t>
            </a:r>
            <a:r>
              <a:rPr lang="fr-FR" sz="2000" dirty="0" err="1">
                <a:solidFill>
                  <a:srgbClr val="C00000"/>
                </a:solidFill>
                <a:latin typeface="Franklin Gothic Medium" panose="020B0603020102020204" pitchFamily="34" charset="0"/>
              </a:rPr>
              <a:t>data_clean</a:t>
            </a:r>
            <a:r>
              <a:rPr lang="fr-FR" sz="2000" dirty="0">
                <a:solidFill>
                  <a:srgbClr val="C00000"/>
                </a:solidFill>
                <a:latin typeface="Franklin Gothic Medium" panose="020B0603020102020204" pitchFamily="34" charset="0"/>
              </a:rPr>
              <a:t> %&gt;%  </a:t>
            </a:r>
            <a:endParaRPr lang="fr-FR" sz="2000" dirty="0" smtClean="0">
              <a:solidFill>
                <a:srgbClr val="C00000"/>
              </a:solidFill>
              <a:latin typeface="Franklin Gothic Medium" panose="020B0603020102020204" pitchFamily="34" charset="0"/>
            </a:endParaRPr>
          </a:p>
          <a:p>
            <a:r>
              <a:rPr lang="fr-FR" sz="2000" dirty="0">
                <a:solidFill>
                  <a:srgbClr val="C00000"/>
                </a:solidFill>
                <a:latin typeface="Franklin Gothic Medium" panose="020B0603020102020204" pitchFamily="34" charset="0"/>
              </a:rPr>
              <a:t> </a:t>
            </a:r>
            <a:r>
              <a:rPr lang="fr-FR" sz="2000" dirty="0" smtClean="0">
                <a:solidFill>
                  <a:srgbClr val="C00000"/>
                </a:solidFill>
                <a:latin typeface="Franklin Gothic Medium" panose="020B0603020102020204" pitchFamily="34" charset="0"/>
              </a:rPr>
              <a:t>           </a:t>
            </a:r>
            <a:r>
              <a:rPr lang="fr-FR" sz="2000" dirty="0" err="1" smtClean="0">
                <a:solidFill>
                  <a:srgbClr val="C00000"/>
                </a:solidFill>
                <a:latin typeface="Franklin Gothic Medium" panose="020B0603020102020204" pitchFamily="34" charset="0"/>
              </a:rPr>
              <a:t>mutate</a:t>
            </a:r>
            <a:r>
              <a:rPr lang="fr-FR" sz="2000" dirty="0" smtClean="0">
                <a:solidFill>
                  <a:srgbClr val="C00000"/>
                </a:solidFill>
                <a:latin typeface="Franklin Gothic Medium" panose="020B0603020102020204" pitchFamily="34" charset="0"/>
              </a:rPr>
              <a:t>(</a:t>
            </a:r>
            <a:r>
              <a:rPr lang="fr-FR" sz="2000" dirty="0" err="1" smtClean="0">
                <a:solidFill>
                  <a:srgbClr val="C00000"/>
                </a:solidFill>
                <a:latin typeface="Franklin Gothic Medium" panose="020B0603020102020204" pitchFamily="34" charset="0"/>
              </a:rPr>
              <a:t>Surface_Foliaire</a:t>
            </a:r>
            <a:r>
              <a:rPr lang="fr-FR" sz="2000" dirty="0" smtClean="0">
                <a:solidFill>
                  <a:srgbClr val="C00000"/>
                </a:solidFill>
                <a:latin typeface="Franklin Gothic Medium" panose="020B0603020102020204" pitchFamily="34" charset="0"/>
              </a:rPr>
              <a:t> </a:t>
            </a:r>
            <a:r>
              <a:rPr lang="fr-FR" sz="2000" dirty="0">
                <a:solidFill>
                  <a:srgbClr val="C00000"/>
                </a:solidFill>
                <a:latin typeface="Franklin Gothic Medium" panose="020B0603020102020204" pitchFamily="34" charset="0"/>
              </a:rPr>
              <a:t>= </a:t>
            </a:r>
            <a:r>
              <a:rPr lang="fr-FR" sz="2000" dirty="0" err="1">
                <a:solidFill>
                  <a:srgbClr val="C00000"/>
                </a:solidFill>
                <a:latin typeface="Franklin Gothic Medium" panose="020B0603020102020204" pitchFamily="34" charset="0"/>
              </a:rPr>
              <a:t>Longeur</a:t>
            </a:r>
            <a:r>
              <a:rPr lang="fr-FR" sz="2000" dirty="0">
                <a:solidFill>
                  <a:srgbClr val="C00000"/>
                </a:solidFill>
                <a:latin typeface="Franklin Gothic Medium" panose="020B0603020102020204" pitchFamily="34" charset="0"/>
              </a:rPr>
              <a:t> * Largeur * </a:t>
            </a:r>
            <a:r>
              <a:rPr lang="fr-FR" sz="2000" dirty="0" err="1">
                <a:solidFill>
                  <a:srgbClr val="C00000"/>
                </a:solidFill>
                <a:latin typeface="Franklin Gothic Medium" panose="020B0603020102020204" pitchFamily="34" charset="0"/>
              </a:rPr>
              <a:t>F_Correct</a:t>
            </a:r>
            <a:r>
              <a:rPr lang="fr-FR" sz="2000" dirty="0">
                <a:solidFill>
                  <a:srgbClr val="C00000"/>
                </a:solidFill>
                <a:latin typeface="Franklin Gothic Medium" panose="020B0603020102020204" pitchFamily="34" charset="0"/>
              </a:rPr>
              <a:t>)</a:t>
            </a:r>
            <a:endParaRPr lang="fr-FR" sz="2000"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155921998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45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3" name="ZoneTexte 12"/>
          <p:cNvSpPr txBox="1"/>
          <p:nvPr/>
        </p:nvSpPr>
        <p:spPr>
          <a:xfrm>
            <a:off x="1" y="1355862"/>
            <a:ext cx="12191999" cy="4154984"/>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Cette étape permet de préparer les données pour l’analyse statistique et la modélisation, en adaptant leur format et en créant de nouvelles variables utiles</a:t>
            </a:r>
            <a:r>
              <a:rPr lang="fr-FR" sz="2400" dirty="0" smtClean="0">
                <a:latin typeface="Franklin Gothic Medium" panose="020B0603020102020204" pitchFamily="34" charset="0"/>
              </a:rPr>
              <a:t>.</a:t>
            </a:r>
          </a:p>
          <a:p>
            <a:pPr algn="just"/>
            <a:endParaRPr lang="fr-FR" sz="2400" dirty="0" smtClean="0">
              <a:solidFill>
                <a:srgbClr val="C00000"/>
              </a:solidFill>
              <a:latin typeface="Franklin Gothic Medium" panose="020B0603020102020204" pitchFamily="34" charset="0"/>
            </a:endParaRPr>
          </a:p>
          <a:p>
            <a:pPr algn="just"/>
            <a:r>
              <a:rPr lang="fr-FR" sz="2400" dirty="0" smtClean="0">
                <a:solidFill>
                  <a:srgbClr val="C00000"/>
                </a:solidFill>
                <a:latin typeface="Franklin Gothic Medium" panose="020B0603020102020204" pitchFamily="34" charset="0"/>
              </a:rPr>
              <a:t>Fonctions utilisées</a:t>
            </a:r>
          </a:p>
          <a:p>
            <a:pPr algn="just"/>
            <a:endParaRPr lang="fr-FR" sz="2400" dirty="0" smtClean="0">
              <a:solidFill>
                <a:schemeClr val="accent6">
                  <a:lumMod val="50000"/>
                </a:schemeClr>
              </a:solidFill>
              <a:latin typeface="Franklin Gothic Medium" panose="020B0603020102020204" pitchFamily="34" charset="0"/>
            </a:endParaRPr>
          </a:p>
          <a:p>
            <a:pPr algn="just"/>
            <a:r>
              <a:rPr lang="fr-FR" sz="2400" dirty="0" err="1" smtClean="0">
                <a:solidFill>
                  <a:schemeClr val="accent6">
                    <a:lumMod val="50000"/>
                  </a:schemeClr>
                </a:solidFill>
                <a:latin typeface="Franklin Gothic Medium" panose="020B0603020102020204" pitchFamily="34" charset="0"/>
              </a:rPr>
              <a:t>mutate</a:t>
            </a:r>
            <a:r>
              <a:rPr lang="fr-FR" sz="2400" dirty="0" smtClean="0">
                <a:solidFill>
                  <a:schemeClr val="accent6">
                    <a:lumMod val="50000"/>
                  </a:schemeClr>
                </a:solidFill>
                <a:latin typeface="Franklin Gothic Medium" panose="020B0603020102020204" pitchFamily="34" charset="0"/>
              </a:rPr>
              <a:t>() (package </a:t>
            </a:r>
            <a:r>
              <a:rPr lang="fr-FR" sz="2400" dirty="0" err="1" smtClean="0">
                <a:solidFill>
                  <a:schemeClr val="accent6">
                    <a:lumMod val="50000"/>
                  </a:schemeClr>
                </a:solidFill>
                <a:latin typeface="Franklin Gothic Medium" panose="020B0603020102020204" pitchFamily="34" charset="0"/>
              </a:rPr>
              <a:t>dplyr</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Permet</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de créer ou modifier des variables dans un jeu de données.</a:t>
            </a:r>
          </a:p>
          <a:p>
            <a:pPr algn="just"/>
            <a:endParaRPr lang="fr-FR" sz="2400" dirty="0" smtClean="0">
              <a:solidFill>
                <a:schemeClr val="accent6">
                  <a:lumMod val="50000"/>
                </a:schemeClr>
              </a:solidFill>
              <a:latin typeface="Franklin Gothic Medium" panose="020B0603020102020204" pitchFamily="34" charset="0"/>
            </a:endParaRPr>
          </a:p>
          <a:p>
            <a:pPr algn="just"/>
            <a:r>
              <a:rPr lang="fr-FR" sz="2400" dirty="0" err="1" smtClean="0">
                <a:solidFill>
                  <a:schemeClr val="accent6">
                    <a:lumMod val="50000"/>
                  </a:schemeClr>
                </a:solidFill>
                <a:latin typeface="Franklin Gothic Medium" panose="020B0603020102020204" pitchFamily="34" charset="0"/>
              </a:rPr>
              <a:t>as.factor</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Convertit </a:t>
            </a:r>
            <a:r>
              <a:rPr lang="fr-FR" sz="2400" dirty="0">
                <a:latin typeface="Franklin Gothic Medium" panose="020B0603020102020204" pitchFamily="34" charset="0"/>
              </a:rPr>
              <a:t>une variable en facteur (variable qualitative)→ utile pour les analyses statistiques (ANOVA, modèles expérimentaux</a:t>
            </a:r>
            <a:r>
              <a:rPr lang="fr-FR" sz="2400" dirty="0" smtClean="0">
                <a:latin typeface="Franklin Gothic Medium" panose="020B0603020102020204" pitchFamily="34" charset="0"/>
              </a:rPr>
              <a:t>)</a:t>
            </a:r>
          </a:p>
          <a:p>
            <a:pPr algn="just"/>
            <a:endParaRPr lang="fr-FR" sz="2400" dirty="0" smtClean="0">
              <a:solidFill>
                <a:schemeClr val="accent6">
                  <a:lumMod val="50000"/>
                </a:schemeClr>
              </a:solidFill>
              <a:latin typeface="Franklin Gothic Medium" panose="020B0603020102020204" pitchFamily="34" charset="0"/>
            </a:endParaRPr>
          </a:p>
          <a:p>
            <a:pPr algn="just"/>
            <a:r>
              <a:rPr lang="fr-FR" sz="2400" dirty="0" smtClean="0">
                <a:solidFill>
                  <a:schemeClr val="accent6">
                    <a:lumMod val="50000"/>
                  </a:schemeClr>
                </a:solidFill>
                <a:latin typeface="Franklin Gothic Medium" panose="020B0603020102020204" pitchFamily="34" charset="0"/>
              </a:rPr>
              <a:t>min</a:t>
            </a:r>
            <a:r>
              <a:rPr lang="fr-FR" sz="2400" dirty="0">
                <a:solidFill>
                  <a:schemeClr val="accent6">
                    <a:lumMod val="50000"/>
                  </a:schemeClr>
                </a:solidFill>
                <a:latin typeface="Franklin Gothic Medium" panose="020B0603020102020204" pitchFamily="34" charset="0"/>
              </a:rPr>
              <a:t>() et max</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Donnent </a:t>
            </a:r>
            <a:r>
              <a:rPr lang="fr-FR" sz="2400" dirty="0">
                <a:latin typeface="Franklin Gothic Medium" panose="020B0603020102020204" pitchFamily="34" charset="0"/>
              </a:rPr>
              <a:t>respectivement la valeur minimale et maximale d’une variable</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411224846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6792686" cy="7473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46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1" name="Rectangle 10"/>
          <p:cNvSpPr/>
          <p:nvPr/>
        </p:nvSpPr>
        <p:spPr>
          <a:xfrm>
            <a:off x="-3" y="750359"/>
            <a:ext cx="12191999" cy="265383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p:cNvSpPr txBox="1"/>
          <p:nvPr/>
        </p:nvSpPr>
        <p:spPr>
          <a:xfrm>
            <a:off x="0" y="758084"/>
            <a:ext cx="12052663" cy="2677656"/>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4. Statistiques descriptives# </a:t>
            </a:r>
            <a:r>
              <a:rPr lang="fr-FR" sz="2400" dirty="0" smtClean="0">
                <a:solidFill>
                  <a:srgbClr val="C00000"/>
                </a:solidFill>
                <a:latin typeface="Franklin Gothic Medium" panose="020B0603020102020204" pitchFamily="34" charset="0"/>
              </a:rPr>
              <a:t>Moyenne, médiane</a:t>
            </a:r>
          </a:p>
          <a:p>
            <a:r>
              <a:rPr lang="fr-FR" sz="2400" dirty="0" err="1" smtClean="0">
                <a:solidFill>
                  <a:srgbClr val="C00000"/>
                </a:solidFill>
                <a:latin typeface="Franklin Gothic Medium" panose="020B0603020102020204" pitchFamily="34" charset="0"/>
              </a:rPr>
              <a:t>mean</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data_clean$Hauteur</a:t>
            </a:r>
            <a:r>
              <a:rPr lang="fr-FR" sz="2400" dirty="0" smtClean="0">
                <a:solidFill>
                  <a:srgbClr val="C00000"/>
                </a:solidFill>
                <a:latin typeface="Franklin Gothic Medium" panose="020B0603020102020204" pitchFamily="34" charset="0"/>
              </a:rPr>
              <a:t>)</a:t>
            </a:r>
          </a:p>
          <a:p>
            <a:r>
              <a:rPr lang="fr-FR" sz="2400" dirty="0" err="1" smtClean="0">
                <a:solidFill>
                  <a:srgbClr val="C00000"/>
                </a:solidFill>
                <a:latin typeface="Franklin Gothic Medium" panose="020B0603020102020204" pitchFamily="34" charset="0"/>
              </a:rPr>
              <a:t>median</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data_clean$Hauteur</a:t>
            </a:r>
            <a:r>
              <a:rPr lang="fr-FR" sz="2400" dirty="0" smtClean="0">
                <a:solidFill>
                  <a:srgbClr val="C00000"/>
                </a:solidFill>
                <a:latin typeface="Franklin Gothic Medium" panose="020B0603020102020204" pitchFamily="34" charset="0"/>
              </a:rPr>
              <a:t>)</a:t>
            </a:r>
          </a:p>
          <a:p>
            <a:r>
              <a:rPr lang="fr-FR" sz="2400" dirty="0" err="1" smtClean="0">
                <a:solidFill>
                  <a:srgbClr val="C00000"/>
                </a:solidFill>
                <a:latin typeface="Franklin Gothic Medium" panose="020B0603020102020204" pitchFamily="34" charset="0"/>
              </a:rPr>
              <a:t>median</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data_clean$Diametre</a:t>
            </a:r>
            <a:r>
              <a:rPr lang="fr-FR" sz="2400" dirty="0" smtClean="0">
                <a:solidFill>
                  <a:srgbClr val="C00000"/>
                </a:solidFill>
                <a:latin typeface="Franklin Gothic Medium" panose="020B0603020102020204" pitchFamily="34" charset="0"/>
              </a:rPr>
              <a:t>))</a:t>
            </a:r>
          </a:p>
          <a:p>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Fonction pour calculer le </a:t>
            </a:r>
            <a:r>
              <a:rPr lang="fr-FR" sz="2400" dirty="0" smtClean="0">
                <a:solidFill>
                  <a:srgbClr val="C00000"/>
                </a:solidFill>
                <a:latin typeface="Franklin Gothic Medium" panose="020B0603020102020204" pitchFamily="34" charset="0"/>
              </a:rPr>
              <a:t>mode</a:t>
            </a:r>
          </a:p>
          <a:p>
            <a:r>
              <a:rPr lang="fr-FR" sz="2400" dirty="0" err="1" smtClean="0">
                <a:solidFill>
                  <a:srgbClr val="C00000"/>
                </a:solidFill>
                <a:latin typeface="Franklin Gothic Medium" panose="020B0603020102020204" pitchFamily="34" charset="0"/>
              </a:rPr>
              <a:t>mode_func</a:t>
            </a:r>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&lt;- </a:t>
            </a:r>
            <a:r>
              <a:rPr lang="fr-FR" sz="2400" dirty="0" err="1">
                <a:solidFill>
                  <a:srgbClr val="C00000"/>
                </a:solidFill>
                <a:latin typeface="Franklin Gothic Medium" panose="020B0603020102020204" pitchFamily="34" charset="0"/>
              </a:rPr>
              <a:t>function</a:t>
            </a:r>
            <a:r>
              <a:rPr lang="fr-FR" sz="2400" dirty="0">
                <a:solidFill>
                  <a:srgbClr val="C00000"/>
                </a:solidFill>
                <a:latin typeface="Franklin Gothic Medium" panose="020B0603020102020204" pitchFamily="34" charset="0"/>
              </a:rPr>
              <a:t>(x) {  </a:t>
            </a:r>
            <a:r>
              <a:rPr lang="fr-FR" sz="2400" dirty="0" err="1">
                <a:solidFill>
                  <a:srgbClr val="C00000"/>
                </a:solidFill>
                <a:latin typeface="Franklin Gothic Medium" panose="020B0603020102020204" pitchFamily="34" charset="0"/>
              </a:rPr>
              <a:t>ux</a:t>
            </a:r>
            <a:r>
              <a:rPr lang="fr-FR" sz="2400" dirty="0">
                <a:solidFill>
                  <a:srgbClr val="C00000"/>
                </a:solidFill>
                <a:latin typeface="Franklin Gothic Medium" panose="020B0603020102020204" pitchFamily="34" charset="0"/>
              </a:rPr>
              <a:t> &lt;- unique(x)  </a:t>
            </a:r>
            <a:r>
              <a:rPr lang="fr-FR" sz="2400" dirty="0" err="1">
                <a:solidFill>
                  <a:srgbClr val="C00000"/>
                </a:solidFill>
                <a:latin typeface="Franklin Gothic Medium" panose="020B0603020102020204" pitchFamily="34" charset="0"/>
              </a:rPr>
              <a:t>ux</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which.max</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tabulate</a:t>
            </a:r>
            <a:r>
              <a:rPr lang="fr-FR" sz="2400" dirty="0">
                <a:solidFill>
                  <a:srgbClr val="C00000"/>
                </a:solidFill>
                <a:latin typeface="Franklin Gothic Medium" panose="020B0603020102020204" pitchFamily="34" charset="0"/>
              </a:rPr>
              <a:t>(match(x, </a:t>
            </a:r>
            <a:r>
              <a:rPr lang="fr-FR" sz="2400" dirty="0" err="1">
                <a:solidFill>
                  <a:srgbClr val="C00000"/>
                </a:solidFill>
                <a:latin typeface="Franklin Gothic Medium" panose="020B0603020102020204" pitchFamily="34" charset="0"/>
              </a:rPr>
              <a:t>ux</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mode_func</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data_clean$Hauteur</a:t>
            </a:r>
            <a:r>
              <a:rPr lang="fr-FR" sz="2400" dirty="0">
                <a:solidFill>
                  <a:srgbClr val="C00000"/>
                </a:solidFill>
                <a:latin typeface="Franklin Gothic Medium" panose="020B0603020102020204" pitchFamily="34" charset="0"/>
              </a:rPr>
              <a:t>)</a:t>
            </a:r>
            <a:endParaRPr lang="fr-FR" sz="2400" dirty="0">
              <a:solidFill>
                <a:srgbClr val="C00000"/>
              </a:solidFill>
              <a:latin typeface="Franklin Gothic Medium" panose="020B0603020102020204" pitchFamily="34" charset="0"/>
            </a:endParaRPr>
          </a:p>
        </p:txBody>
      </p:sp>
      <p:sp>
        <p:nvSpPr>
          <p:cNvPr id="14" name="ZoneTexte 13"/>
          <p:cNvSpPr txBox="1"/>
          <p:nvPr/>
        </p:nvSpPr>
        <p:spPr>
          <a:xfrm>
            <a:off x="1" y="3544127"/>
            <a:ext cx="12191999" cy="2862322"/>
          </a:xfrm>
          <a:prstGeom prst="rect">
            <a:avLst/>
          </a:prstGeom>
          <a:solidFill>
            <a:schemeClr val="accent2">
              <a:lumMod val="20000"/>
              <a:lumOff val="80000"/>
            </a:schemeClr>
          </a:solidFill>
        </p:spPr>
        <p:txBody>
          <a:bodyPr wrap="square" rtlCol="0">
            <a:spAutoFit/>
          </a:bodyPr>
          <a:lstStyle/>
          <a:p>
            <a:pPr algn="just"/>
            <a:r>
              <a:rPr lang="fr-FR" sz="2000" dirty="0" err="1" smtClean="0">
                <a:solidFill>
                  <a:schemeClr val="accent6">
                    <a:lumMod val="50000"/>
                  </a:schemeClr>
                </a:solidFill>
                <a:latin typeface="Franklin Gothic Medium" panose="020B0603020102020204" pitchFamily="34" charset="0"/>
              </a:rPr>
              <a:t>mean</a:t>
            </a:r>
            <a:r>
              <a:rPr lang="fr-FR" sz="2000" dirty="0" smtClean="0">
                <a:solidFill>
                  <a:schemeClr val="accent6">
                    <a:lumMod val="50000"/>
                  </a:schemeClr>
                </a:solidFill>
                <a:latin typeface="Franklin Gothic Medium" panose="020B0603020102020204" pitchFamily="34" charset="0"/>
              </a:rPr>
              <a:t>(</a:t>
            </a:r>
            <a:r>
              <a:rPr lang="fr-FR" sz="2000" dirty="0" err="1" smtClean="0">
                <a:solidFill>
                  <a:schemeClr val="accent6">
                    <a:lumMod val="50000"/>
                  </a:schemeClr>
                </a:solidFill>
                <a:latin typeface="Franklin Gothic Medium" panose="020B0603020102020204" pitchFamily="34" charset="0"/>
              </a:rPr>
              <a:t>data_clean$Hauteur</a:t>
            </a:r>
            <a:r>
              <a:rPr lang="fr-FR" sz="2000" dirty="0" smtClean="0">
                <a:solidFill>
                  <a:schemeClr val="accent6">
                    <a:lumMod val="50000"/>
                  </a:schemeClr>
                </a:solidFill>
                <a:latin typeface="Franklin Gothic Medium" panose="020B0603020102020204" pitchFamily="34" charset="0"/>
              </a:rPr>
              <a:t>)</a:t>
            </a:r>
          </a:p>
          <a:p>
            <a:pPr algn="just"/>
            <a:r>
              <a:rPr lang="fr-FR" sz="2000" dirty="0">
                <a:latin typeface="Franklin Gothic Medium" panose="020B0603020102020204" pitchFamily="34" charset="0"/>
              </a:rPr>
              <a:t>Représente la valeur moyenne de la hauteur des plants, utile pour comparer les traitements</a:t>
            </a:r>
            <a:r>
              <a:rPr lang="fr-FR" sz="2000" dirty="0" smtClean="0">
                <a:latin typeface="Franklin Gothic Medium" panose="020B0603020102020204" pitchFamily="34" charset="0"/>
              </a:rPr>
              <a:t>.</a:t>
            </a:r>
          </a:p>
          <a:p>
            <a:pPr algn="just"/>
            <a:r>
              <a:rPr lang="fr-FR" sz="2000" dirty="0" err="1">
                <a:solidFill>
                  <a:schemeClr val="accent6">
                    <a:lumMod val="50000"/>
                  </a:schemeClr>
                </a:solidFill>
                <a:latin typeface="Franklin Gothic Medium" panose="020B0603020102020204" pitchFamily="34" charset="0"/>
              </a:rPr>
              <a:t>median</a:t>
            </a:r>
            <a:r>
              <a:rPr lang="fr-FR" sz="2000" dirty="0">
                <a:solidFill>
                  <a:schemeClr val="accent6">
                    <a:lumMod val="50000"/>
                  </a:schemeClr>
                </a:solidFill>
                <a:latin typeface="Franklin Gothic Medium" panose="020B0603020102020204" pitchFamily="34" charset="0"/>
              </a:rPr>
              <a:t>(</a:t>
            </a:r>
            <a:r>
              <a:rPr lang="fr-FR" sz="2000" dirty="0" err="1">
                <a:solidFill>
                  <a:schemeClr val="accent6">
                    <a:lumMod val="50000"/>
                  </a:schemeClr>
                </a:solidFill>
                <a:latin typeface="Franklin Gothic Medium" panose="020B0603020102020204" pitchFamily="34" charset="0"/>
              </a:rPr>
              <a:t>data_clean$Hauteur</a:t>
            </a:r>
            <a:r>
              <a:rPr lang="fr-FR" sz="2000" dirty="0" smtClean="0">
                <a:solidFill>
                  <a:schemeClr val="accent6">
                    <a:lumMod val="50000"/>
                  </a:schemeClr>
                </a:solidFill>
                <a:latin typeface="Franklin Gothic Medium" panose="020B0603020102020204" pitchFamily="34" charset="0"/>
              </a:rPr>
              <a:t>)</a:t>
            </a:r>
          </a:p>
          <a:p>
            <a:pPr algn="just"/>
            <a:r>
              <a:rPr lang="fr-FR" sz="2000" dirty="0" err="1" smtClean="0">
                <a:solidFill>
                  <a:schemeClr val="accent6">
                    <a:lumMod val="50000"/>
                  </a:schemeClr>
                </a:solidFill>
                <a:latin typeface="Franklin Gothic Medium" panose="020B0603020102020204" pitchFamily="34" charset="0"/>
              </a:rPr>
              <a:t>median</a:t>
            </a:r>
            <a:r>
              <a:rPr lang="fr-FR" sz="2000" dirty="0" smtClean="0">
                <a:solidFill>
                  <a:schemeClr val="accent6">
                    <a:lumMod val="50000"/>
                  </a:schemeClr>
                </a:solidFill>
                <a:latin typeface="Franklin Gothic Medium" panose="020B0603020102020204" pitchFamily="34" charset="0"/>
              </a:rPr>
              <a:t>(</a:t>
            </a:r>
            <a:r>
              <a:rPr lang="fr-FR" sz="2000" dirty="0" err="1" smtClean="0">
                <a:solidFill>
                  <a:schemeClr val="accent6">
                    <a:lumMod val="50000"/>
                  </a:schemeClr>
                </a:solidFill>
                <a:latin typeface="Franklin Gothic Medium" panose="020B0603020102020204" pitchFamily="34" charset="0"/>
              </a:rPr>
              <a:t>data_clean$Diametre</a:t>
            </a:r>
            <a:r>
              <a:rPr lang="fr-FR" sz="2000" dirty="0" smtClean="0">
                <a:solidFill>
                  <a:schemeClr val="accent6">
                    <a:lumMod val="50000"/>
                  </a:schemeClr>
                </a:solidFill>
                <a:latin typeface="Franklin Gothic Medium" panose="020B0603020102020204" pitchFamily="34" charset="0"/>
              </a:rPr>
              <a:t>)</a:t>
            </a:r>
          </a:p>
          <a:p>
            <a:pPr algn="just"/>
            <a:r>
              <a:rPr lang="fr-FR" sz="2000" dirty="0" smtClean="0">
                <a:latin typeface="Franklin Gothic Medium" panose="020B0603020102020204" pitchFamily="34" charset="0"/>
              </a:rPr>
              <a:t>Calcule </a:t>
            </a:r>
            <a:r>
              <a:rPr lang="fr-FR" sz="2000" dirty="0">
                <a:latin typeface="Franklin Gothic Medium" panose="020B0603020102020204" pitchFamily="34" charset="0"/>
              </a:rPr>
              <a:t>la valeur centrale d’une variable ordonnée</a:t>
            </a:r>
            <a:r>
              <a:rPr lang="fr-FR" sz="2000" dirty="0" smtClean="0">
                <a:latin typeface="Franklin Gothic Medium" panose="020B0603020102020204" pitchFamily="34" charset="0"/>
              </a:rPr>
              <a:t>.</a:t>
            </a:r>
          </a:p>
          <a:p>
            <a:pPr algn="just"/>
            <a:r>
              <a:rPr lang="fr-FR" sz="2000" dirty="0" smtClean="0">
                <a:solidFill>
                  <a:srgbClr val="C00000"/>
                </a:solidFill>
                <a:latin typeface="Franklin Gothic Medium" panose="020B0603020102020204" pitchFamily="34" charset="0"/>
              </a:rPr>
              <a:t>Interprétation :</a:t>
            </a:r>
          </a:p>
          <a:p>
            <a:pPr algn="just"/>
            <a:r>
              <a:rPr lang="fr-FR" sz="2000" dirty="0" smtClean="0">
                <a:latin typeface="Franklin Gothic Medium" panose="020B0603020102020204" pitchFamily="34" charset="0"/>
              </a:rPr>
              <a:t>50 </a:t>
            </a:r>
            <a:r>
              <a:rPr lang="fr-FR" sz="2000" dirty="0">
                <a:latin typeface="Franklin Gothic Medium" panose="020B0603020102020204" pitchFamily="34" charset="0"/>
              </a:rPr>
              <a:t>% des observations sont </a:t>
            </a:r>
            <a:r>
              <a:rPr lang="fr-FR" sz="2000" dirty="0" smtClean="0">
                <a:latin typeface="Franklin Gothic Medium" panose="020B0603020102020204" pitchFamily="34" charset="0"/>
              </a:rPr>
              <a:t>inférieures</a:t>
            </a:r>
          </a:p>
          <a:p>
            <a:pPr algn="just"/>
            <a:r>
              <a:rPr lang="fr-FR" sz="2000" dirty="0" smtClean="0">
                <a:latin typeface="Franklin Gothic Medium" panose="020B0603020102020204" pitchFamily="34" charset="0"/>
              </a:rPr>
              <a:t>50 </a:t>
            </a:r>
            <a:r>
              <a:rPr lang="fr-FR" sz="2000" dirty="0">
                <a:latin typeface="Franklin Gothic Medium" panose="020B0603020102020204" pitchFamily="34" charset="0"/>
              </a:rPr>
              <a:t>% sont </a:t>
            </a:r>
            <a:r>
              <a:rPr lang="fr-FR" sz="2000" dirty="0" smtClean="0">
                <a:latin typeface="Franklin Gothic Medium" panose="020B0603020102020204" pitchFamily="34" charset="0"/>
              </a:rPr>
              <a:t>supérieures </a:t>
            </a:r>
          </a:p>
          <a:p>
            <a:pPr algn="just"/>
            <a:r>
              <a:rPr lang="fr-FR" sz="2000" dirty="0" smtClean="0">
                <a:latin typeface="Franklin Gothic Medium" panose="020B0603020102020204" pitchFamily="34" charset="0"/>
              </a:rPr>
              <a:t>Plus </a:t>
            </a:r>
            <a:r>
              <a:rPr lang="fr-FR" sz="2000" dirty="0">
                <a:latin typeface="Franklin Gothic Medium" panose="020B0603020102020204" pitchFamily="34" charset="0"/>
              </a:rPr>
              <a:t>robuste que la moyenne en présence de valeurs aberrantes.</a:t>
            </a:r>
            <a:endParaRPr lang="fr-FR" sz="2000" dirty="0">
              <a:latin typeface="Franklin Gothic Medium" panose="020B0603020102020204" pitchFamily="34" charset="0"/>
            </a:endParaRPr>
          </a:p>
        </p:txBody>
      </p:sp>
    </p:spTree>
    <p:extLst>
      <p:ext uri="{BB962C8B-B14F-4D97-AF65-F5344CB8AC3E}">
        <p14:creationId xmlns:p14="http://schemas.microsoft.com/office/powerpoint/2010/main" val="25009347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47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1" name="Rectangle 10"/>
          <p:cNvSpPr/>
          <p:nvPr/>
        </p:nvSpPr>
        <p:spPr>
          <a:xfrm>
            <a:off x="-4" y="931120"/>
            <a:ext cx="12191999" cy="306700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p:cNvSpPr txBox="1"/>
          <p:nvPr/>
        </p:nvSpPr>
        <p:spPr>
          <a:xfrm>
            <a:off x="-4" y="1059548"/>
            <a:ext cx="12052663" cy="2677656"/>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4. Statistiques descriptives# </a:t>
            </a:r>
            <a:r>
              <a:rPr lang="fr-FR" sz="2400" dirty="0" smtClean="0">
                <a:solidFill>
                  <a:srgbClr val="C00000"/>
                </a:solidFill>
                <a:latin typeface="Franklin Gothic Medium" panose="020B0603020102020204" pitchFamily="34" charset="0"/>
              </a:rPr>
              <a:t>Moyenne, médiane</a:t>
            </a:r>
          </a:p>
          <a:p>
            <a:r>
              <a:rPr lang="fr-FR" sz="2400" dirty="0" err="1" smtClean="0">
                <a:solidFill>
                  <a:srgbClr val="C00000"/>
                </a:solidFill>
                <a:latin typeface="Franklin Gothic Medium" panose="020B0603020102020204" pitchFamily="34" charset="0"/>
              </a:rPr>
              <a:t>mean</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data_clean$Hauteur</a:t>
            </a:r>
            <a:r>
              <a:rPr lang="fr-FR" sz="2400" dirty="0" smtClean="0">
                <a:solidFill>
                  <a:srgbClr val="C00000"/>
                </a:solidFill>
                <a:latin typeface="Franklin Gothic Medium" panose="020B0603020102020204" pitchFamily="34" charset="0"/>
              </a:rPr>
              <a:t>)</a:t>
            </a:r>
          </a:p>
          <a:p>
            <a:r>
              <a:rPr lang="fr-FR" sz="2400" dirty="0" err="1" smtClean="0">
                <a:solidFill>
                  <a:srgbClr val="C00000"/>
                </a:solidFill>
                <a:latin typeface="Franklin Gothic Medium" panose="020B0603020102020204" pitchFamily="34" charset="0"/>
              </a:rPr>
              <a:t>median</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data_clean$Hauteur</a:t>
            </a:r>
            <a:r>
              <a:rPr lang="fr-FR" sz="2400" dirty="0" smtClean="0">
                <a:solidFill>
                  <a:srgbClr val="C00000"/>
                </a:solidFill>
                <a:latin typeface="Franklin Gothic Medium" panose="020B0603020102020204" pitchFamily="34" charset="0"/>
              </a:rPr>
              <a:t>)</a:t>
            </a:r>
          </a:p>
          <a:p>
            <a:r>
              <a:rPr lang="fr-FR" sz="2400" dirty="0" err="1" smtClean="0">
                <a:solidFill>
                  <a:srgbClr val="C00000"/>
                </a:solidFill>
                <a:latin typeface="Franklin Gothic Medium" panose="020B0603020102020204" pitchFamily="34" charset="0"/>
              </a:rPr>
              <a:t>median</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data_clean$Diametre</a:t>
            </a:r>
            <a:r>
              <a:rPr lang="fr-FR" sz="2400" dirty="0" smtClean="0">
                <a:solidFill>
                  <a:srgbClr val="C00000"/>
                </a:solidFill>
                <a:latin typeface="Franklin Gothic Medium" panose="020B0603020102020204" pitchFamily="34" charset="0"/>
              </a:rPr>
              <a:t>))</a:t>
            </a:r>
          </a:p>
          <a:p>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Fonction pour calculer le </a:t>
            </a:r>
            <a:r>
              <a:rPr lang="fr-FR" sz="2400" dirty="0" smtClean="0">
                <a:solidFill>
                  <a:srgbClr val="C00000"/>
                </a:solidFill>
                <a:latin typeface="Franklin Gothic Medium" panose="020B0603020102020204" pitchFamily="34" charset="0"/>
              </a:rPr>
              <a:t>mode</a:t>
            </a:r>
          </a:p>
          <a:p>
            <a:r>
              <a:rPr lang="fr-FR" sz="2400" dirty="0" err="1" smtClean="0">
                <a:solidFill>
                  <a:srgbClr val="C00000"/>
                </a:solidFill>
                <a:latin typeface="Franklin Gothic Medium" panose="020B0603020102020204" pitchFamily="34" charset="0"/>
              </a:rPr>
              <a:t>mode_func</a:t>
            </a:r>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&lt;- </a:t>
            </a:r>
            <a:r>
              <a:rPr lang="fr-FR" sz="2400" dirty="0" err="1">
                <a:solidFill>
                  <a:srgbClr val="C00000"/>
                </a:solidFill>
                <a:latin typeface="Franklin Gothic Medium" panose="020B0603020102020204" pitchFamily="34" charset="0"/>
              </a:rPr>
              <a:t>function</a:t>
            </a:r>
            <a:r>
              <a:rPr lang="fr-FR" sz="2400" dirty="0">
                <a:solidFill>
                  <a:srgbClr val="C00000"/>
                </a:solidFill>
                <a:latin typeface="Franklin Gothic Medium" panose="020B0603020102020204" pitchFamily="34" charset="0"/>
              </a:rPr>
              <a:t>(x) {  </a:t>
            </a:r>
            <a:r>
              <a:rPr lang="fr-FR" sz="2400" dirty="0" err="1">
                <a:solidFill>
                  <a:srgbClr val="C00000"/>
                </a:solidFill>
                <a:latin typeface="Franklin Gothic Medium" panose="020B0603020102020204" pitchFamily="34" charset="0"/>
              </a:rPr>
              <a:t>ux</a:t>
            </a:r>
            <a:r>
              <a:rPr lang="fr-FR" sz="2400" dirty="0">
                <a:solidFill>
                  <a:srgbClr val="C00000"/>
                </a:solidFill>
                <a:latin typeface="Franklin Gothic Medium" panose="020B0603020102020204" pitchFamily="34" charset="0"/>
              </a:rPr>
              <a:t> &lt;- unique(x)  </a:t>
            </a:r>
            <a:r>
              <a:rPr lang="fr-FR" sz="2400" dirty="0" err="1">
                <a:solidFill>
                  <a:srgbClr val="C00000"/>
                </a:solidFill>
                <a:latin typeface="Franklin Gothic Medium" panose="020B0603020102020204" pitchFamily="34" charset="0"/>
              </a:rPr>
              <a:t>ux</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which.max</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tabulate</a:t>
            </a:r>
            <a:r>
              <a:rPr lang="fr-FR" sz="2400" dirty="0">
                <a:solidFill>
                  <a:srgbClr val="C00000"/>
                </a:solidFill>
                <a:latin typeface="Franklin Gothic Medium" panose="020B0603020102020204" pitchFamily="34" charset="0"/>
              </a:rPr>
              <a:t>(match(x, </a:t>
            </a:r>
            <a:r>
              <a:rPr lang="fr-FR" sz="2400" dirty="0" err="1">
                <a:solidFill>
                  <a:srgbClr val="C00000"/>
                </a:solidFill>
                <a:latin typeface="Franklin Gothic Medium" panose="020B0603020102020204" pitchFamily="34" charset="0"/>
              </a:rPr>
              <a:t>ux</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mode_func</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data_clean$Hauteur</a:t>
            </a:r>
            <a:r>
              <a:rPr lang="fr-FR" sz="2400" dirty="0">
                <a:solidFill>
                  <a:srgbClr val="C00000"/>
                </a:solidFill>
                <a:latin typeface="Franklin Gothic Medium" panose="020B0603020102020204" pitchFamily="34" charset="0"/>
              </a:rPr>
              <a:t>)</a:t>
            </a:r>
            <a:endParaRPr lang="fr-FR" sz="2400" dirty="0">
              <a:solidFill>
                <a:srgbClr val="C00000"/>
              </a:solidFill>
              <a:latin typeface="Franklin Gothic Medium" panose="020B0603020102020204" pitchFamily="34" charset="0"/>
            </a:endParaRPr>
          </a:p>
        </p:txBody>
      </p:sp>
      <p:sp>
        <p:nvSpPr>
          <p:cNvPr id="14" name="ZoneTexte 13"/>
          <p:cNvSpPr txBox="1"/>
          <p:nvPr/>
        </p:nvSpPr>
        <p:spPr>
          <a:xfrm>
            <a:off x="-3" y="4061209"/>
            <a:ext cx="12191999" cy="1569660"/>
          </a:xfrm>
          <a:prstGeom prst="rect">
            <a:avLst/>
          </a:prstGeom>
          <a:solidFill>
            <a:schemeClr val="accent2">
              <a:lumMod val="20000"/>
              <a:lumOff val="80000"/>
            </a:schemeClr>
          </a:solidFill>
        </p:spPr>
        <p:txBody>
          <a:bodyPr wrap="square" rtlCol="0">
            <a:spAutoFit/>
          </a:bodyPr>
          <a:lstStyle/>
          <a:p>
            <a:pPr algn="just"/>
            <a:r>
              <a:rPr lang="fr-FR" sz="2400" dirty="0" err="1">
                <a:solidFill>
                  <a:schemeClr val="accent6">
                    <a:lumMod val="50000"/>
                  </a:schemeClr>
                </a:solidFill>
                <a:latin typeface="Franklin Gothic Medium" panose="020B0603020102020204" pitchFamily="34" charset="0"/>
              </a:rPr>
              <a:t>function</a:t>
            </a:r>
            <a:r>
              <a:rPr lang="fr-FR" sz="2400" dirty="0">
                <a:solidFill>
                  <a:schemeClr val="accent6">
                    <a:lumMod val="50000"/>
                  </a:schemeClr>
                </a:solidFill>
                <a:latin typeface="Franklin Gothic Medium" panose="020B0603020102020204" pitchFamily="34" charset="0"/>
              </a:rPr>
              <a:t>(x</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définit </a:t>
            </a:r>
            <a:r>
              <a:rPr lang="fr-FR" sz="2400" dirty="0">
                <a:latin typeface="Franklin Gothic Medium" panose="020B0603020102020204" pitchFamily="34" charset="0"/>
              </a:rPr>
              <a:t>une fonction avec une variable d’entrée </a:t>
            </a:r>
            <a:r>
              <a:rPr lang="fr-FR" sz="2400" dirty="0" smtClean="0">
                <a:latin typeface="Franklin Gothic Medium" panose="020B0603020102020204" pitchFamily="34" charset="0"/>
              </a:rPr>
              <a:t>x ; </a:t>
            </a:r>
            <a:r>
              <a:rPr lang="fr-FR" sz="2400" dirty="0" smtClean="0">
                <a:solidFill>
                  <a:schemeClr val="accent6">
                    <a:lumMod val="50000"/>
                  </a:schemeClr>
                </a:solidFill>
                <a:latin typeface="Franklin Gothic Medium" panose="020B0603020102020204" pitchFamily="34" charset="0"/>
              </a:rPr>
              <a:t>unique(x) </a:t>
            </a:r>
            <a:r>
              <a:rPr lang="fr-FR" sz="2400" dirty="0" smtClean="0">
                <a:latin typeface="Franklin Gothic Medium" panose="020B0603020102020204" pitchFamily="34" charset="0"/>
              </a:rPr>
              <a:t>extrait </a:t>
            </a:r>
            <a:r>
              <a:rPr lang="fr-FR" sz="2400" dirty="0">
                <a:latin typeface="Franklin Gothic Medium" panose="020B0603020102020204" pitchFamily="34" charset="0"/>
              </a:rPr>
              <a:t>les valeurs uniques de la </a:t>
            </a:r>
            <a:r>
              <a:rPr lang="fr-FR" sz="2400" dirty="0" smtClean="0">
                <a:latin typeface="Franklin Gothic Medium" panose="020B0603020102020204" pitchFamily="34" charset="0"/>
              </a:rPr>
              <a:t>variable ; </a:t>
            </a:r>
            <a:r>
              <a:rPr lang="fr-FR" sz="2400" dirty="0" smtClean="0">
                <a:solidFill>
                  <a:schemeClr val="accent6">
                    <a:lumMod val="50000"/>
                  </a:schemeClr>
                </a:solidFill>
                <a:latin typeface="Franklin Gothic Medium" panose="020B0603020102020204" pitchFamily="34" charset="0"/>
              </a:rPr>
              <a:t>match(x</a:t>
            </a:r>
            <a:r>
              <a:rPr lang="fr-FR" sz="2400" dirty="0">
                <a:solidFill>
                  <a:schemeClr val="accent6">
                    <a:lumMod val="50000"/>
                  </a:schemeClr>
                </a:solidFill>
                <a:latin typeface="Franklin Gothic Medium" panose="020B0603020102020204" pitchFamily="34" charset="0"/>
              </a:rPr>
              <a:t>, </a:t>
            </a:r>
            <a:r>
              <a:rPr lang="fr-FR" sz="2400" dirty="0" err="1">
                <a:solidFill>
                  <a:schemeClr val="accent6">
                    <a:lumMod val="50000"/>
                  </a:schemeClr>
                </a:solidFill>
                <a:latin typeface="Franklin Gothic Medium" panose="020B0603020102020204" pitchFamily="34" charset="0"/>
              </a:rPr>
              <a:t>ux</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associe </a:t>
            </a:r>
            <a:r>
              <a:rPr lang="fr-FR" sz="2400" dirty="0">
                <a:latin typeface="Franklin Gothic Medium" panose="020B0603020102020204" pitchFamily="34" charset="0"/>
              </a:rPr>
              <a:t>chaque valeur de x à son index dans </a:t>
            </a:r>
            <a:r>
              <a:rPr lang="fr-FR" sz="2400" dirty="0" err="1" smtClean="0">
                <a:latin typeface="Franklin Gothic Medium" panose="020B0603020102020204" pitchFamily="34" charset="0"/>
              </a:rPr>
              <a:t>ux</a:t>
            </a:r>
            <a:r>
              <a:rPr lang="fr-FR" sz="2400" dirty="0" smtClean="0">
                <a:latin typeface="Franklin Gothic Medium" panose="020B0603020102020204" pitchFamily="34" charset="0"/>
              </a:rPr>
              <a:t> ;  </a:t>
            </a:r>
            <a:r>
              <a:rPr lang="fr-FR" sz="2400" dirty="0" err="1" smtClean="0">
                <a:solidFill>
                  <a:schemeClr val="accent6">
                    <a:lumMod val="50000"/>
                  </a:schemeClr>
                </a:solidFill>
                <a:latin typeface="Franklin Gothic Medium" panose="020B0603020102020204" pitchFamily="34" charset="0"/>
              </a:rPr>
              <a:t>tabulate</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compte </a:t>
            </a:r>
            <a:r>
              <a:rPr lang="fr-FR" sz="2400" dirty="0">
                <a:latin typeface="Franklin Gothic Medium" panose="020B0603020102020204" pitchFamily="34" charset="0"/>
              </a:rPr>
              <a:t>le nombre d’occurrences de chaque </a:t>
            </a:r>
            <a:r>
              <a:rPr lang="fr-FR" sz="2400" dirty="0" smtClean="0">
                <a:latin typeface="Franklin Gothic Medium" panose="020B0603020102020204" pitchFamily="34" charset="0"/>
              </a:rPr>
              <a:t>valeur ; </a:t>
            </a:r>
            <a:r>
              <a:rPr lang="fr-FR" sz="2400" dirty="0" err="1" smtClean="0">
                <a:solidFill>
                  <a:schemeClr val="accent6">
                    <a:lumMod val="50000"/>
                  </a:schemeClr>
                </a:solidFill>
                <a:latin typeface="Franklin Gothic Medium" panose="020B0603020102020204" pitchFamily="34" charset="0"/>
              </a:rPr>
              <a:t>which.max</a:t>
            </a:r>
            <a:r>
              <a:rPr lang="fr-FR" sz="2400" dirty="0" smtClean="0">
                <a:solidFill>
                  <a:schemeClr val="accent6">
                    <a:lumMod val="50000"/>
                  </a:schemeClr>
                </a:solidFill>
                <a:latin typeface="Franklin Gothic Medium" panose="020B0603020102020204" pitchFamily="34" charset="0"/>
              </a:rPr>
              <a:t>()</a:t>
            </a:r>
            <a:r>
              <a:rPr lang="fr-FR" sz="2400" dirty="0" smtClean="0">
                <a:latin typeface="Franklin Gothic Medium" panose="020B0603020102020204" pitchFamily="34" charset="0"/>
              </a:rPr>
              <a:t> identifie </a:t>
            </a:r>
            <a:r>
              <a:rPr lang="fr-FR" sz="2400" dirty="0">
                <a:latin typeface="Franklin Gothic Medium" panose="020B0603020102020204" pitchFamily="34" charset="0"/>
              </a:rPr>
              <a:t>la position de la valeur la plus fréquente</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18969995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48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1" name="Rectangle 10"/>
          <p:cNvSpPr/>
          <p:nvPr/>
        </p:nvSpPr>
        <p:spPr>
          <a:xfrm>
            <a:off x="-4" y="747343"/>
            <a:ext cx="12191999" cy="410503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p:cNvSpPr txBox="1"/>
          <p:nvPr/>
        </p:nvSpPr>
        <p:spPr>
          <a:xfrm>
            <a:off x="-4" y="1052857"/>
            <a:ext cx="12052663" cy="3785652"/>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Variance et </a:t>
            </a:r>
            <a:r>
              <a:rPr lang="fr-FR" sz="2400" dirty="0" smtClean="0">
                <a:solidFill>
                  <a:srgbClr val="C00000"/>
                </a:solidFill>
                <a:latin typeface="Franklin Gothic Medium" panose="020B0603020102020204" pitchFamily="34" charset="0"/>
              </a:rPr>
              <a:t>écart-type</a:t>
            </a:r>
          </a:p>
          <a:p>
            <a:r>
              <a:rPr lang="fr-FR" sz="2400" dirty="0" smtClean="0">
                <a:solidFill>
                  <a:srgbClr val="C00000"/>
                </a:solidFill>
                <a:latin typeface="Franklin Gothic Medium" panose="020B0603020102020204" pitchFamily="34" charset="0"/>
              </a:rPr>
              <a:t>var(</a:t>
            </a:r>
            <a:r>
              <a:rPr lang="fr-FR" sz="2400" dirty="0" err="1" smtClean="0">
                <a:solidFill>
                  <a:srgbClr val="C00000"/>
                </a:solidFill>
                <a:latin typeface="Franklin Gothic Medium" panose="020B0603020102020204" pitchFamily="34" charset="0"/>
              </a:rPr>
              <a:t>data_clean$Hauteur</a:t>
            </a:r>
            <a:r>
              <a:rPr lang="fr-FR" sz="2400" dirty="0" smtClean="0">
                <a:solidFill>
                  <a:srgbClr val="C00000"/>
                </a:solidFill>
                <a:latin typeface="Franklin Gothic Medium" panose="020B0603020102020204" pitchFamily="34" charset="0"/>
              </a:rPr>
              <a:t>)</a:t>
            </a:r>
          </a:p>
          <a:p>
            <a:r>
              <a:rPr lang="fr-FR" sz="2400" dirty="0" err="1" smtClean="0">
                <a:solidFill>
                  <a:srgbClr val="C00000"/>
                </a:solidFill>
                <a:latin typeface="Franklin Gothic Medium" panose="020B0603020102020204" pitchFamily="34" charset="0"/>
              </a:rPr>
              <a:t>sd</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data_clean$Hauteur</a:t>
            </a:r>
            <a:r>
              <a:rPr lang="fr-FR" sz="2400" dirty="0" smtClean="0">
                <a:solidFill>
                  <a:srgbClr val="C00000"/>
                </a:solidFill>
                <a:latin typeface="Franklin Gothic Medium" panose="020B0603020102020204" pitchFamily="34" charset="0"/>
              </a:rPr>
              <a:t>)</a:t>
            </a:r>
          </a:p>
          <a:p>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Histogramme </a:t>
            </a:r>
            <a:r>
              <a:rPr lang="fr-FR" sz="2400" dirty="0" smtClean="0">
                <a:solidFill>
                  <a:srgbClr val="C00000"/>
                </a:solidFill>
                <a:latin typeface="Franklin Gothic Medium" panose="020B0603020102020204" pitchFamily="34" charset="0"/>
              </a:rPr>
              <a:t>simple</a:t>
            </a:r>
          </a:p>
          <a:p>
            <a:r>
              <a:rPr lang="fr-FR" sz="2400" dirty="0" err="1" smtClean="0">
                <a:solidFill>
                  <a:srgbClr val="C00000"/>
                </a:solidFill>
                <a:latin typeface="Franklin Gothic Medium" panose="020B0603020102020204" pitchFamily="34" charset="0"/>
              </a:rPr>
              <a:t>hist</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data_clean$Hauteur</a:t>
            </a:r>
            <a:r>
              <a:rPr lang="fr-FR" sz="2400" dirty="0" smtClean="0">
                <a:solidFill>
                  <a:srgbClr val="C00000"/>
                </a:solidFill>
                <a:latin typeface="Franklin Gothic Medium" panose="020B0603020102020204" pitchFamily="34" charset="0"/>
              </a:rPr>
              <a:t>)</a:t>
            </a:r>
          </a:p>
          <a:p>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5. Visualisation des </a:t>
            </a:r>
            <a:r>
              <a:rPr lang="fr-FR" sz="2400" dirty="0" smtClean="0">
                <a:solidFill>
                  <a:srgbClr val="C00000"/>
                </a:solidFill>
                <a:latin typeface="Franklin Gothic Medium" panose="020B0603020102020204" pitchFamily="34" charset="0"/>
              </a:rPr>
              <a:t>données</a:t>
            </a:r>
          </a:p>
          <a:p>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Histogramme avec </a:t>
            </a:r>
            <a:r>
              <a:rPr lang="fr-FR" sz="2400" dirty="0" smtClean="0">
                <a:solidFill>
                  <a:srgbClr val="C00000"/>
                </a:solidFill>
                <a:latin typeface="Franklin Gothic Medium" panose="020B0603020102020204" pitchFamily="34" charset="0"/>
              </a:rPr>
              <a:t>ggplot2</a:t>
            </a:r>
          </a:p>
          <a:p>
            <a:r>
              <a:rPr lang="fr-FR" sz="2400" dirty="0" err="1" smtClean="0">
                <a:solidFill>
                  <a:srgbClr val="C00000"/>
                </a:solidFill>
                <a:latin typeface="Franklin Gothic Medium" panose="020B0603020102020204" pitchFamily="34" charset="0"/>
              </a:rPr>
              <a:t>ggplot</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a:t>
            </a:r>
            <a:r>
              <a:rPr lang="fr-FR" sz="2400" dirty="0">
                <a:solidFill>
                  <a:srgbClr val="C00000"/>
                </a:solidFill>
                <a:latin typeface="Franklin Gothic Medium" panose="020B0603020102020204" pitchFamily="34" charset="0"/>
              </a:rPr>
              <a:t>, </a:t>
            </a:r>
            <a:r>
              <a:rPr lang="fr-FR" sz="2400" dirty="0" err="1">
                <a:solidFill>
                  <a:srgbClr val="C00000"/>
                </a:solidFill>
                <a:latin typeface="Franklin Gothic Medium" panose="020B0603020102020204" pitchFamily="34" charset="0"/>
              </a:rPr>
              <a:t>aes</a:t>
            </a:r>
            <a:r>
              <a:rPr lang="fr-FR" sz="2400" dirty="0">
                <a:solidFill>
                  <a:srgbClr val="C00000"/>
                </a:solidFill>
                <a:latin typeface="Franklin Gothic Medium" panose="020B0603020102020204" pitchFamily="34" charset="0"/>
              </a:rPr>
              <a:t>(x = Hauteur)) +  </a:t>
            </a:r>
            <a:endParaRPr lang="fr-FR" sz="2400" dirty="0" smtClean="0">
              <a:solidFill>
                <a:srgbClr val="C00000"/>
              </a:solidFill>
              <a:latin typeface="Franklin Gothic Medium" panose="020B0603020102020204" pitchFamily="34" charset="0"/>
            </a:endParaRPr>
          </a:p>
          <a:p>
            <a:r>
              <a:rPr lang="fr-FR" sz="2400" dirty="0" err="1" smtClean="0">
                <a:solidFill>
                  <a:srgbClr val="C00000"/>
                </a:solidFill>
                <a:latin typeface="Franklin Gothic Medium" panose="020B0603020102020204" pitchFamily="34" charset="0"/>
              </a:rPr>
              <a:t>geom_histogram</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bins</a:t>
            </a:r>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 20, </a:t>
            </a:r>
            <a:r>
              <a:rPr lang="fr-FR" sz="2400" dirty="0" err="1">
                <a:solidFill>
                  <a:srgbClr val="C00000"/>
                </a:solidFill>
                <a:latin typeface="Franklin Gothic Medium" panose="020B0603020102020204" pitchFamily="34" charset="0"/>
              </a:rPr>
              <a:t>fill</a:t>
            </a:r>
            <a:r>
              <a:rPr lang="fr-FR" sz="2400" dirty="0">
                <a:solidFill>
                  <a:srgbClr val="C00000"/>
                </a:solidFill>
                <a:latin typeface="Franklin Gothic Medium" panose="020B0603020102020204" pitchFamily="34" charset="0"/>
              </a:rPr>
              <a:t> = "</a:t>
            </a:r>
            <a:r>
              <a:rPr lang="fr-FR" sz="2400" dirty="0" err="1">
                <a:solidFill>
                  <a:srgbClr val="C00000"/>
                </a:solidFill>
                <a:latin typeface="Franklin Gothic Medium" panose="020B0603020102020204" pitchFamily="34" charset="0"/>
              </a:rPr>
              <a:t>blue</a:t>
            </a:r>
            <a:r>
              <a:rPr lang="fr-FR" sz="2400" dirty="0">
                <a:solidFill>
                  <a:srgbClr val="C00000"/>
                </a:solidFill>
                <a:latin typeface="Franklin Gothic Medium" panose="020B0603020102020204" pitchFamily="34" charset="0"/>
              </a:rPr>
              <a:t>", </a:t>
            </a:r>
            <a:r>
              <a:rPr lang="fr-FR" sz="2400" dirty="0" err="1">
                <a:solidFill>
                  <a:srgbClr val="C00000"/>
                </a:solidFill>
                <a:latin typeface="Franklin Gothic Medium" panose="020B0603020102020204" pitchFamily="34" charset="0"/>
              </a:rPr>
              <a:t>color</a:t>
            </a:r>
            <a:r>
              <a:rPr lang="fr-FR" sz="2400" dirty="0">
                <a:solidFill>
                  <a:srgbClr val="C00000"/>
                </a:solidFill>
                <a:latin typeface="Franklin Gothic Medium" panose="020B0603020102020204" pitchFamily="34" charset="0"/>
              </a:rPr>
              <a:t> = "black") + </a:t>
            </a:r>
            <a:endParaRPr lang="fr-FR" sz="2400" dirty="0" smtClean="0">
              <a:solidFill>
                <a:srgbClr val="C00000"/>
              </a:solidFill>
              <a:latin typeface="Franklin Gothic Medium" panose="020B0603020102020204" pitchFamily="34" charset="0"/>
            </a:endParaRPr>
          </a:p>
          <a:p>
            <a:r>
              <a:rPr lang="fr-FR" sz="2400" dirty="0" smtClean="0">
                <a:solidFill>
                  <a:srgbClr val="C00000"/>
                </a:solidFill>
                <a:latin typeface="Franklin Gothic Medium" panose="020B0603020102020204" pitchFamily="34" charset="0"/>
              </a:rPr>
              <a:t> </a:t>
            </a:r>
            <a:r>
              <a:rPr lang="fr-FR" sz="2400" dirty="0" err="1">
                <a:solidFill>
                  <a:srgbClr val="C00000"/>
                </a:solidFill>
                <a:latin typeface="Franklin Gothic Medium" panose="020B0603020102020204" pitchFamily="34" charset="0"/>
              </a:rPr>
              <a:t>theme_minimal</a:t>
            </a:r>
            <a:r>
              <a:rPr lang="fr-FR" sz="2400" dirty="0">
                <a:solidFill>
                  <a:srgbClr val="C00000"/>
                </a:solidFill>
                <a:latin typeface="Franklin Gothic Medium" panose="020B0603020102020204" pitchFamily="34" charset="0"/>
              </a:rPr>
              <a:t>()</a:t>
            </a:r>
            <a:endParaRPr lang="fr-FR" sz="2400" dirty="0">
              <a:solidFill>
                <a:srgbClr val="C00000"/>
              </a:solidFill>
              <a:latin typeface="Franklin Gothic Medium" panose="020B0603020102020204" pitchFamily="34" charset="0"/>
            </a:endParaRPr>
          </a:p>
        </p:txBody>
      </p:sp>
      <p:sp>
        <p:nvSpPr>
          <p:cNvPr id="14" name="ZoneTexte 13"/>
          <p:cNvSpPr txBox="1"/>
          <p:nvPr/>
        </p:nvSpPr>
        <p:spPr>
          <a:xfrm>
            <a:off x="1" y="4877164"/>
            <a:ext cx="12191999" cy="1569660"/>
          </a:xfrm>
          <a:prstGeom prst="rect">
            <a:avLst/>
          </a:prstGeom>
          <a:solidFill>
            <a:schemeClr val="accent2">
              <a:lumMod val="20000"/>
              <a:lumOff val="80000"/>
            </a:schemeClr>
          </a:solidFill>
        </p:spPr>
        <p:txBody>
          <a:bodyPr wrap="square" rtlCol="0">
            <a:spAutoFit/>
          </a:bodyPr>
          <a:lstStyle/>
          <a:p>
            <a:pPr algn="just"/>
            <a:r>
              <a:rPr lang="fr-FR" sz="2400" dirty="0" smtClean="0">
                <a:solidFill>
                  <a:schemeClr val="accent6">
                    <a:lumMod val="50000"/>
                  </a:schemeClr>
                </a:solidFill>
                <a:latin typeface="Franklin Gothic Medium" panose="020B0603020102020204" pitchFamily="34" charset="0"/>
              </a:rPr>
              <a:t>var(</a:t>
            </a:r>
            <a:r>
              <a:rPr lang="fr-FR" sz="2400" dirty="0" err="1" smtClean="0">
                <a:solidFill>
                  <a:schemeClr val="accent6">
                    <a:lumMod val="50000"/>
                  </a:schemeClr>
                </a:solidFill>
                <a:latin typeface="Franklin Gothic Medium" panose="020B0603020102020204" pitchFamily="34" charset="0"/>
              </a:rPr>
              <a:t>data_clean$Hauteur</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Calcule la variance de la variable Hauteur </a:t>
            </a:r>
            <a:r>
              <a:rPr lang="fr-FR" sz="2400" dirty="0">
                <a:latin typeface="Franklin Gothic Medium" panose="020B0603020102020204" pitchFamily="34" charset="0"/>
              </a:rPr>
              <a:t>; </a:t>
            </a:r>
            <a:r>
              <a:rPr lang="fr-FR" sz="2400" dirty="0" smtClean="0">
                <a:latin typeface="Franklin Gothic Medium" panose="020B0603020102020204" pitchFamily="34" charset="0"/>
              </a:rPr>
              <a:t>Mesure </a:t>
            </a:r>
            <a:r>
              <a:rPr lang="fr-FR" sz="2400" dirty="0">
                <a:latin typeface="Franklin Gothic Medium" panose="020B0603020102020204" pitchFamily="34" charset="0"/>
              </a:rPr>
              <a:t>la dispersion autour de la </a:t>
            </a:r>
            <a:r>
              <a:rPr lang="fr-FR" sz="2400" dirty="0" smtClean="0">
                <a:latin typeface="Franklin Gothic Medium" panose="020B0603020102020204" pitchFamily="34" charset="0"/>
              </a:rPr>
              <a:t>moyenne ; Plus </a:t>
            </a:r>
            <a:r>
              <a:rPr lang="fr-FR" sz="2400" dirty="0">
                <a:latin typeface="Franklin Gothic Medium" panose="020B0603020102020204" pitchFamily="34" charset="0"/>
              </a:rPr>
              <a:t>la variance est élevée → plus les données sont </a:t>
            </a:r>
            <a:r>
              <a:rPr lang="fr-FR" sz="2400" dirty="0" smtClean="0">
                <a:latin typeface="Franklin Gothic Medium" panose="020B0603020102020204" pitchFamily="34" charset="0"/>
              </a:rPr>
              <a:t>dispersées</a:t>
            </a:r>
          </a:p>
          <a:p>
            <a:pPr algn="just"/>
            <a:r>
              <a:rPr lang="fr-FR" sz="2400" dirty="0" err="1">
                <a:solidFill>
                  <a:schemeClr val="accent6">
                    <a:lumMod val="50000"/>
                  </a:schemeClr>
                </a:solidFill>
                <a:latin typeface="Franklin Gothic Medium" panose="020B0603020102020204" pitchFamily="34" charset="0"/>
              </a:rPr>
              <a:t>sd</a:t>
            </a:r>
            <a:r>
              <a:rPr lang="fr-FR" sz="2400" dirty="0">
                <a:solidFill>
                  <a:schemeClr val="accent6">
                    <a:lumMod val="50000"/>
                  </a:schemeClr>
                </a:solidFill>
                <a:latin typeface="Franklin Gothic Medium" panose="020B0603020102020204" pitchFamily="34" charset="0"/>
              </a:rPr>
              <a:t>(</a:t>
            </a:r>
            <a:r>
              <a:rPr lang="fr-FR" sz="2400" dirty="0" err="1">
                <a:solidFill>
                  <a:schemeClr val="accent6">
                    <a:lumMod val="50000"/>
                  </a:schemeClr>
                </a:solidFill>
                <a:latin typeface="Franklin Gothic Medium" panose="020B0603020102020204" pitchFamily="34" charset="0"/>
              </a:rPr>
              <a:t>data_clean$Hauteur</a:t>
            </a:r>
            <a:r>
              <a:rPr lang="fr-FR" sz="2400" dirty="0" smtClean="0">
                <a:solidFill>
                  <a:schemeClr val="accent6">
                    <a:lumMod val="50000"/>
                  </a:schemeClr>
                </a:solidFill>
                <a:latin typeface="Franklin Gothic Medium" panose="020B0603020102020204" pitchFamily="34" charset="0"/>
              </a:rPr>
              <a:t>) </a:t>
            </a:r>
            <a:r>
              <a:rPr lang="fr-FR" sz="2400" dirty="0">
                <a:latin typeface="Franklin Gothic Medium" panose="020B0603020102020204" pitchFamily="34" charset="0"/>
              </a:rPr>
              <a:t>Calcule l’écart-type, qui est la racine carrée de la variance ; Indique la dispersion moyenne des </a:t>
            </a:r>
            <a:r>
              <a:rPr lang="fr-FR" sz="2400" dirty="0" smtClean="0">
                <a:latin typeface="Franklin Gothic Medium" panose="020B0603020102020204" pitchFamily="34" charset="0"/>
              </a:rPr>
              <a:t>valeurs </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427811787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49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4" name="ZoneTexte 13"/>
          <p:cNvSpPr txBox="1"/>
          <p:nvPr/>
        </p:nvSpPr>
        <p:spPr>
          <a:xfrm>
            <a:off x="1" y="1956312"/>
            <a:ext cx="12191999" cy="3046988"/>
          </a:xfrm>
          <a:prstGeom prst="rect">
            <a:avLst/>
          </a:prstGeom>
          <a:solidFill>
            <a:schemeClr val="accent2">
              <a:lumMod val="20000"/>
              <a:lumOff val="80000"/>
            </a:schemeClr>
          </a:solidFill>
        </p:spPr>
        <p:txBody>
          <a:bodyPr wrap="square" rtlCol="0">
            <a:spAutoFit/>
          </a:bodyPr>
          <a:lstStyle/>
          <a:p>
            <a:pPr algn="just"/>
            <a:r>
              <a:rPr lang="fr-FR" sz="2400" dirty="0" err="1" smtClean="0">
                <a:solidFill>
                  <a:schemeClr val="accent6">
                    <a:lumMod val="50000"/>
                  </a:schemeClr>
                </a:solidFill>
                <a:latin typeface="Franklin Gothic Medium" panose="020B0603020102020204" pitchFamily="34" charset="0"/>
              </a:rPr>
              <a:t>hist</a:t>
            </a:r>
            <a:r>
              <a:rPr lang="fr-FR" sz="2400" dirty="0" smtClean="0">
                <a:solidFill>
                  <a:schemeClr val="accent6">
                    <a:lumMod val="50000"/>
                  </a:schemeClr>
                </a:solidFill>
                <a:latin typeface="Franklin Gothic Medium" panose="020B0603020102020204" pitchFamily="34" charset="0"/>
              </a:rPr>
              <a:t>(</a:t>
            </a:r>
            <a:r>
              <a:rPr lang="fr-FR" sz="2400" dirty="0" err="1" smtClean="0">
                <a:solidFill>
                  <a:schemeClr val="accent6">
                    <a:lumMod val="50000"/>
                  </a:schemeClr>
                </a:solidFill>
                <a:latin typeface="Franklin Gothic Medium" panose="020B0603020102020204" pitchFamily="34" charset="0"/>
              </a:rPr>
              <a:t>data_clean$Hauteur</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Crée </a:t>
            </a:r>
            <a:r>
              <a:rPr lang="fr-FR" sz="2400" dirty="0">
                <a:latin typeface="Franklin Gothic Medium" panose="020B0603020102020204" pitchFamily="34" charset="0"/>
              </a:rPr>
              <a:t>un histogramme de la variable </a:t>
            </a:r>
            <a:r>
              <a:rPr lang="fr-FR" sz="2400" dirty="0" smtClean="0">
                <a:latin typeface="Franklin Gothic Medium" panose="020B0603020102020204" pitchFamily="34" charset="0"/>
              </a:rPr>
              <a:t>Hauteur</a:t>
            </a:r>
            <a:r>
              <a:rPr lang="fr-FR" sz="2400" dirty="0">
                <a:latin typeface="Franklin Gothic Medium" panose="020B0603020102020204" pitchFamily="34" charset="0"/>
              </a:rPr>
              <a:t> ;</a:t>
            </a:r>
            <a:r>
              <a:rPr lang="fr-FR" sz="2400" dirty="0" smtClean="0">
                <a:latin typeface="Franklin Gothic Medium" panose="020B0603020102020204" pitchFamily="34" charset="0"/>
              </a:rPr>
              <a:t> </a:t>
            </a:r>
            <a:r>
              <a:rPr lang="fr-FR" sz="2400" dirty="0">
                <a:latin typeface="Franklin Gothic Medium" panose="020B0603020102020204" pitchFamily="34" charset="0"/>
              </a:rPr>
              <a:t>Objectif :Visualiser la distribution des </a:t>
            </a:r>
            <a:r>
              <a:rPr lang="fr-FR" sz="2400" dirty="0" smtClean="0">
                <a:latin typeface="Franklin Gothic Medium" panose="020B0603020102020204" pitchFamily="34" charset="0"/>
              </a:rPr>
              <a:t>données ; Identifier : asymétrie </a:t>
            </a:r>
            <a:r>
              <a:rPr lang="fr-FR" sz="2400" dirty="0">
                <a:latin typeface="Franklin Gothic Medium" panose="020B0603020102020204" pitchFamily="34" charset="0"/>
              </a:rPr>
              <a:t>(</a:t>
            </a:r>
            <a:r>
              <a:rPr lang="fr-FR" sz="2400" dirty="0" err="1">
                <a:latin typeface="Franklin Gothic Medium" panose="020B0603020102020204" pitchFamily="34" charset="0"/>
              </a:rPr>
              <a:t>skewness</a:t>
            </a:r>
            <a:r>
              <a:rPr lang="fr-FR" sz="2400" dirty="0" smtClean="0">
                <a:latin typeface="Franklin Gothic Medium" panose="020B0603020102020204" pitchFamily="34" charset="0"/>
              </a:rPr>
              <a:t>) présence d’</a:t>
            </a:r>
            <a:r>
              <a:rPr lang="fr-FR" sz="2400" dirty="0" err="1" smtClean="0">
                <a:latin typeface="Franklin Gothic Medium" panose="020B0603020102020204" pitchFamily="34" charset="0"/>
              </a:rPr>
              <a:t>outliers</a:t>
            </a:r>
            <a:r>
              <a:rPr lang="fr-FR" sz="2400" dirty="0" smtClean="0">
                <a:latin typeface="Franklin Gothic Medium" panose="020B0603020102020204" pitchFamily="34" charset="0"/>
              </a:rPr>
              <a:t> ; forme </a:t>
            </a:r>
            <a:r>
              <a:rPr lang="fr-FR" sz="2400" dirty="0">
                <a:latin typeface="Franklin Gothic Medium" panose="020B0603020102020204" pitchFamily="34" charset="0"/>
              </a:rPr>
              <a:t>(normale ou non</a:t>
            </a:r>
            <a:r>
              <a:rPr lang="fr-FR" sz="2400" dirty="0" smtClean="0">
                <a:latin typeface="Franklin Gothic Medium" panose="020B0603020102020204" pitchFamily="34" charset="0"/>
              </a:rPr>
              <a:t>)</a:t>
            </a:r>
          </a:p>
          <a:p>
            <a:pPr algn="just"/>
            <a:endParaRPr lang="fr-FR" sz="2400" dirty="0">
              <a:latin typeface="Franklin Gothic Medium" panose="020B0603020102020204" pitchFamily="34" charset="0"/>
            </a:endParaRPr>
          </a:p>
          <a:p>
            <a:pPr algn="just"/>
            <a:r>
              <a:rPr lang="fr-FR" sz="2400" dirty="0" err="1">
                <a:solidFill>
                  <a:schemeClr val="accent6">
                    <a:lumMod val="50000"/>
                  </a:schemeClr>
                </a:solidFill>
                <a:latin typeface="Franklin Gothic Medium" panose="020B0603020102020204" pitchFamily="34" charset="0"/>
              </a:rPr>
              <a:t>ggplot</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Initialise </a:t>
            </a:r>
            <a:r>
              <a:rPr lang="fr-FR" sz="2400" dirty="0">
                <a:latin typeface="Franklin Gothic Medium" panose="020B0603020102020204" pitchFamily="34" charset="0"/>
              </a:rPr>
              <a:t>un graphique avec les </a:t>
            </a:r>
            <a:r>
              <a:rPr lang="fr-FR" sz="2400" dirty="0" smtClean="0">
                <a:latin typeface="Franklin Gothic Medium" panose="020B0603020102020204" pitchFamily="34" charset="0"/>
              </a:rPr>
              <a:t>données </a:t>
            </a:r>
            <a:r>
              <a:rPr lang="fr-FR" sz="2400" dirty="0" err="1" smtClean="0">
                <a:solidFill>
                  <a:schemeClr val="accent6">
                    <a:lumMod val="50000"/>
                  </a:schemeClr>
                </a:solidFill>
                <a:latin typeface="Franklin Gothic Medium" panose="020B0603020102020204" pitchFamily="34" charset="0"/>
              </a:rPr>
              <a:t>aes</a:t>
            </a:r>
            <a:r>
              <a:rPr lang="fr-FR" sz="2400" dirty="0" smtClean="0">
                <a:solidFill>
                  <a:schemeClr val="accent6">
                    <a:lumMod val="50000"/>
                  </a:schemeClr>
                </a:solidFill>
                <a:latin typeface="Franklin Gothic Medium" panose="020B0603020102020204" pitchFamily="34" charset="0"/>
              </a:rPr>
              <a:t>(x </a:t>
            </a:r>
            <a:r>
              <a:rPr lang="fr-FR" sz="2400" dirty="0">
                <a:solidFill>
                  <a:schemeClr val="accent6">
                    <a:lumMod val="50000"/>
                  </a:schemeClr>
                </a:solidFill>
                <a:latin typeface="Franklin Gothic Medium" panose="020B0603020102020204" pitchFamily="34" charset="0"/>
              </a:rPr>
              <a:t>= Hauteur</a:t>
            </a:r>
            <a:r>
              <a:rPr lang="fr-FR" sz="2400" dirty="0" smtClean="0">
                <a:solidFill>
                  <a:schemeClr val="accent6">
                    <a:lumMod val="50000"/>
                  </a:schemeClr>
                </a:solidFill>
                <a:latin typeface="Franklin Gothic Medium" panose="020B0603020102020204" pitchFamily="34" charset="0"/>
              </a:rPr>
              <a:t>) </a:t>
            </a:r>
            <a:r>
              <a:rPr lang="fr-FR" sz="2400" dirty="0">
                <a:latin typeface="Franklin Gothic Medium" panose="020B0603020102020204" pitchFamily="34" charset="0"/>
              </a:rPr>
              <a:t>d</a:t>
            </a:r>
            <a:r>
              <a:rPr lang="fr-FR" sz="2400" dirty="0" smtClean="0">
                <a:latin typeface="Franklin Gothic Medium" panose="020B0603020102020204" pitchFamily="34" charset="0"/>
              </a:rPr>
              <a:t>éfinit </a:t>
            </a:r>
            <a:r>
              <a:rPr lang="fr-FR" sz="2400" dirty="0">
                <a:latin typeface="Franklin Gothic Medium" panose="020B0603020102020204" pitchFamily="34" charset="0"/>
              </a:rPr>
              <a:t>la variable à représenter sur l’axe </a:t>
            </a:r>
            <a:r>
              <a:rPr lang="fr-FR" sz="2400" dirty="0" smtClean="0">
                <a:latin typeface="Franklin Gothic Medium" panose="020B0603020102020204" pitchFamily="34" charset="0"/>
              </a:rPr>
              <a:t>X ; </a:t>
            </a:r>
            <a:r>
              <a:rPr lang="fr-FR" sz="2400" dirty="0" err="1" smtClean="0">
                <a:solidFill>
                  <a:schemeClr val="accent6">
                    <a:lumMod val="50000"/>
                  </a:schemeClr>
                </a:solidFill>
                <a:latin typeface="Franklin Gothic Medium" panose="020B0603020102020204" pitchFamily="34" charset="0"/>
              </a:rPr>
              <a:t>geom_histogram</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 Crée </a:t>
            </a:r>
            <a:r>
              <a:rPr lang="fr-FR" sz="2400" dirty="0">
                <a:latin typeface="Franklin Gothic Medium" panose="020B0603020102020204" pitchFamily="34" charset="0"/>
              </a:rPr>
              <a:t>un </a:t>
            </a:r>
            <a:r>
              <a:rPr lang="fr-FR" sz="2400" dirty="0" smtClean="0">
                <a:latin typeface="Franklin Gothic Medium" panose="020B0603020102020204" pitchFamily="34" charset="0"/>
              </a:rPr>
              <a:t>histogramme ; </a:t>
            </a:r>
            <a:r>
              <a:rPr lang="fr-FR" sz="2400" dirty="0" err="1" smtClean="0">
                <a:solidFill>
                  <a:schemeClr val="accent6">
                    <a:lumMod val="50000"/>
                  </a:schemeClr>
                </a:solidFill>
                <a:latin typeface="Franklin Gothic Medium" panose="020B0603020102020204" pitchFamily="34" charset="0"/>
              </a:rPr>
              <a:t>bins</a:t>
            </a:r>
            <a:r>
              <a:rPr lang="fr-FR" sz="2400" dirty="0" smtClean="0">
                <a:solidFill>
                  <a:schemeClr val="accent6">
                    <a:lumMod val="50000"/>
                  </a:schemeClr>
                </a:solidFill>
                <a:latin typeface="Franklin Gothic Medium" panose="020B0603020102020204" pitchFamily="34" charset="0"/>
              </a:rPr>
              <a:t> </a:t>
            </a:r>
            <a:r>
              <a:rPr lang="fr-FR" sz="2400" dirty="0">
                <a:solidFill>
                  <a:schemeClr val="accent6">
                    <a:lumMod val="50000"/>
                  </a:schemeClr>
                </a:solidFill>
                <a:latin typeface="Franklin Gothic Medium" panose="020B0603020102020204" pitchFamily="34" charset="0"/>
              </a:rPr>
              <a:t>= 20 </a:t>
            </a:r>
            <a:r>
              <a:rPr lang="fr-FR" sz="2400" dirty="0">
                <a:latin typeface="Franklin Gothic Medium" panose="020B0603020102020204" pitchFamily="34" charset="0"/>
              </a:rPr>
              <a:t>→ nombre de </a:t>
            </a:r>
            <a:r>
              <a:rPr lang="fr-FR" sz="2400" dirty="0" smtClean="0">
                <a:latin typeface="Franklin Gothic Medium" panose="020B0603020102020204" pitchFamily="34" charset="0"/>
              </a:rPr>
              <a:t>classes ; </a:t>
            </a:r>
            <a:r>
              <a:rPr lang="fr-FR" sz="2400" dirty="0" err="1" smtClean="0">
                <a:solidFill>
                  <a:schemeClr val="accent6">
                    <a:lumMod val="50000"/>
                  </a:schemeClr>
                </a:solidFill>
                <a:latin typeface="Franklin Gothic Medium" panose="020B0603020102020204" pitchFamily="34" charset="0"/>
              </a:rPr>
              <a:t>fill</a:t>
            </a:r>
            <a:r>
              <a:rPr lang="fr-FR" sz="2400" dirty="0" smtClean="0">
                <a:latin typeface="Franklin Gothic Medium" panose="020B0603020102020204" pitchFamily="34" charset="0"/>
              </a:rPr>
              <a:t> </a:t>
            </a:r>
            <a:r>
              <a:rPr lang="fr-FR" sz="2400" dirty="0">
                <a:latin typeface="Franklin Gothic Medium" panose="020B0603020102020204" pitchFamily="34" charset="0"/>
              </a:rPr>
              <a:t>→ couleur des </a:t>
            </a:r>
            <a:r>
              <a:rPr lang="fr-FR" sz="2400" dirty="0" smtClean="0">
                <a:latin typeface="Franklin Gothic Medium" panose="020B0603020102020204" pitchFamily="34" charset="0"/>
              </a:rPr>
              <a:t>barres ; </a:t>
            </a:r>
            <a:r>
              <a:rPr lang="fr-FR" sz="2400" dirty="0" err="1" smtClean="0">
                <a:solidFill>
                  <a:schemeClr val="accent6">
                    <a:lumMod val="50000"/>
                  </a:schemeClr>
                </a:solidFill>
                <a:latin typeface="Franklin Gothic Medium" panose="020B0603020102020204" pitchFamily="34" charset="0"/>
              </a:rPr>
              <a:t>color</a:t>
            </a:r>
            <a:r>
              <a:rPr lang="fr-FR" sz="2400" dirty="0" smtClean="0">
                <a:latin typeface="Franklin Gothic Medium" panose="020B0603020102020204" pitchFamily="34" charset="0"/>
              </a:rPr>
              <a:t> </a:t>
            </a:r>
            <a:r>
              <a:rPr lang="fr-FR" sz="2400" dirty="0">
                <a:latin typeface="Franklin Gothic Medium" panose="020B0603020102020204" pitchFamily="34" charset="0"/>
              </a:rPr>
              <a:t>→ couleur des </a:t>
            </a:r>
            <a:r>
              <a:rPr lang="fr-FR" sz="2400" dirty="0" smtClean="0">
                <a:latin typeface="Franklin Gothic Medium" panose="020B0603020102020204" pitchFamily="34" charset="0"/>
              </a:rPr>
              <a:t>contours ; </a:t>
            </a:r>
            <a:r>
              <a:rPr lang="fr-FR" sz="2400" dirty="0" err="1" smtClean="0">
                <a:solidFill>
                  <a:schemeClr val="accent6">
                    <a:lumMod val="50000"/>
                  </a:schemeClr>
                </a:solidFill>
                <a:latin typeface="Franklin Gothic Medium" panose="020B0603020102020204" pitchFamily="34" charset="0"/>
              </a:rPr>
              <a:t>theme_minimal</a:t>
            </a:r>
            <a:r>
              <a:rPr lang="fr-FR" sz="2400" dirty="0" smtClean="0">
                <a:solidFill>
                  <a:schemeClr val="accent6">
                    <a:lumMod val="50000"/>
                  </a:schemeClr>
                </a:solidFill>
                <a:latin typeface="Franklin Gothic Medium" panose="020B0603020102020204" pitchFamily="34" charset="0"/>
              </a:rPr>
              <a:t>()</a:t>
            </a:r>
            <a:r>
              <a:rPr lang="fr-FR" sz="2400" dirty="0" smtClean="0">
                <a:latin typeface="Franklin Gothic Medium" panose="020B0603020102020204" pitchFamily="34" charset="0"/>
              </a:rPr>
              <a:t> Applique </a:t>
            </a:r>
            <a:r>
              <a:rPr lang="fr-FR" sz="2400" dirty="0">
                <a:latin typeface="Franklin Gothic Medium" panose="020B0603020102020204" pitchFamily="34" charset="0"/>
              </a:rPr>
              <a:t>un style épuré et professionnel</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736608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50</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pic>
        <p:nvPicPr>
          <p:cNvPr id="12" name="Image 11"/>
          <p:cNvPicPr>
            <a:picLocks noChangeAspect="1"/>
          </p:cNvPicPr>
          <p:nvPr/>
        </p:nvPicPr>
        <p:blipFill>
          <a:blip r:embed="rId2"/>
          <a:stretch>
            <a:fillRect/>
          </a:stretch>
        </p:blipFill>
        <p:spPr>
          <a:xfrm>
            <a:off x="6882738" y="1215146"/>
            <a:ext cx="5213834" cy="5000651"/>
          </a:xfrm>
          <a:prstGeom prst="rect">
            <a:avLst/>
          </a:prstGeom>
        </p:spPr>
      </p:pic>
      <p:sp>
        <p:nvSpPr>
          <p:cNvPr id="14" name="ZoneTexte 13"/>
          <p:cNvSpPr txBox="1"/>
          <p:nvPr/>
        </p:nvSpPr>
        <p:spPr>
          <a:xfrm>
            <a:off x="404949" y="1591812"/>
            <a:ext cx="6017623" cy="4247317"/>
          </a:xfrm>
          <a:prstGeom prst="rect">
            <a:avLst/>
          </a:prstGeom>
          <a:noFill/>
          <a:ln w="38100">
            <a:solidFill>
              <a:srgbClr val="C00000"/>
            </a:solidFill>
          </a:ln>
        </p:spPr>
        <p:txBody>
          <a:bodyPr wrap="square" rtlCol="0">
            <a:spAutoFit/>
          </a:bodyPr>
          <a:lstStyle/>
          <a:p>
            <a:pPr algn="ctr"/>
            <a:r>
              <a:rPr lang="fr-FR" dirty="0">
                <a:solidFill>
                  <a:srgbClr val="C00000"/>
                </a:solidFill>
                <a:latin typeface="Franklin Gothic Medium" panose="020B0603020102020204" pitchFamily="34" charset="0"/>
              </a:rPr>
              <a:t>Ce </a:t>
            </a:r>
            <a:r>
              <a:rPr lang="fr-FR" dirty="0" smtClean="0">
                <a:solidFill>
                  <a:srgbClr val="C00000"/>
                </a:solidFill>
                <a:latin typeface="Franklin Gothic Medium" panose="020B0603020102020204" pitchFamily="34" charset="0"/>
              </a:rPr>
              <a:t>graphique montre </a:t>
            </a:r>
            <a:r>
              <a:rPr lang="fr-FR" dirty="0">
                <a:solidFill>
                  <a:srgbClr val="C00000"/>
                </a:solidFill>
                <a:latin typeface="Franklin Gothic Medium" panose="020B0603020102020204" pitchFamily="34" charset="0"/>
              </a:rPr>
              <a:t>comment se répartissent les mesures de hauteur (exprimées sur l'axe horizontal) au sein </a:t>
            </a:r>
            <a:r>
              <a:rPr lang="fr-FR" dirty="0" smtClean="0">
                <a:solidFill>
                  <a:srgbClr val="C00000"/>
                </a:solidFill>
                <a:latin typeface="Franklin Gothic Medium" panose="020B0603020102020204" pitchFamily="34" charset="0"/>
              </a:rPr>
              <a:t>du </a:t>
            </a:r>
            <a:r>
              <a:rPr lang="fr-FR" dirty="0">
                <a:solidFill>
                  <a:srgbClr val="C00000"/>
                </a:solidFill>
                <a:latin typeface="Franklin Gothic Medium" panose="020B0603020102020204" pitchFamily="34" charset="0"/>
              </a:rPr>
              <a:t>jeu de données nettoyé (</a:t>
            </a:r>
            <a:r>
              <a:rPr lang="fr-FR" dirty="0" err="1">
                <a:solidFill>
                  <a:srgbClr val="C00000"/>
                </a:solidFill>
                <a:latin typeface="Franklin Gothic Medium" panose="020B0603020102020204" pitchFamily="34" charset="0"/>
              </a:rPr>
              <a:t>data_clean$Hauteur</a:t>
            </a:r>
            <a:r>
              <a:rPr lang="fr-FR" dirty="0">
                <a:solidFill>
                  <a:srgbClr val="C00000"/>
                </a:solidFill>
                <a:latin typeface="Franklin Gothic Medium" panose="020B0603020102020204" pitchFamily="34" charset="0"/>
              </a:rPr>
              <a:t>). L'axe vertical, nommé « </a:t>
            </a:r>
            <a:r>
              <a:rPr lang="fr-FR" dirty="0" err="1">
                <a:solidFill>
                  <a:srgbClr val="C00000"/>
                </a:solidFill>
                <a:latin typeface="Franklin Gothic Medium" panose="020B0603020102020204" pitchFamily="34" charset="0"/>
              </a:rPr>
              <a:t>Frequency</a:t>
            </a:r>
            <a:r>
              <a:rPr lang="fr-FR" dirty="0">
                <a:solidFill>
                  <a:srgbClr val="C00000"/>
                </a:solidFill>
                <a:latin typeface="Franklin Gothic Medium" panose="020B0603020102020204" pitchFamily="34" charset="0"/>
              </a:rPr>
              <a:t> » (Fréquence), indique simplement le nombre de fois qu'une valeur apparaît. En regardant les barres grises, on remarque immédiatement que les données ne suivent pas une courbe régulière : il y a un pic principal très élevé pour les hauteurs situées entre 80 et 100 (avec plus de 100 observations), mais aussi un second bloc surprenant tout à droite, autour de 150. Cette séparation nette avec un grand vide au milieu (entre 100 et 140) suggère que </a:t>
            </a:r>
            <a:r>
              <a:rPr lang="fr-FR" dirty="0" smtClean="0">
                <a:solidFill>
                  <a:srgbClr val="C00000"/>
                </a:solidFill>
                <a:latin typeface="Franklin Gothic Medium" panose="020B0603020102020204" pitchFamily="34" charset="0"/>
              </a:rPr>
              <a:t>ces </a:t>
            </a:r>
            <a:r>
              <a:rPr lang="fr-FR" dirty="0">
                <a:solidFill>
                  <a:srgbClr val="C00000"/>
                </a:solidFill>
                <a:latin typeface="Franklin Gothic Medium" panose="020B0603020102020204" pitchFamily="34" charset="0"/>
              </a:rPr>
              <a:t>données cachent potentiellement deux groupes bien distincts, ou qu'il y a une anomalie (comme des valeurs maximales bloquées à 150) à vérifier de plus près.</a:t>
            </a:r>
          </a:p>
        </p:txBody>
      </p:sp>
    </p:spTree>
    <p:extLst>
      <p:ext uri="{BB962C8B-B14F-4D97-AF65-F5344CB8AC3E}">
        <p14:creationId xmlns:p14="http://schemas.microsoft.com/office/powerpoint/2010/main" val="22130564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51</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pic>
        <p:nvPicPr>
          <p:cNvPr id="11" name="Image 10"/>
          <p:cNvPicPr>
            <a:picLocks noChangeAspect="1"/>
          </p:cNvPicPr>
          <p:nvPr/>
        </p:nvPicPr>
        <p:blipFill>
          <a:blip r:embed="rId2"/>
          <a:stretch>
            <a:fillRect/>
          </a:stretch>
        </p:blipFill>
        <p:spPr>
          <a:xfrm>
            <a:off x="0" y="909912"/>
            <a:ext cx="5908554" cy="5666966"/>
          </a:xfrm>
          <a:prstGeom prst="rect">
            <a:avLst/>
          </a:prstGeom>
        </p:spPr>
      </p:pic>
      <p:sp>
        <p:nvSpPr>
          <p:cNvPr id="15" name="ZoneTexte 14"/>
          <p:cNvSpPr txBox="1"/>
          <p:nvPr/>
        </p:nvSpPr>
        <p:spPr>
          <a:xfrm>
            <a:off x="5908554" y="1619736"/>
            <a:ext cx="6017623" cy="3970318"/>
          </a:xfrm>
          <a:prstGeom prst="rect">
            <a:avLst/>
          </a:prstGeom>
          <a:noFill/>
          <a:ln w="38100">
            <a:solidFill>
              <a:srgbClr val="C00000"/>
            </a:solidFill>
          </a:ln>
        </p:spPr>
        <p:txBody>
          <a:bodyPr wrap="square" rtlCol="0">
            <a:spAutoFit/>
          </a:bodyPr>
          <a:lstStyle/>
          <a:p>
            <a:pPr algn="ctr"/>
            <a:r>
              <a:rPr lang="fr-FR" dirty="0" smtClean="0">
                <a:solidFill>
                  <a:srgbClr val="C00000"/>
                </a:solidFill>
                <a:latin typeface="Franklin Gothic Medium" panose="020B0603020102020204" pitchFamily="34" charset="0"/>
              </a:rPr>
              <a:t>La </a:t>
            </a:r>
            <a:r>
              <a:rPr lang="fr-FR" dirty="0">
                <a:solidFill>
                  <a:srgbClr val="C00000"/>
                </a:solidFill>
                <a:latin typeface="Franklin Gothic Medium" panose="020B0603020102020204" pitchFamily="34" charset="0"/>
              </a:rPr>
              <a:t>différence majeure avec le premier graphique réside dans le découpage des barres (le </a:t>
            </a:r>
            <a:r>
              <a:rPr lang="fr-FR" dirty="0" err="1">
                <a:solidFill>
                  <a:srgbClr val="C00000"/>
                </a:solidFill>
                <a:latin typeface="Franklin Gothic Medium" panose="020B0603020102020204" pitchFamily="34" charset="0"/>
              </a:rPr>
              <a:t>binwidth</a:t>
            </a:r>
            <a:r>
              <a:rPr lang="fr-FR" dirty="0">
                <a:solidFill>
                  <a:srgbClr val="C00000"/>
                </a:solidFill>
                <a:latin typeface="Franklin Gothic Medium" panose="020B0603020102020204" pitchFamily="34" charset="0"/>
              </a:rPr>
              <a:t>), qui est ici beaucoup plus fin, ce qui permet de voir la distribution avec un niveau de détail bien supérieur. On y découvre trois informations cruciales :Une distribution étalée à gauche : Entre les valeurs 0 et 90, on observe une forme de "cloche" irrégulière ou </a:t>
            </a:r>
            <a:r>
              <a:rPr lang="fr-FR" dirty="0" err="1">
                <a:solidFill>
                  <a:srgbClr val="C00000"/>
                </a:solidFill>
                <a:latin typeface="Franklin Gothic Medium" panose="020B0603020102020204" pitchFamily="34" charset="0"/>
              </a:rPr>
              <a:t>multi-modale</a:t>
            </a:r>
            <a:r>
              <a:rPr lang="fr-FR" dirty="0">
                <a:solidFill>
                  <a:srgbClr val="C00000"/>
                </a:solidFill>
                <a:latin typeface="Franklin Gothic Medium" panose="020B0603020102020204" pitchFamily="34" charset="0"/>
              </a:rPr>
              <a:t> (plusieurs petits pics autour de 40 et 60), montrant une variabilité naturelle des </a:t>
            </a:r>
            <a:r>
              <a:rPr lang="fr-FR" dirty="0" smtClean="0">
                <a:solidFill>
                  <a:srgbClr val="C00000"/>
                </a:solidFill>
                <a:latin typeface="Franklin Gothic Medium" panose="020B0603020102020204" pitchFamily="34" charset="0"/>
              </a:rPr>
              <a:t>Ce </a:t>
            </a:r>
            <a:r>
              <a:rPr lang="fr-FR" dirty="0">
                <a:solidFill>
                  <a:srgbClr val="C00000"/>
                </a:solidFill>
                <a:latin typeface="Franklin Gothic Medium" panose="020B0603020102020204" pitchFamily="34" charset="0"/>
              </a:rPr>
              <a:t>niveau de précision renforce l'hypothèse d'une anomalie dans la collecte des données : la présence de pics aussi artificiellement parfaits à des chiffres ronds comme 100 et 150 évoque fortement un effet de seuil (par exemple, un instrument de mesure limité à 150) ou un arrondi automatique lors de la saisie.</a:t>
            </a:r>
          </a:p>
        </p:txBody>
      </p:sp>
    </p:spTree>
    <p:extLst>
      <p:ext uri="{BB962C8B-B14F-4D97-AF65-F5344CB8AC3E}">
        <p14:creationId xmlns:p14="http://schemas.microsoft.com/office/powerpoint/2010/main" val="34226106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52</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1" name="Rectangle 10"/>
          <p:cNvSpPr/>
          <p:nvPr/>
        </p:nvSpPr>
        <p:spPr>
          <a:xfrm>
            <a:off x="-4" y="747344"/>
            <a:ext cx="12191999" cy="224450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p:cNvSpPr txBox="1"/>
          <p:nvPr/>
        </p:nvSpPr>
        <p:spPr>
          <a:xfrm>
            <a:off x="-4" y="1052857"/>
            <a:ext cx="12052663" cy="1938992"/>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a:t>
            </a:r>
            <a:r>
              <a:rPr lang="fr-FR" sz="2400" dirty="0" err="1">
                <a:solidFill>
                  <a:srgbClr val="C00000"/>
                </a:solidFill>
                <a:latin typeface="Franklin Gothic Medium" panose="020B0603020102020204" pitchFamily="34" charset="0"/>
              </a:rPr>
              <a:t>Boxplot</a:t>
            </a:r>
            <a:r>
              <a:rPr lang="fr-FR" sz="2400" dirty="0">
                <a:solidFill>
                  <a:srgbClr val="C00000"/>
                </a:solidFill>
                <a:latin typeface="Franklin Gothic Medium" panose="020B0603020102020204" pitchFamily="34" charset="0"/>
              </a:rPr>
              <a:t> par </a:t>
            </a:r>
            <a:r>
              <a:rPr lang="fr-FR" sz="2400" dirty="0" smtClean="0">
                <a:solidFill>
                  <a:srgbClr val="C00000"/>
                </a:solidFill>
                <a:latin typeface="Franklin Gothic Medium" panose="020B0603020102020204" pitchFamily="34" charset="0"/>
              </a:rPr>
              <a:t>traitement</a:t>
            </a:r>
          </a:p>
          <a:p>
            <a:r>
              <a:rPr lang="fr-FR" sz="2400" dirty="0" err="1" smtClean="0">
                <a:solidFill>
                  <a:srgbClr val="C00000"/>
                </a:solidFill>
                <a:latin typeface="Franklin Gothic Medium" panose="020B0603020102020204" pitchFamily="34" charset="0"/>
              </a:rPr>
              <a:t>ggplot</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a:t>
            </a:r>
            <a:r>
              <a:rPr lang="fr-FR" sz="2400" dirty="0">
                <a:solidFill>
                  <a:srgbClr val="C00000"/>
                </a:solidFill>
                <a:latin typeface="Franklin Gothic Medium" panose="020B0603020102020204" pitchFamily="34" charset="0"/>
              </a:rPr>
              <a:t>, </a:t>
            </a:r>
            <a:r>
              <a:rPr lang="fr-FR" sz="2400" dirty="0" err="1">
                <a:solidFill>
                  <a:srgbClr val="C00000"/>
                </a:solidFill>
                <a:latin typeface="Franklin Gothic Medium" panose="020B0603020102020204" pitchFamily="34" charset="0"/>
              </a:rPr>
              <a:t>aes</a:t>
            </a:r>
            <a:r>
              <a:rPr lang="fr-FR" sz="2400" dirty="0">
                <a:solidFill>
                  <a:srgbClr val="C00000"/>
                </a:solidFill>
                <a:latin typeface="Franklin Gothic Medium" panose="020B0603020102020204" pitchFamily="34" charset="0"/>
              </a:rPr>
              <a:t>(x = Traitements, y = Hauteur)) +  </a:t>
            </a:r>
            <a:r>
              <a:rPr lang="fr-FR" sz="2400" dirty="0" err="1">
                <a:solidFill>
                  <a:srgbClr val="C00000"/>
                </a:solidFill>
                <a:latin typeface="Franklin Gothic Medium" panose="020B0603020102020204" pitchFamily="34" charset="0"/>
              </a:rPr>
              <a:t>geom_boxplot</a:t>
            </a:r>
            <a:r>
              <a:rPr lang="fr-FR" sz="2400" dirty="0">
                <a:solidFill>
                  <a:srgbClr val="C00000"/>
                </a:solidFill>
                <a:latin typeface="Franklin Gothic Medium" panose="020B0603020102020204" pitchFamily="34" charset="0"/>
              </a:rPr>
              <a:t>() +  </a:t>
            </a:r>
            <a:r>
              <a:rPr lang="fr-FR" sz="2400" dirty="0" err="1">
                <a:solidFill>
                  <a:srgbClr val="C00000"/>
                </a:solidFill>
                <a:latin typeface="Franklin Gothic Medium" panose="020B0603020102020204" pitchFamily="34" charset="0"/>
              </a:rPr>
              <a:t>theme_minimal</a:t>
            </a:r>
            <a:r>
              <a:rPr lang="fr-FR" sz="2400" dirty="0">
                <a:solidFill>
                  <a:srgbClr val="C00000"/>
                </a:solidFill>
                <a:latin typeface="Franklin Gothic Medium" panose="020B0603020102020204" pitchFamily="34" charset="0"/>
              </a:rPr>
              <a:t>()# Relation entre diamètre et </a:t>
            </a:r>
            <a:r>
              <a:rPr lang="fr-FR" sz="2400" dirty="0" err="1">
                <a:solidFill>
                  <a:srgbClr val="C00000"/>
                </a:solidFill>
                <a:latin typeface="Franklin Gothic Medium" panose="020B0603020102020204" pitchFamily="34" charset="0"/>
              </a:rPr>
              <a:t>hauteurggplot</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data_clean</a:t>
            </a:r>
            <a:r>
              <a:rPr lang="fr-FR" sz="2400" dirty="0">
                <a:solidFill>
                  <a:srgbClr val="C00000"/>
                </a:solidFill>
                <a:latin typeface="Franklin Gothic Medium" panose="020B0603020102020204" pitchFamily="34" charset="0"/>
              </a:rPr>
              <a:t>, </a:t>
            </a:r>
            <a:r>
              <a:rPr lang="fr-FR" sz="2400" dirty="0" err="1">
                <a:solidFill>
                  <a:srgbClr val="C00000"/>
                </a:solidFill>
                <a:latin typeface="Franklin Gothic Medium" panose="020B0603020102020204" pitchFamily="34" charset="0"/>
              </a:rPr>
              <a:t>aes</a:t>
            </a:r>
            <a:r>
              <a:rPr lang="fr-FR" sz="2400" dirty="0">
                <a:solidFill>
                  <a:srgbClr val="C00000"/>
                </a:solidFill>
                <a:latin typeface="Franklin Gothic Medium" panose="020B0603020102020204" pitchFamily="34" charset="0"/>
              </a:rPr>
              <a:t>(x = </a:t>
            </a:r>
            <a:r>
              <a:rPr lang="fr-FR" sz="2400" dirty="0" err="1">
                <a:solidFill>
                  <a:srgbClr val="C00000"/>
                </a:solidFill>
                <a:latin typeface="Franklin Gothic Medium" panose="020B0603020102020204" pitchFamily="34" charset="0"/>
              </a:rPr>
              <a:t>Diametre</a:t>
            </a:r>
            <a:r>
              <a:rPr lang="fr-FR" sz="2400" dirty="0">
                <a:solidFill>
                  <a:srgbClr val="C00000"/>
                </a:solidFill>
                <a:latin typeface="Franklin Gothic Medium" panose="020B0603020102020204" pitchFamily="34" charset="0"/>
              </a:rPr>
              <a:t>, y = Hauteur)) +  </a:t>
            </a:r>
            <a:r>
              <a:rPr lang="fr-FR" sz="2400" dirty="0" err="1">
                <a:solidFill>
                  <a:srgbClr val="C00000"/>
                </a:solidFill>
                <a:latin typeface="Franklin Gothic Medium" panose="020B0603020102020204" pitchFamily="34" charset="0"/>
              </a:rPr>
              <a:t>geom_point</a:t>
            </a:r>
            <a:r>
              <a:rPr lang="fr-FR" sz="2400" dirty="0">
                <a:solidFill>
                  <a:srgbClr val="C00000"/>
                </a:solidFill>
                <a:latin typeface="Franklin Gothic Medium" panose="020B0603020102020204" pitchFamily="34" charset="0"/>
              </a:rPr>
              <a:t>() +  </a:t>
            </a:r>
            <a:r>
              <a:rPr lang="fr-FR" sz="2400" dirty="0" err="1">
                <a:solidFill>
                  <a:srgbClr val="C00000"/>
                </a:solidFill>
                <a:latin typeface="Franklin Gothic Medium" panose="020B0603020102020204" pitchFamily="34" charset="0"/>
              </a:rPr>
              <a:t>geom_smooth</a:t>
            </a:r>
            <a:r>
              <a:rPr lang="fr-FR" sz="2400" dirty="0">
                <a:solidFill>
                  <a:srgbClr val="C00000"/>
                </a:solidFill>
                <a:latin typeface="Franklin Gothic Medium" panose="020B0603020102020204" pitchFamily="34" charset="0"/>
              </a:rPr>
              <a:t>(</a:t>
            </a:r>
            <a:r>
              <a:rPr lang="fr-FR" sz="2400" dirty="0" err="1">
                <a:solidFill>
                  <a:srgbClr val="C00000"/>
                </a:solidFill>
                <a:latin typeface="Franklin Gothic Medium" panose="020B0603020102020204" pitchFamily="34" charset="0"/>
              </a:rPr>
              <a:t>method</a:t>
            </a:r>
            <a:r>
              <a:rPr lang="fr-FR" sz="2400" dirty="0">
                <a:solidFill>
                  <a:srgbClr val="C00000"/>
                </a:solidFill>
                <a:latin typeface="Franklin Gothic Medium" panose="020B0603020102020204" pitchFamily="34" charset="0"/>
              </a:rPr>
              <a:t> = "lm") +  </a:t>
            </a:r>
            <a:r>
              <a:rPr lang="fr-FR" sz="2400" dirty="0" err="1">
                <a:solidFill>
                  <a:srgbClr val="C00000"/>
                </a:solidFill>
                <a:latin typeface="Franklin Gothic Medium" panose="020B0603020102020204" pitchFamily="34" charset="0"/>
              </a:rPr>
              <a:t>theme_minimal</a:t>
            </a:r>
            <a:r>
              <a:rPr lang="fr-FR" sz="2400" dirty="0">
                <a:solidFill>
                  <a:srgbClr val="C00000"/>
                </a:solidFill>
                <a:latin typeface="Franklin Gothic Medium" panose="020B0603020102020204" pitchFamily="34" charset="0"/>
              </a:rPr>
              <a:t>()</a:t>
            </a:r>
            <a:endParaRPr lang="fr-FR" sz="2400" dirty="0">
              <a:solidFill>
                <a:srgbClr val="C00000"/>
              </a:solidFill>
              <a:latin typeface="Franklin Gothic Medium" panose="020B0603020102020204" pitchFamily="34" charset="0"/>
            </a:endParaRPr>
          </a:p>
        </p:txBody>
      </p:sp>
      <p:sp>
        <p:nvSpPr>
          <p:cNvPr id="14" name="ZoneTexte 13"/>
          <p:cNvSpPr txBox="1"/>
          <p:nvPr/>
        </p:nvSpPr>
        <p:spPr>
          <a:xfrm>
            <a:off x="-5" y="3034555"/>
            <a:ext cx="12191999" cy="3046988"/>
          </a:xfrm>
          <a:prstGeom prst="rect">
            <a:avLst/>
          </a:prstGeom>
          <a:solidFill>
            <a:schemeClr val="accent2">
              <a:lumMod val="20000"/>
              <a:lumOff val="80000"/>
            </a:schemeClr>
          </a:solidFill>
        </p:spPr>
        <p:txBody>
          <a:bodyPr wrap="square" rtlCol="0">
            <a:spAutoFit/>
          </a:bodyPr>
          <a:lstStyle/>
          <a:p>
            <a:pPr algn="just"/>
            <a:r>
              <a:rPr lang="fr-FR" sz="2400" dirty="0" err="1" smtClean="0">
                <a:solidFill>
                  <a:schemeClr val="accent6">
                    <a:lumMod val="50000"/>
                  </a:schemeClr>
                </a:solidFill>
                <a:latin typeface="Franklin Gothic Medium" panose="020B0603020102020204" pitchFamily="34" charset="0"/>
              </a:rPr>
              <a:t>ggplot</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Initialise </a:t>
            </a:r>
            <a:r>
              <a:rPr lang="fr-FR" sz="2400" dirty="0">
                <a:latin typeface="Franklin Gothic Medium" panose="020B0603020102020204" pitchFamily="34" charset="0"/>
              </a:rPr>
              <a:t>le graphique en utilisant le jeu de </a:t>
            </a:r>
            <a:r>
              <a:rPr lang="fr-FR" sz="2400" dirty="0" smtClean="0">
                <a:latin typeface="Franklin Gothic Medium" panose="020B0603020102020204" pitchFamily="34" charset="0"/>
              </a:rPr>
              <a:t>données ; </a:t>
            </a:r>
            <a:r>
              <a:rPr lang="fr-FR" sz="2400" dirty="0" err="1" smtClean="0">
                <a:solidFill>
                  <a:schemeClr val="accent6">
                    <a:lumMod val="50000"/>
                  </a:schemeClr>
                </a:solidFill>
                <a:latin typeface="Franklin Gothic Medium" panose="020B0603020102020204" pitchFamily="34" charset="0"/>
              </a:rPr>
              <a:t>data_clean</a:t>
            </a:r>
            <a:r>
              <a:rPr lang="fr-FR" sz="2400" dirty="0" smtClean="0">
                <a:solidFill>
                  <a:schemeClr val="accent6">
                    <a:lumMod val="50000"/>
                  </a:schemeClr>
                </a:solidFill>
                <a:latin typeface="Franklin Gothic Medium" panose="020B0603020102020204" pitchFamily="34" charset="0"/>
              </a:rPr>
              <a:t> ;</a:t>
            </a:r>
            <a:r>
              <a:rPr lang="fr-FR" sz="2400" dirty="0">
                <a:solidFill>
                  <a:schemeClr val="accent6">
                    <a:lumMod val="50000"/>
                  </a:schemeClr>
                </a:solidFill>
                <a:latin typeface="Franklin Gothic Medium" panose="020B0603020102020204" pitchFamily="34" charset="0"/>
              </a:rPr>
              <a:t> </a:t>
            </a:r>
            <a:r>
              <a:rPr lang="fr-FR" sz="2400" dirty="0" err="1" smtClean="0">
                <a:solidFill>
                  <a:schemeClr val="accent6">
                    <a:lumMod val="50000"/>
                  </a:schemeClr>
                </a:solidFill>
                <a:latin typeface="Franklin Gothic Medium" panose="020B0603020102020204" pitchFamily="34" charset="0"/>
              </a:rPr>
              <a:t>aes</a:t>
            </a:r>
            <a:r>
              <a:rPr lang="fr-FR" sz="2400" dirty="0" smtClean="0">
                <a:solidFill>
                  <a:schemeClr val="accent6">
                    <a:lumMod val="50000"/>
                  </a:schemeClr>
                </a:solidFill>
                <a:latin typeface="Franklin Gothic Medium" panose="020B0603020102020204" pitchFamily="34" charset="0"/>
              </a:rPr>
              <a:t>(x </a:t>
            </a:r>
            <a:r>
              <a:rPr lang="fr-FR" sz="2400" dirty="0">
                <a:solidFill>
                  <a:schemeClr val="accent6">
                    <a:lumMod val="50000"/>
                  </a:schemeClr>
                </a:solidFill>
                <a:latin typeface="Franklin Gothic Medium" panose="020B0603020102020204" pitchFamily="34" charset="0"/>
              </a:rPr>
              <a:t>= Traitements, y = </a:t>
            </a:r>
            <a:r>
              <a:rPr lang="fr-FR" sz="2400" dirty="0" smtClean="0">
                <a:solidFill>
                  <a:schemeClr val="accent6">
                    <a:lumMod val="50000"/>
                  </a:schemeClr>
                </a:solidFill>
                <a:latin typeface="Franklin Gothic Medium" panose="020B0603020102020204" pitchFamily="34" charset="0"/>
              </a:rPr>
              <a:t>Hauteur) </a:t>
            </a:r>
            <a:r>
              <a:rPr lang="fr-FR" sz="2400" dirty="0">
                <a:latin typeface="Franklin Gothic Medium" panose="020B0603020102020204" pitchFamily="34" charset="0"/>
              </a:rPr>
              <a:t>d</a:t>
            </a:r>
            <a:r>
              <a:rPr lang="fr-FR" sz="2400" dirty="0" smtClean="0">
                <a:latin typeface="Franklin Gothic Medium" panose="020B0603020102020204" pitchFamily="34" charset="0"/>
              </a:rPr>
              <a:t>éfinit </a:t>
            </a:r>
            <a:r>
              <a:rPr lang="fr-FR" sz="2400" dirty="0">
                <a:latin typeface="Franklin Gothic Medium" panose="020B0603020102020204" pitchFamily="34" charset="0"/>
              </a:rPr>
              <a:t>les variables à représenter </a:t>
            </a:r>
            <a:r>
              <a:rPr lang="fr-FR" sz="2400" dirty="0" smtClean="0">
                <a:latin typeface="Franklin Gothic Medium" panose="020B0603020102020204" pitchFamily="34" charset="0"/>
              </a:rPr>
              <a:t>: </a:t>
            </a:r>
            <a:r>
              <a:rPr lang="fr-FR" sz="2400" dirty="0" smtClean="0">
                <a:solidFill>
                  <a:schemeClr val="accent6">
                    <a:lumMod val="50000"/>
                  </a:schemeClr>
                </a:solidFill>
                <a:latin typeface="Franklin Gothic Medium" panose="020B0603020102020204" pitchFamily="34" charset="0"/>
              </a:rPr>
              <a:t>x </a:t>
            </a:r>
            <a:r>
              <a:rPr lang="fr-FR" sz="2400" dirty="0">
                <a:solidFill>
                  <a:schemeClr val="accent6">
                    <a:lumMod val="50000"/>
                  </a:schemeClr>
                </a:solidFill>
                <a:latin typeface="Franklin Gothic Medium" panose="020B0603020102020204" pitchFamily="34" charset="0"/>
              </a:rPr>
              <a:t>= Traitements </a:t>
            </a:r>
            <a:r>
              <a:rPr lang="fr-FR" sz="2400" dirty="0">
                <a:latin typeface="Franklin Gothic Medium" panose="020B0603020102020204" pitchFamily="34" charset="0"/>
              </a:rPr>
              <a:t>→ variable qualitative (types de traitements</a:t>
            </a:r>
            <a:r>
              <a:rPr lang="fr-FR" sz="2400" dirty="0" smtClean="0">
                <a:latin typeface="Franklin Gothic Medium" panose="020B0603020102020204" pitchFamily="34" charset="0"/>
              </a:rPr>
              <a:t>) </a:t>
            </a:r>
            <a:r>
              <a:rPr lang="fr-FR" sz="2400" dirty="0" smtClean="0">
                <a:solidFill>
                  <a:schemeClr val="accent6">
                    <a:lumMod val="50000"/>
                  </a:schemeClr>
                </a:solidFill>
                <a:latin typeface="Franklin Gothic Medium" panose="020B0603020102020204" pitchFamily="34" charset="0"/>
              </a:rPr>
              <a:t>y </a:t>
            </a:r>
            <a:r>
              <a:rPr lang="fr-FR" sz="2400" dirty="0">
                <a:solidFill>
                  <a:schemeClr val="accent6">
                    <a:lumMod val="50000"/>
                  </a:schemeClr>
                </a:solidFill>
                <a:latin typeface="Franklin Gothic Medium" panose="020B0603020102020204" pitchFamily="34" charset="0"/>
              </a:rPr>
              <a:t>= Hauteur </a:t>
            </a:r>
            <a:r>
              <a:rPr lang="fr-FR" sz="2400" dirty="0">
                <a:latin typeface="Franklin Gothic Medium" panose="020B0603020102020204" pitchFamily="34" charset="0"/>
              </a:rPr>
              <a:t>→ variable quantitative (hauteur des </a:t>
            </a:r>
            <a:r>
              <a:rPr lang="fr-FR" sz="2400" dirty="0" smtClean="0">
                <a:latin typeface="Franklin Gothic Medium" panose="020B0603020102020204" pitchFamily="34" charset="0"/>
              </a:rPr>
              <a:t>plants) permet </a:t>
            </a:r>
            <a:r>
              <a:rPr lang="fr-FR" sz="2400" dirty="0">
                <a:latin typeface="Franklin Gothic Medium" panose="020B0603020102020204" pitchFamily="34" charset="0"/>
              </a:rPr>
              <a:t>de comparer les hauteurs entre </a:t>
            </a:r>
            <a:r>
              <a:rPr lang="fr-FR" sz="2400" dirty="0" smtClean="0">
                <a:latin typeface="Franklin Gothic Medium" panose="020B0603020102020204" pitchFamily="34" charset="0"/>
              </a:rPr>
              <a:t>traitements ; </a:t>
            </a:r>
            <a:r>
              <a:rPr lang="fr-FR" sz="2400" dirty="0" err="1" smtClean="0">
                <a:solidFill>
                  <a:schemeClr val="accent6">
                    <a:lumMod val="50000"/>
                  </a:schemeClr>
                </a:solidFill>
                <a:latin typeface="Franklin Gothic Medium" panose="020B0603020102020204" pitchFamily="34" charset="0"/>
              </a:rPr>
              <a:t>geom_boxplot</a:t>
            </a:r>
            <a:r>
              <a:rPr lang="fr-FR" sz="2400" dirty="0" smtClean="0">
                <a:solidFill>
                  <a:schemeClr val="accent6">
                    <a:lumMod val="50000"/>
                  </a:schemeClr>
                </a:solidFill>
                <a:latin typeface="Franklin Gothic Medium" panose="020B0603020102020204" pitchFamily="34" charset="0"/>
              </a:rPr>
              <a:t>()</a:t>
            </a:r>
            <a:r>
              <a:rPr lang="fr-FR" sz="2400" dirty="0" smtClean="0">
                <a:latin typeface="Franklin Gothic Medium" panose="020B0603020102020204" pitchFamily="34" charset="0"/>
              </a:rPr>
              <a:t> </a:t>
            </a:r>
            <a:r>
              <a:rPr lang="fr-FR" sz="2400" dirty="0">
                <a:latin typeface="Franklin Gothic Medium" panose="020B0603020102020204" pitchFamily="34" charset="0"/>
              </a:rPr>
              <a:t>Crée un diagramme en boîte (</a:t>
            </a:r>
            <a:r>
              <a:rPr lang="fr-FR" sz="2400" dirty="0" err="1">
                <a:latin typeface="Franklin Gothic Medium" panose="020B0603020102020204" pitchFamily="34" charset="0"/>
              </a:rPr>
              <a:t>boxplot</a:t>
            </a:r>
            <a:r>
              <a:rPr lang="fr-FR" sz="2400" dirty="0" smtClean="0">
                <a:latin typeface="Franklin Gothic Medium" panose="020B0603020102020204" pitchFamily="34" charset="0"/>
              </a:rPr>
              <a:t>). Éléments </a:t>
            </a:r>
            <a:r>
              <a:rPr lang="fr-FR" sz="2400" dirty="0">
                <a:latin typeface="Franklin Gothic Medium" panose="020B0603020102020204" pitchFamily="34" charset="0"/>
              </a:rPr>
              <a:t>du </a:t>
            </a:r>
            <a:r>
              <a:rPr lang="fr-FR" sz="2400" dirty="0" err="1">
                <a:latin typeface="Franklin Gothic Medium" panose="020B0603020102020204" pitchFamily="34" charset="0"/>
              </a:rPr>
              <a:t>boxplot</a:t>
            </a:r>
            <a:r>
              <a:rPr lang="fr-FR" sz="2400" dirty="0">
                <a:latin typeface="Franklin Gothic Medium" panose="020B0603020102020204" pitchFamily="34" charset="0"/>
              </a:rPr>
              <a:t> :Ligne centrale → </a:t>
            </a:r>
            <a:r>
              <a:rPr lang="fr-FR" sz="2400" dirty="0" err="1">
                <a:latin typeface="Franklin Gothic Medium" panose="020B0603020102020204" pitchFamily="34" charset="0"/>
              </a:rPr>
              <a:t>médianeBoîte</a:t>
            </a:r>
            <a:r>
              <a:rPr lang="fr-FR" sz="2400" dirty="0">
                <a:latin typeface="Franklin Gothic Medium" panose="020B0603020102020204" pitchFamily="34" charset="0"/>
              </a:rPr>
              <a:t> → intervalle interquartile (Q1 à Q3</a:t>
            </a:r>
            <a:r>
              <a:rPr lang="fr-FR" sz="2400" dirty="0" smtClean="0">
                <a:latin typeface="Franklin Gothic Medium" panose="020B0603020102020204" pitchFamily="34" charset="0"/>
              </a:rPr>
              <a:t>) ; Moustaches </a:t>
            </a:r>
            <a:r>
              <a:rPr lang="fr-FR" sz="2400" dirty="0">
                <a:latin typeface="Franklin Gothic Medium" panose="020B0603020102020204" pitchFamily="34" charset="0"/>
              </a:rPr>
              <a:t>→ étendue des données (hors valeurs </a:t>
            </a:r>
            <a:r>
              <a:rPr lang="fr-FR" sz="2400" dirty="0" smtClean="0">
                <a:latin typeface="Franklin Gothic Medium" panose="020B0603020102020204" pitchFamily="34" charset="0"/>
              </a:rPr>
              <a:t>extrêmes)Points </a:t>
            </a:r>
            <a:r>
              <a:rPr lang="fr-FR" sz="2400" dirty="0">
                <a:latin typeface="Franklin Gothic Medium" panose="020B0603020102020204" pitchFamily="34" charset="0"/>
              </a:rPr>
              <a:t>isolés → valeurs aberrantes (</a:t>
            </a:r>
            <a:r>
              <a:rPr lang="fr-FR" sz="2400" dirty="0" err="1">
                <a:latin typeface="Franklin Gothic Medium" panose="020B0603020102020204" pitchFamily="34" charset="0"/>
              </a:rPr>
              <a:t>outliers</a:t>
            </a:r>
            <a:r>
              <a:rPr lang="fr-FR" sz="2400" dirty="0" smtClean="0">
                <a:latin typeface="Franklin Gothic Medium" panose="020B0603020102020204" pitchFamily="34" charset="0"/>
              </a:rPr>
              <a:t>) ; </a:t>
            </a:r>
            <a:r>
              <a:rPr lang="fr-FR" sz="2400" dirty="0" err="1">
                <a:solidFill>
                  <a:schemeClr val="accent6">
                    <a:lumMod val="50000"/>
                  </a:schemeClr>
                </a:solidFill>
                <a:latin typeface="Franklin Gothic Medium" panose="020B0603020102020204" pitchFamily="34" charset="0"/>
              </a:rPr>
              <a:t>theme_minimal</a:t>
            </a:r>
            <a:r>
              <a:rPr lang="fr-FR" sz="2400" dirty="0" smtClean="0">
                <a:solidFill>
                  <a:schemeClr val="accent6">
                    <a:lumMod val="50000"/>
                  </a:schemeClr>
                </a:solidFill>
                <a:latin typeface="Franklin Gothic Medium" panose="020B0603020102020204" pitchFamily="34" charset="0"/>
              </a:rPr>
              <a:t>()</a:t>
            </a:r>
            <a:r>
              <a:rPr lang="fr-FR" sz="2400" dirty="0" smtClean="0">
                <a:latin typeface="Franklin Gothic Medium" panose="020B0603020102020204" pitchFamily="34" charset="0"/>
              </a:rPr>
              <a:t> applique </a:t>
            </a:r>
            <a:r>
              <a:rPr lang="fr-FR" sz="2400" dirty="0">
                <a:latin typeface="Franklin Gothic Medium" panose="020B0603020102020204" pitchFamily="34" charset="0"/>
              </a:rPr>
              <a:t>un style graphique simple et professionnel→ améliore la lisibilité pour les présentations scientifiques</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56159538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53</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1" name="Rectangle 10"/>
          <p:cNvSpPr/>
          <p:nvPr/>
        </p:nvSpPr>
        <p:spPr>
          <a:xfrm>
            <a:off x="-4" y="747344"/>
            <a:ext cx="12191999" cy="224450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p:cNvSpPr txBox="1"/>
          <p:nvPr/>
        </p:nvSpPr>
        <p:spPr>
          <a:xfrm>
            <a:off x="-4" y="1052857"/>
            <a:ext cx="12052663" cy="1938992"/>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Relation entre diamètre et </a:t>
            </a:r>
            <a:r>
              <a:rPr lang="fr-FR" sz="2400" dirty="0" smtClean="0">
                <a:solidFill>
                  <a:srgbClr val="C00000"/>
                </a:solidFill>
                <a:latin typeface="Franklin Gothic Medium" panose="020B0603020102020204" pitchFamily="34" charset="0"/>
              </a:rPr>
              <a:t>hauteur</a:t>
            </a:r>
          </a:p>
          <a:p>
            <a:r>
              <a:rPr lang="fr-FR" sz="2400" dirty="0" err="1" smtClean="0">
                <a:solidFill>
                  <a:srgbClr val="C00000"/>
                </a:solidFill>
                <a:latin typeface="Franklin Gothic Medium" panose="020B0603020102020204" pitchFamily="34" charset="0"/>
              </a:rPr>
              <a:t>ggplot</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a:t>
            </a:r>
            <a:r>
              <a:rPr lang="fr-FR" sz="2400" dirty="0">
                <a:solidFill>
                  <a:srgbClr val="C00000"/>
                </a:solidFill>
                <a:latin typeface="Franklin Gothic Medium" panose="020B0603020102020204" pitchFamily="34" charset="0"/>
              </a:rPr>
              <a:t>, </a:t>
            </a:r>
            <a:r>
              <a:rPr lang="fr-FR" sz="2400" dirty="0" err="1">
                <a:solidFill>
                  <a:srgbClr val="C00000"/>
                </a:solidFill>
                <a:latin typeface="Franklin Gothic Medium" panose="020B0603020102020204" pitchFamily="34" charset="0"/>
              </a:rPr>
              <a:t>aes</a:t>
            </a:r>
            <a:r>
              <a:rPr lang="fr-FR" sz="2400" dirty="0">
                <a:solidFill>
                  <a:srgbClr val="C00000"/>
                </a:solidFill>
                <a:latin typeface="Franklin Gothic Medium" panose="020B0603020102020204" pitchFamily="34" charset="0"/>
              </a:rPr>
              <a:t>(x = </a:t>
            </a:r>
            <a:r>
              <a:rPr lang="fr-FR" sz="2400" dirty="0" err="1">
                <a:solidFill>
                  <a:srgbClr val="C00000"/>
                </a:solidFill>
                <a:latin typeface="Franklin Gothic Medium" panose="020B0603020102020204" pitchFamily="34" charset="0"/>
              </a:rPr>
              <a:t>Diametre</a:t>
            </a:r>
            <a:r>
              <a:rPr lang="fr-FR" sz="2400" dirty="0">
                <a:solidFill>
                  <a:srgbClr val="C00000"/>
                </a:solidFill>
                <a:latin typeface="Franklin Gothic Medium" panose="020B0603020102020204" pitchFamily="34" charset="0"/>
              </a:rPr>
              <a:t>, y = Hauteur)) +  </a:t>
            </a:r>
            <a:endParaRPr lang="fr-FR" sz="2400" dirty="0" smtClean="0">
              <a:solidFill>
                <a:srgbClr val="C00000"/>
              </a:solidFill>
              <a:latin typeface="Franklin Gothic Medium" panose="020B0603020102020204" pitchFamily="34" charset="0"/>
            </a:endParaRPr>
          </a:p>
          <a:p>
            <a:r>
              <a:rPr lang="fr-FR" sz="2400" dirty="0" err="1" smtClean="0">
                <a:solidFill>
                  <a:srgbClr val="C00000"/>
                </a:solidFill>
                <a:latin typeface="Franklin Gothic Medium" panose="020B0603020102020204" pitchFamily="34" charset="0"/>
              </a:rPr>
              <a:t>geom_point</a:t>
            </a:r>
            <a:r>
              <a:rPr lang="fr-FR" sz="2400" dirty="0">
                <a:solidFill>
                  <a:srgbClr val="C00000"/>
                </a:solidFill>
                <a:latin typeface="Franklin Gothic Medium" panose="020B0603020102020204" pitchFamily="34" charset="0"/>
              </a:rPr>
              <a:t>() +  </a:t>
            </a:r>
            <a:endParaRPr lang="fr-FR" sz="2400" dirty="0" smtClean="0">
              <a:solidFill>
                <a:srgbClr val="C00000"/>
              </a:solidFill>
              <a:latin typeface="Franklin Gothic Medium" panose="020B0603020102020204" pitchFamily="34" charset="0"/>
            </a:endParaRPr>
          </a:p>
          <a:p>
            <a:r>
              <a:rPr lang="fr-FR" sz="2400" dirty="0" err="1" smtClean="0">
                <a:solidFill>
                  <a:srgbClr val="C00000"/>
                </a:solidFill>
                <a:latin typeface="Franklin Gothic Medium" panose="020B0603020102020204" pitchFamily="34" charset="0"/>
              </a:rPr>
              <a:t>geom_smooth</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method</a:t>
            </a:r>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 "lm") +  </a:t>
            </a:r>
            <a:endParaRPr lang="fr-FR" sz="2400" dirty="0" smtClean="0">
              <a:solidFill>
                <a:srgbClr val="C00000"/>
              </a:solidFill>
              <a:latin typeface="Franklin Gothic Medium" panose="020B0603020102020204" pitchFamily="34" charset="0"/>
            </a:endParaRPr>
          </a:p>
          <a:p>
            <a:r>
              <a:rPr lang="fr-FR" sz="2400" dirty="0" err="1" smtClean="0">
                <a:solidFill>
                  <a:srgbClr val="C00000"/>
                </a:solidFill>
                <a:latin typeface="Franklin Gothic Medium" panose="020B0603020102020204" pitchFamily="34" charset="0"/>
              </a:rPr>
              <a:t>theme_minimal</a:t>
            </a:r>
            <a:r>
              <a:rPr lang="fr-FR" sz="2400" dirty="0">
                <a:solidFill>
                  <a:srgbClr val="C00000"/>
                </a:solidFill>
                <a:latin typeface="Franklin Gothic Medium" panose="020B0603020102020204" pitchFamily="34" charset="0"/>
              </a:rPr>
              <a:t>()</a:t>
            </a:r>
            <a:endParaRPr lang="fr-FR" sz="2400" dirty="0">
              <a:solidFill>
                <a:srgbClr val="C00000"/>
              </a:solidFill>
              <a:latin typeface="Franklin Gothic Medium" panose="020B0603020102020204" pitchFamily="34" charset="0"/>
            </a:endParaRPr>
          </a:p>
        </p:txBody>
      </p:sp>
      <p:sp>
        <p:nvSpPr>
          <p:cNvPr id="14" name="ZoneTexte 13"/>
          <p:cNvSpPr txBox="1"/>
          <p:nvPr/>
        </p:nvSpPr>
        <p:spPr>
          <a:xfrm>
            <a:off x="1" y="3122979"/>
            <a:ext cx="12191999" cy="3046988"/>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Ce graphique permet d’étudier la relation entre deux variables agronomiques :le diamètre de la </a:t>
            </a:r>
            <a:r>
              <a:rPr lang="fr-FR" sz="2400" dirty="0" err="1">
                <a:latin typeface="Franklin Gothic Medium" panose="020B0603020102020204" pitchFamily="34" charset="0"/>
              </a:rPr>
              <a:t>tigela</a:t>
            </a:r>
            <a:r>
              <a:rPr lang="fr-FR" sz="2400" dirty="0">
                <a:latin typeface="Franklin Gothic Medium" panose="020B0603020102020204" pitchFamily="34" charset="0"/>
              </a:rPr>
              <a:t> </a:t>
            </a:r>
            <a:r>
              <a:rPr lang="fr-FR" sz="2400" dirty="0" smtClean="0">
                <a:latin typeface="Franklin Gothic Medium" panose="020B0603020102020204" pitchFamily="34" charset="0"/>
              </a:rPr>
              <a:t>et </a:t>
            </a:r>
            <a:r>
              <a:rPr lang="fr-FR" sz="2400" dirty="0" err="1" smtClean="0">
                <a:latin typeface="Franklin Gothic Medium" panose="020B0603020102020204" pitchFamily="34" charset="0"/>
              </a:rPr>
              <a:t>lahauteur</a:t>
            </a:r>
            <a:r>
              <a:rPr lang="fr-FR" sz="2400" dirty="0" smtClean="0">
                <a:latin typeface="Franklin Gothic Medium" panose="020B0603020102020204" pitchFamily="34" charset="0"/>
              </a:rPr>
              <a:t> </a:t>
            </a:r>
            <a:r>
              <a:rPr lang="fr-FR" sz="2400" dirty="0">
                <a:latin typeface="Franklin Gothic Medium" panose="020B0603020102020204" pitchFamily="34" charset="0"/>
              </a:rPr>
              <a:t>des plants ; </a:t>
            </a:r>
            <a:r>
              <a:rPr lang="fr-FR" sz="2400" dirty="0" err="1">
                <a:solidFill>
                  <a:schemeClr val="accent6">
                    <a:lumMod val="50000"/>
                  </a:schemeClr>
                </a:solidFill>
                <a:latin typeface="Franklin Gothic Medium" panose="020B0603020102020204" pitchFamily="34" charset="0"/>
              </a:rPr>
              <a:t>ggplot</a:t>
            </a:r>
            <a:r>
              <a:rPr lang="fr-FR" sz="2400" dirty="0" smtClean="0">
                <a:solidFill>
                  <a:schemeClr val="accent6">
                    <a:lumMod val="50000"/>
                  </a:schemeClr>
                </a:solidFill>
                <a:latin typeface="Franklin Gothic Medium" panose="020B0603020102020204" pitchFamily="34" charset="0"/>
              </a:rPr>
              <a:t>() </a:t>
            </a:r>
            <a:r>
              <a:rPr lang="fr-FR" sz="2400" dirty="0">
                <a:latin typeface="Franklin Gothic Medium" panose="020B0603020102020204" pitchFamily="34" charset="0"/>
              </a:rPr>
              <a:t>Initialise le graphique avec le jeu de données </a:t>
            </a:r>
            <a:r>
              <a:rPr lang="fr-FR" sz="2400" dirty="0" err="1" smtClean="0">
                <a:latin typeface="Franklin Gothic Medium" panose="020B0603020102020204" pitchFamily="34" charset="0"/>
              </a:rPr>
              <a:t>data_clean</a:t>
            </a:r>
            <a:r>
              <a:rPr lang="fr-FR" sz="2400" dirty="0" smtClean="0">
                <a:latin typeface="Franklin Gothic Medium" panose="020B0603020102020204" pitchFamily="34" charset="0"/>
              </a:rPr>
              <a:t> ; </a:t>
            </a:r>
            <a:r>
              <a:rPr lang="fr-FR" sz="2400" dirty="0" err="1" smtClean="0">
                <a:solidFill>
                  <a:schemeClr val="accent6">
                    <a:lumMod val="50000"/>
                  </a:schemeClr>
                </a:solidFill>
                <a:latin typeface="Franklin Gothic Medium" panose="020B0603020102020204" pitchFamily="34" charset="0"/>
              </a:rPr>
              <a:t>aes</a:t>
            </a:r>
            <a:r>
              <a:rPr lang="fr-FR" sz="2400" dirty="0" smtClean="0">
                <a:solidFill>
                  <a:schemeClr val="accent6">
                    <a:lumMod val="50000"/>
                  </a:schemeClr>
                </a:solidFill>
                <a:latin typeface="Franklin Gothic Medium" panose="020B0603020102020204" pitchFamily="34" charset="0"/>
              </a:rPr>
              <a:t>(x </a:t>
            </a:r>
            <a:r>
              <a:rPr lang="fr-FR" sz="2400" dirty="0">
                <a:solidFill>
                  <a:schemeClr val="accent6">
                    <a:lumMod val="50000"/>
                  </a:schemeClr>
                </a:solidFill>
                <a:latin typeface="Franklin Gothic Medium" panose="020B0603020102020204" pitchFamily="34" charset="0"/>
              </a:rPr>
              <a:t>= </a:t>
            </a:r>
            <a:r>
              <a:rPr lang="fr-FR" sz="2400" dirty="0" err="1">
                <a:solidFill>
                  <a:schemeClr val="accent6">
                    <a:lumMod val="50000"/>
                  </a:schemeClr>
                </a:solidFill>
                <a:latin typeface="Franklin Gothic Medium" panose="020B0603020102020204" pitchFamily="34" charset="0"/>
              </a:rPr>
              <a:t>Diametre</a:t>
            </a:r>
            <a:r>
              <a:rPr lang="fr-FR" sz="2400" dirty="0">
                <a:solidFill>
                  <a:schemeClr val="accent6">
                    <a:lumMod val="50000"/>
                  </a:schemeClr>
                </a:solidFill>
                <a:latin typeface="Franklin Gothic Medium" panose="020B0603020102020204" pitchFamily="34" charset="0"/>
              </a:rPr>
              <a:t>, y = </a:t>
            </a:r>
            <a:r>
              <a:rPr lang="fr-FR" sz="2400" dirty="0" smtClean="0">
                <a:solidFill>
                  <a:schemeClr val="accent6">
                    <a:lumMod val="50000"/>
                  </a:schemeClr>
                </a:solidFill>
                <a:latin typeface="Franklin Gothic Medium" panose="020B0603020102020204" pitchFamily="34" charset="0"/>
              </a:rPr>
              <a:t>Hauteur) </a:t>
            </a:r>
            <a:r>
              <a:rPr lang="fr-FR" sz="2400" dirty="0" smtClean="0">
                <a:latin typeface="Franklin Gothic Medium" panose="020B0603020102020204" pitchFamily="34" charset="0"/>
              </a:rPr>
              <a:t>définit </a:t>
            </a:r>
            <a:r>
              <a:rPr lang="fr-FR" sz="2400" dirty="0">
                <a:latin typeface="Franklin Gothic Medium" panose="020B0603020102020204" pitchFamily="34" charset="0"/>
              </a:rPr>
              <a:t>les variables :</a:t>
            </a:r>
            <a:r>
              <a:rPr lang="fr-FR" sz="2400" dirty="0">
                <a:solidFill>
                  <a:schemeClr val="accent6">
                    <a:lumMod val="50000"/>
                  </a:schemeClr>
                </a:solidFill>
                <a:latin typeface="Franklin Gothic Medium" panose="020B0603020102020204" pitchFamily="34" charset="0"/>
              </a:rPr>
              <a:t>x = </a:t>
            </a:r>
            <a:r>
              <a:rPr lang="fr-FR" sz="2400" dirty="0" err="1">
                <a:solidFill>
                  <a:schemeClr val="accent6">
                    <a:lumMod val="50000"/>
                  </a:schemeClr>
                </a:solidFill>
                <a:latin typeface="Franklin Gothic Medium" panose="020B0603020102020204" pitchFamily="34" charset="0"/>
              </a:rPr>
              <a:t>Diametre</a:t>
            </a:r>
            <a:r>
              <a:rPr lang="fr-FR" sz="2400" dirty="0">
                <a:solidFill>
                  <a:schemeClr val="accent6">
                    <a:lumMod val="50000"/>
                  </a:schemeClr>
                </a:solidFill>
                <a:latin typeface="Franklin Gothic Medium" panose="020B0603020102020204" pitchFamily="34" charset="0"/>
              </a:rPr>
              <a:t> </a:t>
            </a:r>
            <a:r>
              <a:rPr lang="fr-FR" sz="2400" dirty="0">
                <a:latin typeface="Franklin Gothic Medium" panose="020B0603020102020204" pitchFamily="34" charset="0"/>
              </a:rPr>
              <a:t>→ variable </a:t>
            </a:r>
            <a:r>
              <a:rPr lang="fr-FR" sz="2400" dirty="0" smtClean="0">
                <a:latin typeface="Franklin Gothic Medium" panose="020B0603020102020204" pitchFamily="34" charset="0"/>
              </a:rPr>
              <a:t>explicative </a:t>
            </a:r>
            <a:r>
              <a:rPr lang="fr-FR" sz="2400" dirty="0" smtClean="0">
                <a:solidFill>
                  <a:schemeClr val="accent6">
                    <a:lumMod val="50000"/>
                  </a:schemeClr>
                </a:solidFill>
                <a:latin typeface="Franklin Gothic Medium" panose="020B0603020102020204" pitchFamily="34" charset="0"/>
              </a:rPr>
              <a:t>y </a:t>
            </a:r>
            <a:r>
              <a:rPr lang="fr-FR" sz="2400" dirty="0">
                <a:solidFill>
                  <a:schemeClr val="accent6">
                    <a:lumMod val="50000"/>
                  </a:schemeClr>
                </a:solidFill>
                <a:latin typeface="Franklin Gothic Medium" panose="020B0603020102020204" pitchFamily="34" charset="0"/>
              </a:rPr>
              <a:t>= Hauteur </a:t>
            </a:r>
            <a:r>
              <a:rPr lang="fr-FR" sz="2400" dirty="0">
                <a:latin typeface="Franklin Gothic Medium" panose="020B0603020102020204" pitchFamily="34" charset="0"/>
              </a:rPr>
              <a:t>→ variable </a:t>
            </a:r>
            <a:r>
              <a:rPr lang="fr-FR" sz="2400" dirty="0" smtClean="0">
                <a:latin typeface="Franklin Gothic Medium" panose="020B0603020102020204" pitchFamily="34" charset="0"/>
              </a:rPr>
              <a:t>réponse ;  </a:t>
            </a:r>
            <a:r>
              <a:rPr lang="fr-FR" sz="2400" dirty="0">
                <a:latin typeface="Franklin Gothic Medium" panose="020B0603020102020204" pitchFamily="34" charset="0"/>
              </a:rPr>
              <a:t>Permet d’explorer une relation potentielle entre ces deux </a:t>
            </a:r>
            <a:r>
              <a:rPr lang="fr-FR" sz="2400" dirty="0" smtClean="0">
                <a:latin typeface="Franklin Gothic Medium" panose="020B0603020102020204" pitchFamily="34" charset="0"/>
              </a:rPr>
              <a:t>variables ; </a:t>
            </a:r>
            <a:r>
              <a:rPr lang="fr-FR" sz="2400" dirty="0" err="1" smtClean="0">
                <a:solidFill>
                  <a:schemeClr val="accent6">
                    <a:lumMod val="50000"/>
                  </a:schemeClr>
                </a:solidFill>
                <a:latin typeface="Franklin Gothic Medium" panose="020B0603020102020204" pitchFamily="34" charset="0"/>
              </a:rPr>
              <a:t>geom_point</a:t>
            </a:r>
            <a:r>
              <a:rPr lang="fr-FR" sz="2400" dirty="0" smtClean="0">
                <a:solidFill>
                  <a:schemeClr val="accent6">
                    <a:lumMod val="50000"/>
                  </a:schemeClr>
                </a:solidFill>
                <a:latin typeface="Franklin Gothic Medium" panose="020B0603020102020204" pitchFamily="34" charset="0"/>
              </a:rPr>
              <a:t>()</a:t>
            </a:r>
            <a:r>
              <a:rPr lang="fr-FR" sz="2400" dirty="0" smtClean="0">
                <a:latin typeface="Franklin Gothic Medium" panose="020B0603020102020204" pitchFamily="34" charset="0"/>
              </a:rPr>
              <a:t> crée </a:t>
            </a:r>
            <a:r>
              <a:rPr lang="fr-FR" sz="2400" dirty="0">
                <a:latin typeface="Franklin Gothic Medium" panose="020B0603020102020204" pitchFamily="34" charset="0"/>
              </a:rPr>
              <a:t>un nuage de points </a:t>
            </a:r>
            <a:r>
              <a:rPr lang="fr-FR" sz="2400" dirty="0">
                <a:solidFill>
                  <a:schemeClr val="accent6">
                    <a:lumMod val="50000"/>
                  </a:schemeClr>
                </a:solidFill>
                <a:latin typeface="Franklin Gothic Medium" panose="020B0603020102020204" pitchFamily="34" charset="0"/>
              </a:rPr>
              <a:t>(</a:t>
            </a:r>
            <a:r>
              <a:rPr lang="fr-FR" sz="2400" dirty="0" err="1">
                <a:solidFill>
                  <a:schemeClr val="accent6">
                    <a:lumMod val="50000"/>
                  </a:schemeClr>
                </a:solidFill>
                <a:latin typeface="Franklin Gothic Medium" panose="020B0603020102020204" pitchFamily="34" charset="0"/>
              </a:rPr>
              <a:t>scatter</a:t>
            </a:r>
            <a:r>
              <a:rPr lang="fr-FR" sz="2400" dirty="0">
                <a:solidFill>
                  <a:schemeClr val="accent6">
                    <a:lumMod val="50000"/>
                  </a:schemeClr>
                </a:solidFill>
                <a:latin typeface="Franklin Gothic Medium" panose="020B0603020102020204" pitchFamily="34" charset="0"/>
              </a:rPr>
              <a:t> plot</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 </a:t>
            </a:r>
            <a:r>
              <a:rPr lang="fr-FR" sz="2400" dirty="0">
                <a:latin typeface="Franklin Gothic Medium" panose="020B0603020102020204" pitchFamily="34" charset="0"/>
              </a:rPr>
              <a:t>Chaque point représente :un </a:t>
            </a:r>
            <a:r>
              <a:rPr lang="fr-FR" sz="2400" dirty="0" smtClean="0">
                <a:latin typeface="Franklin Gothic Medium" panose="020B0603020102020204" pitchFamily="34" charset="0"/>
              </a:rPr>
              <a:t>planta </a:t>
            </a:r>
            <a:r>
              <a:rPr lang="fr-FR" sz="2400" dirty="0" err="1" smtClean="0">
                <a:latin typeface="Franklin Gothic Medium" panose="020B0603020102020204" pitchFamily="34" charset="0"/>
              </a:rPr>
              <a:t>vec</a:t>
            </a:r>
            <a:r>
              <a:rPr lang="fr-FR" sz="2400" dirty="0" smtClean="0">
                <a:latin typeface="Franklin Gothic Medium" panose="020B0603020102020204" pitchFamily="34" charset="0"/>
              </a:rPr>
              <a:t> </a:t>
            </a:r>
            <a:r>
              <a:rPr lang="fr-FR" sz="2400" dirty="0">
                <a:latin typeface="Franklin Gothic Medium" panose="020B0603020102020204" pitchFamily="34" charset="0"/>
              </a:rPr>
              <a:t>son diamètre et sa hauteur→ Permet de visualiser la dispersion des </a:t>
            </a:r>
            <a:r>
              <a:rPr lang="fr-FR" sz="2400" dirty="0" smtClean="0">
                <a:latin typeface="Franklin Gothic Medium" panose="020B0603020102020204" pitchFamily="34" charset="0"/>
              </a:rPr>
              <a:t>observations ; </a:t>
            </a:r>
            <a:r>
              <a:rPr lang="fr-FR" sz="2400" dirty="0" err="1" smtClean="0">
                <a:solidFill>
                  <a:schemeClr val="accent6">
                    <a:lumMod val="50000"/>
                  </a:schemeClr>
                </a:solidFill>
                <a:latin typeface="Franklin Gothic Medium" panose="020B0603020102020204" pitchFamily="34" charset="0"/>
              </a:rPr>
              <a:t>geom_smooth</a:t>
            </a:r>
            <a:r>
              <a:rPr lang="fr-FR" sz="2400" dirty="0" smtClean="0">
                <a:solidFill>
                  <a:schemeClr val="accent6">
                    <a:lumMod val="50000"/>
                  </a:schemeClr>
                </a:solidFill>
                <a:latin typeface="Franklin Gothic Medium" panose="020B0603020102020204" pitchFamily="34" charset="0"/>
              </a:rPr>
              <a:t>(</a:t>
            </a:r>
            <a:r>
              <a:rPr lang="fr-FR" sz="2400" dirty="0" err="1" smtClean="0">
                <a:solidFill>
                  <a:schemeClr val="accent6">
                    <a:lumMod val="50000"/>
                  </a:schemeClr>
                </a:solidFill>
                <a:latin typeface="Franklin Gothic Medium" panose="020B0603020102020204" pitchFamily="34" charset="0"/>
              </a:rPr>
              <a:t>method</a:t>
            </a:r>
            <a:r>
              <a:rPr lang="fr-FR" sz="2400" dirty="0" smtClean="0">
                <a:solidFill>
                  <a:schemeClr val="accent6">
                    <a:lumMod val="50000"/>
                  </a:schemeClr>
                </a:solidFill>
                <a:latin typeface="Franklin Gothic Medium" panose="020B0603020102020204" pitchFamily="34" charset="0"/>
              </a:rPr>
              <a:t> </a:t>
            </a:r>
            <a:r>
              <a:rPr lang="fr-FR" sz="2400" dirty="0">
                <a:solidFill>
                  <a:schemeClr val="accent6">
                    <a:lumMod val="50000"/>
                  </a:schemeClr>
                </a:solidFill>
                <a:latin typeface="Franklin Gothic Medium" panose="020B0603020102020204" pitchFamily="34" charset="0"/>
              </a:rPr>
              <a:t>= "lm</a:t>
            </a:r>
            <a:r>
              <a:rPr lang="fr-FR" sz="2400" dirty="0" smtClean="0">
                <a:solidFill>
                  <a:schemeClr val="accent6">
                    <a:lumMod val="50000"/>
                  </a:schemeClr>
                </a:solidFill>
                <a:latin typeface="Franklin Gothic Medium" panose="020B0603020102020204" pitchFamily="34" charset="0"/>
              </a:rPr>
              <a:t>") ; </a:t>
            </a:r>
            <a:r>
              <a:rPr lang="fr-FR" sz="2400" dirty="0">
                <a:latin typeface="Franklin Gothic Medium" panose="020B0603020102020204" pitchFamily="34" charset="0"/>
              </a:rPr>
              <a:t>a</a:t>
            </a:r>
            <a:r>
              <a:rPr lang="fr-FR" sz="2400" dirty="0" smtClean="0">
                <a:latin typeface="Franklin Gothic Medium" panose="020B0603020102020204" pitchFamily="34" charset="0"/>
              </a:rPr>
              <a:t>joute </a:t>
            </a:r>
            <a:r>
              <a:rPr lang="fr-FR" sz="2400" dirty="0">
                <a:latin typeface="Franklin Gothic Medium" panose="020B0603020102020204" pitchFamily="34" charset="0"/>
              </a:rPr>
              <a:t>une droite de régression </a:t>
            </a:r>
            <a:r>
              <a:rPr lang="fr-FR" sz="2400" dirty="0" smtClean="0">
                <a:latin typeface="Franklin Gothic Medium" panose="020B0603020102020204" pitchFamily="34" charset="0"/>
              </a:rPr>
              <a:t>linéaire ; </a:t>
            </a:r>
            <a:r>
              <a:rPr lang="fr-FR" sz="2400" dirty="0" err="1" smtClean="0">
                <a:solidFill>
                  <a:schemeClr val="accent6">
                    <a:lumMod val="50000"/>
                  </a:schemeClr>
                </a:solidFill>
                <a:latin typeface="Franklin Gothic Medium" panose="020B0603020102020204" pitchFamily="34" charset="0"/>
              </a:rPr>
              <a:t>method</a:t>
            </a:r>
            <a:r>
              <a:rPr lang="fr-FR" sz="2400" dirty="0" smtClean="0">
                <a:solidFill>
                  <a:schemeClr val="accent6">
                    <a:lumMod val="50000"/>
                  </a:schemeClr>
                </a:solidFill>
                <a:latin typeface="Franklin Gothic Medium" panose="020B0603020102020204" pitchFamily="34" charset="0"/>
              </a:rPr>
              <a:t> </a:t>
            </a:r>
            <a:r>
              <a:rPr lang="fr-FR" sz="2400" dirty="0">
                <a:solidFill>
                  <a:schemeClr val="accent6">
                    <a:lumMod val="50000"/>
                  </a:schemeClr>
                </a:solidFill>
                <a:latin typeface="Franklin Gothic Medium" panose="020B0603020102020204" pitchFamily="34" charset="0"/>
              </a:rPr>
              <a:t>= "lm" </a:t>
            </a:r>
            <a:r>
              <a:rPr lang="fr-FR" sz="2400" dirty="0">
                <a:latin typeface="Franklin Gothic Medium" panose="020B0603020102020204" pitchFamily="34" charset="0"/>
              </a:rPr>
              <a:t>→ modèle linéaire (</a:t>
            </a:r>
            <a:r>
              <a:rPr lang="fr-FR" sz="2400" dirty="0" err="1">
                <a:latin typeface="Franklin Gothic Medium" panose="020B0603020102020204" pitchFamily="34" charset="0"/>
              </a:rPr>
              <a:t>Linear</a:t>
            </a:r>
            <a:r>
              <a:rPr lang="fr-FR" sz="2400" dirty="0">
                <a:latin typeface="Franklin Gothic Medium" panose="020B0603020102020204" pitchFamily="34" charset="0"/>
              </a:rPr>
              <a:t> Model</a:t>
            </a:r>
            <a:r>
              <a:rPr lang="fr-FR" sz="2400" dirty="0" smtClean="0">
                <a:latin typeface="Franklin Gothic Medium" panose="020B0603020102020204" pitchFamily="34" charset="0"/>
              </a:rPr>
              <a:t>)</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204031735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54</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1" name="Rectangle 10"/>
          <p:cNvSpPr/>
          <p:nvPr/>
        </p:nvSpPr>
        <p:spPr>
          <a:xfrm>
            <a:off x="-4" y="747344"/>
            <a:ext cx="12191999" cy="224450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p:cNvSpPr txBox="1"/>
          <p:nvPr/>
        </p:nvSpPr>
        <p:spPr>
          <a:xfrm>
            <a:off x="-4" y="1052857"/>
            <a:ext cx="12052663" cy="1938992"/>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Relation entre diamètre et </a:t>
            </a:r>
            <a:r>
              <a:rPr lang="fr-FR" sz="2400" dirty="0" smtClean="0">
                <a:solidFill>
                  <a:srgbClr val="C00000"/>
                </a:solidFill>
                <a:latin typeface="Franklin Gothic Medium" panose="020B0603020102020204" pitchFamily="34" charset="0"/>
              </a:rPr>
              <a:t>hauteur</a:t>
            </a:r>
          </a:p>
          <a:p>
            <a:r>
              <a:rPr lang="fr-FR" sz="2400" dirty="0" err="1" smtClean="0">
                <a:solidFill>
                  <a:srgbClr val="C00000"/>
                </a:solidFill>
                <a:latin typeface="Franklin Gothic Medium" panose="020B0603020102020204" pitchFamily="34" charset="0"/>
              </a:rPr>
              <a:t>ggplot</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a:t>
            </a:r>
            <a:r>
              <a:rPr lang="fr-FR" sz="2400" dirty="0">
                <a:solidFill>
                  <a:srgbClr val="C00000"/>
                </a:solidFill>
                <a:latin typeface="Franklin Gothic Medium" panose="020B0603020102020204" pitchFamily="34" charset="0"/>
              </a:rPr>
              <a:t>, </a:t>
            </a:r>
            <a:r>
              <a:rPr lang="fr-FR" sz="2400" dirty="0" err="1">
                <a:solidFill>
                  <a:srgbClr val="C00000"/>
                </a:solidFill>
                <a:latin typeface="Franklin Gothic Medium" panose="020B0603020102020204" pitchFamily="34" charset="0"/>
              </a:rPr>
              <a:t>aes</a:t>
            </a:r>
            <a:r>
              <a:rPr lang="fr-FR" sz="2400" dirty="0">
                <a:solidFill>
                  <a:srgbClr val="C00000"/>
                </a:solidFill>
                <a:latin typeface="Franklin Gothic Medium" panose="020B0603020102020204" pitchFamily="34" charset="0"/>
              </a:rPr>
              <a:t>(x = </a:t>
            </a:r>
            <a:r>
              <a:rPr lang="fr-FR" sz="2400" dirty="0" err="1">
                <a:solidFill>
                  <a:srgbClr val="C00000"/>
                </a:solidFill>
                <a:latin typeface="Franklin Gothic Medium" panose="020B0603020102020204" pitchFamily="34" charset="0"/>
              </a:rPr>
              <a:t>Diametre</a:t>
            </a:r>
            <a:r>
              <a:rPr lang="fr-FR" sz="2400" dirty="0">
                <a:solidFill>
                  <a:srgbClr val="C00000"/>
                </a:solidFill>
                <a:latin typeface="Franklin Gothic Medium" panose="020B0603020102020204" pitchFamily="34" charset="0"/>
              </a:rPr>
              <a:t>, y = Hauteur)) +  </a:t>
            </a:r>
            <a:endParaRPr lang="fr-FR" sz="2400" dirty="0" smtClean="0">
              <a:solidFill>
                <a:srgbClr val="C00000"/>
              </a:solidFill>
              <a:latin typeface="Franklin Gothic Medium" panose="020B0603020102020204" pitchFamily="34" charset="0"/>
            </a:endParaRPr>
          </a:p>
          <a:p>
            <a:r>
              <a:rPr lang="fr-FR" sz="2400" dirty="0" err="1" smtClean="0">
                <a:solidFill>
                  <a:srgbClr val="C00000"/>
                </a:solidFill>
                <a:latin typeface="Franklin Gothic Medium" panose="020B0603020102020204" pitchFamily="34" charset="0"/>
              </a:rPr>
              <a:t>geom_point</a:t>
            </a:r>
            <a:r>
              <a:rPr lang="fr-FR" sz="2400" dirty="0">
                <a:solidFill>
                  <a:srgbClr val="C00000"/>
                </a:solidFill>
                <a:latin typeface="Franklin Gothic Medium" panose="020B0603020102020204" pitchFamily="34" charset="0"/>
              </a:rPr>
              <a:t>() +  </a:t>
            </a:r>
            <a:endParaRPr lang="fr-FR" sz="2400" dirty="0" smtClean="0">
              <a:solidFill>
                <a:srgbClr val="C00000"/>
              </a:solidFill>
              <a:latin typeface="Franklin Gothic Medium" panose="020B0603020102020204" pitchFamily="34" charset="0"/>
            </a:endParaRPr>
          </a:p>
          <a:p>
            <a:r>
              <a:rPr lang="fr-FR" sz="2400" dirty="0" err="1" smtClean="0">
                <a:solidFill>
                  <a:srgbClr val="C00000"/>
                </a:solidFill>
                <a:latin typeface="Franklin Gothic Medium" panose="020B0603020102020204" pitchFamily="34" charset="0"/>
              </a:rPr>
              <a:t>geom_smooth</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method</a:t>
            </a:r>
            <a:r>
              <a:rPr lang="fr-FR" sz="2400" dirty="0" smtClean="0">
                <a:solidFill>
                  <a:srgbClr val="C00000"/>
                </a:solidFill>
                <a:latin typeface="Franklin Gothic Medium" panose="020B0603020102020204" pitchFamily="34" charset="0"/>
              </a:rPr>
              <a:t> </a:t>
            </a:r>
            <a:r>
              <a:rPr lang="fr-FR" sz="2400" dirty="0">
                <a:solidFill>
                  <a:srgbClr val="C00000"/>
                </a:solidFill>
                <a:latin typeface="Franklin Gothic Medium" panose="020B0603020102020204" pitchFamily="34" charset="0"/>
              </a:rPr>
              <a:t>= "lm") +  </a:t>
            </a:r>
            <a:endParaRPr lang="fr-FR" sz="2400" dirty="0" smtClean="0">
              <a:solidFill>
                <a:srgbClr val="C00000"/>
              </a:solidFill>
              <a:latin typeface="Franklin Gothic Medium" panose="020B0603020102020204" pitchFamily="34" charset="0"/>
            </a:endParaRPr>
          </a:p>
          <a:p>
            <a:r>
              <a:rPr lang="fr-FR" sz="2400" dirty="0" err="1" smtClean="0">
                <a:solidFill>
                  <a:srgbClr val="C00000"/>
                </a:solidFill>
                <a:latin typeface="Franklin Gothic Medium" panose="020B0603020102020204" pitchFamily="34" charset="0"/>
              </a:rPr>
              <a:t>theme_minimal</a:t>
            </a:r>
            <a:r>
              <a:rPr lang="fr-FR" sz="2400" dirty="0">
                <a:solidFill>
                  <a:srgbClr val="C00000"/>
                </a:solidFill>
                <a:latin typeface="Franklin Gothic Medium" panose="020B0603020102020204" pitchFamily="34" charset="0"/>
              </a:rPr>
              <a:t>()</a:t>
            </a:r>
            <a:endParaRPr lang="fr-FR" sz="2400" dirty="0">
              <a:solidFill>
                <a:srgbClr val="C00000"/>
              </a:solidFill>
              <a:latin typeface="Franklin Gothic Medium" panose="020B0603020102020204" pitchFamily="34" charset="0"/>
            </a:endParaRPr>
          </a:p>
        </p:txBody>
      </p:sp>
      <p:sp>
        <p:nvSpPr>
          <p:cNvPr id="14" name="ZoneTexte 13"/>
          <p:cNvSpPr txBox="1"/>
          <p:nvPr/>
        </p:nvSpPr>
        <p:spPr>
          <a:xfrm>
            <a:off x="1" y="3122979"/>
            <a:ext cx="12191999" cy="2677656"/>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Objectif </a:t>
            </a:r>
            <a:r>
              <a:rPr lang="fr-FR" sz="2400" dirty="0">
                <a:latin typeface="Franklin Gothic Medium" panose="020B0603020102020204" pitchFamily="34" charset="0"/>
              </a:rPr>
              <a:t>:Montrer la tendance générale (relation croissante, décroissante ou nulle)Résumer la relation entre les </a:t>
            </a:r>
            <a:r>
              <a:rPr lang="fr-FR" sz="2400" dirty="0" smtClean="0">
                <a:latin typeface="Franklin Gothic Medium" panose="020B0603020102020204" pitchFamily="34" charset="0"/>
              </a:rPr>
              <a:t>variables ; </a:t>
            </a:r>
            <a:r>
              <a:rPr lang="fr-FR" sz="2400" dirty="0" err="1" smtClean="0">
                <a:solidFill>
                  <a:schemeClr val="accent6">
                    <a:lumMod val="50000"/>
                  </a:schemeClr>
                </a:solidFill>
                <a:latin typeface="Franklin Gothic Medium" panose="020B0603020102020204" pitchFamily="34" charset="0"/>
              </a:rPr>
              <a:t>theme_minimal</a:t>
            </a:r>
            <a:r>
              <a:rPr lang="fr-FR" sz="2400" dirty="0" smtClean="0">
                <a:solidFill>
                  <a:schemeClr val="accent6">
                    <a:lumMod val="50000"/>
                  </a:schemeClr>
                </a:solidFill>
                <a:latin typeface="Franklin Gothic Medium" panose="020B0603020102020204" pitchFamily="34" charset="0"/>
              </a:rPr>
              <a:t>() </a:t>
            </a:r>
            <a:r>
              <a:rPr lang="fr-FR" sz="2400" dirty="0">
                <a:latin typeface="Franklin Gothic Medium" panose="020B0603020102020204" pitchFamily="34" charset="0"/>
              </a:rPr>
              <a:t>a</a:t>
            </a:r>
            <a:r>
              <a:rPr lang="fr-FR" sz="2400" dirty="0" smtClean="0">
                <a:latin typeface="Franklin Gothic Medium" panose="020B0603020102020204" pitchFamily="34" charset="0"/>
              </a:rPr>
              <a:t>pplique </a:t>
            </a:r>
            <a:r>
              <a:rPr lang="fr-FR" sz="2400" dirty="0">
                <a:latin typeface="Franklin Gothic Medium" panose="020B0603020102020204" pitchFamily="34" charset="0"/>
              </a:rPr>
              <a:t>un style simple et </a:t>
            </a:r>
            <a:r>
              <a:rPr lang="fr-FR" sz="2400" dirty="0" smtClean="0">
                <a:latin typeface="Franklin Gothic Medium" panose="020B0603020102020204" pitchFamily="34" charset="0"/>
              </a:rPr>
              <a:t>professionnel; Interprétation agronomique ; Ce </a:t>
            </a:r>
            <a:r>
              <a:rPr lang="fr-FR" sz="2400" dirty="0">
                <a:latin typeface="Franklin Gothic Medium" panose="020B0603020102020204" pitchFamily="34" charset="0"/>
              </a:rPr>
              <a:t>graphique permet de :Vérifier s’il existe une corrélation entre diamètre et </a:t>
            </a:r>
            <a:r>
              <a:rPr lang="fr-FR" sz="2400" dirty="0" smtClean="0">
                <a:latin typeface="Franklin Gothic Medium" panose="020B0603020102020204" pitchFamily="34" charset="0"/>
              </a:rPr>
              <a:t>hauteur ; Observer </a:t>
            </a:r>
            <a:r>
              <a:rPr lang="fr-FR" sz="2400" dirty="0">
                <a:latin typeface="Franklin Gothic Medium" panose="020B0603020102020204" pitchFamily="34" charset="0"/>
              </a:rPr>
              <a:t>si :les plants plus gros sont aussi plus </a:t>
            </a:r>
            <a:r>
              <a:rPr lang="fr-FR" sz="2400" dirty="0" smtClean="0">
                <a:latin typeface="Franklin Gothic Medium" panose="020B0603020102020204" pitchFamily="34" charset="0"/>
              </a:rPr>
              <a:t>hauts ou </a:t>
            </a:r>
            <a:r>
              <a:rPr lang="fr-FR" sz="2400" dirty="0">
                <a:latin typeface="Franklin Gothic Medium" panose="020B0603020102020204" pitchFamily="34" charset="0"/>
              </a:rPr>
              <a:t>s’il n’y a pas de relation </a:t>
            </a:r>
            <a:r>
              <a:rPr lang="fr-FR" sz="2400" dirty="0" smtClean="0">
                <a:latin typeface="Franklin Gothic Medium" panose="020B0603020102020204" pitchFamily="34" charset="0"/>
              </a:rPr>
              <a:t>claire ; </a:t>
            </a:r>
            <a:r>
              <a:rPr lang="fr-FR" sz="2400" dirty="0">
                <a:latin typeface="Franklin Gothic Medium" panose="020B0603020102020204" pitchFamily="34" charset="0"/>
              </a:rPr>
              <a:t>Une pente positive suggère une croissance harmonisée (vigueur végétative</a:t>
            </a:r>
            <a:r>
              <a:rPr lang="fr-FR" sz="2400" dirty="0" smtClean="0">
                <a:latin typeface="Franklin Gothic Medium" panose="020B0603020102020204" pitchFamily="34" charset="0"/>
              </a:rPr>
              <a:t>) ; </a:t>
            </a:r>
            <a:r>
              <a:rPr lang="fr-FR" sz="2400" dirty="0">
                <a:latin typeface="Franklin Gothic Medium" panose="020B0603020102020204" pitchFamily="34" charset="0"/>
              </a:rPr>
              <a:t>Idée clé à </a:t>
            </a:r>
            <a:r>
              <a:rPr lang="fr-FR" sz="2400" dirty="0" smtClean="0">
                <a:latin typeface="Franklin Gothic Medium" panose="020B0603020102020204" pitchFamily="34" charset="0"/>
              </a:rPr>
              <a:t>retenir </a:t>
            </a:r>
            <a:r>
              <a:rPr lang="fr-FR" sz="2400" dirty="0" smtClean="0">
                <a:solidFill>
                  <a:schemeClr val="accent6">
                    <a:lumMod val="50000"/>
                  </a:schemeClr>
                </a:solidFill>
                <a:latin typeface="Franklin Gothic Medium" panose="020B0603020102020204" pitchFamily="34" charset="0"/>
              </a:rPr>
              <a:t>: </a:t>
            </a:r>
            <a:r>
              <a:rPr lang="fr-FR" sz="2400" dirty="0">
                <a:solidFill>
                  <a:schemeClr val="accent6">
                    <a:lumMod val="50000"/>
                  </a:schemeClr>
                </a:solidFill>
                <a:latin typeface="Franklin Gothic Medium" panose="020B0603020102020204" pitchFamily="34" charset="0"/>
              </a:rPr>
              <a:t>Le nuage de points avec régression est un outil clé pour analyser les relations entre variables biophysiques dans les études agronomiques.</a:t>
            </a:r>
            <a:endParaRPr lang="fr-FR" sz="2400" dirty="0">
              <a:solidFill>
                <a:schemeClr val="accent6">
                  <a:lumMod val="50000"/>
                </a:schemeClr>
              </a:solidFill>
              <a:latin typeface="Franklin Gothic Medium" panose="020B0603020102020204" pitchFamily="34" charset="0"/>
            </a:endParaRPr>
          </a:p>
        </p:txBody>
      </p:sp>
    </p:spTree>
    <p:extLst>
      <p:ext uri="{BB962C8B-B14F-4D97-AF65-F5344CB8AC3E}">
        <p14:creationId xmlns:p14="http://schemas.microsoft.com/office/powerpoint/2010/main" val="173543154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55</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pic>
        <p:nvPicPr>
          <p:cNvPr id="13" name="Image 12"/>
          <p:cNvPicPr>
            <a:picLocks noChangeAspect="1"/>
          </p:cNvPicPr>
          <p:nvPr/>
        </p:nvPicPr>
        <p:blipFill>
          <a:blip r:embed="rId2"/>
          <a:stretch>
            <a:fillRect/>
          </a:stretch>
        </p:blipFill>
        <p:spPr>
          <a:xfrm>
            <a:off x="200684" y="912167"/>
            <a:ext cx="5661271" cy="5429794"/>
          </a:xfrm>
          <a:prstGeom prst="rect">
            <a:avLst/>
          </a:prstGeom>
        </p:spPr>
      </p:pic>
      <p:sp>
        <p:nvSpPr>
          <p:cNvPr id="15" name="ZoneTexte 14"/>
          <p:cNvSpPr txBox="1"/>
          <p:nvPr/>
        </p:nvSpPr>
        <p:spPr>
          <a:xfrm>
            <a:off x="6088378" y="967781"/>
            <a:ext cx="6017623" cy="2308324"/>
          </a:xfrm>
          <a:prstGeom prst="rect">
            <a:avLst/>
          </a:prstGeom>
          <a:noFill/>
          <a:ln w="38100">
            <a:solidFill>
              <a:srgbClr val="C00000"/>
            </a:solidFill>
          </a:ln>
        </p:spPr>
        <p:txBody>
          <a:bodyPr wrap="square" rtlCol="0">
            <a:spAutoFit/>
          </a:bodyPr>
          <a:lstStyle/>
          <a:p>
            <a:pPr algn="ctr"/>
            <a:r>
              <a:rPr lang="fr-FR" sz="1600">
                <a:solidFill>
                  <a:srgbClr val="C00000"/>
                </a:solidFill>
                <a:latin typeface="Franklin Gothic Medium" panose="020B0603020102020204" pitchFamily="34" charset="0"/>
              </a:rPr>
              <a:t>Ce graphique est un nuage de points (ou </a:t>
            </a:r>
            <a:r>
              <a:rPr lang="fr-FR" sz="1600" dirty="0" err="1">
                <a:solidFill>
                  <a:srgbClr val="C00000"/>
                </a:solidFill>
                <a:latin typeface="Franklin Gothic Medium" panose="020B0603020102020204" pitchFamily="34" charset="0"/>
              </a:rPr>
              <a:t>scatterplot</a:t>
            </a:r>
            <a:r>
              <a:rPr lang="fr-FR" sz="1600" dirty="0">
                <a:solidFill>
                  <a:srgbClr val="C00000"/>
                </a:solidFill>
                <a:latin typeface="Franklin Gothic Medium" panose="020B0603020102020204" pitchFamily="34" charset="0"/>
              </a:rPr>
              <a:t>) qui cherche à voir s'il existe un lien entre le Diamètre (en bas) et la Hauteur (à gauche) de vos sujets d'étude. Chaque point noir représente un individu mesuré. La ligne bleue est une droite de tendance (une régression linéaire calculée par </a:t>
            </a:r>
            <a:r>
              <a:rPr lang="fr-FR" sz="1600" dirty="0" err="1">
                <a:solidFill>
                  <a:srgbClr val="C00000"/>
                </a:solidFill>
                <a:latin typeface="Franklin Gothic Medium" panose="020B0603020102020204" pitchFamily="34" charset="0"/>
              </a:rPr>
              <a:t>geom_smooth</a:t>
            </a:r>
            <a:r>
              <a:rPr lang="fr-FR" sz="1600" dirty="0">
                <a:solidFill>
                  <a:srgbClr val="C00000"/>
                </a:solidFill>
                <a:latin typeface="Franklin Gothic Medium" panose="020B0603020102020204" pitchFamily="34" charset="0"/>
              </a:rPr>
              <a:t>(</a:t>
            </a:r>
            <a:r>
              <a:rPr lang="fr-FR" sz="1600" dirty="0" err="1">
                <a:solidFill>
                  <a:srgbClr val="C00000"/>
                </a:solidFill>
                <a:latin typeface="Franklin Gothic Medium" panose="020B0603020102020204" pitchFamily="34" charset="0"/>
              </a:rPr>
              <a:t>method</a:t>
            </a:r>
            <a:r>
              <a:rPr lang="fr-FR" sz="1600" dirty="0">
                <a:solidFill>
                  <a:srgbClr val="C00000"/>
                </a:solidFill>
                <a:latin typeface="Franklin Gothic Medium" panose="020B0603020102020204" pitchFamily="34" charset="0"/>
              </a:rPr>
              <a:t> = "lm")) : comme elle monte, elle indique globalement que plus le diamètre augmente, plus la hauteur a tendance à augmenter. La zone grise autour de la ligne montre la marge d'erreur (l'incertitude) de cette tendance.</a:t>
            </a:r>
          </a:p>
        </p:txBody>
      </p:sp>
      <p:sp>
        <p:nvSpPr>
          <p:cNvPr id="16" name="ZoneTexte 15"/>
          <p:cNvSpPr txBox="1"/>
          <p:nvPr/>
        </p:nvSpPr>
        <p:spPr>
          <a:xfrm>
            <a:off x="6088379" y="3448099"/>
            <a:ext cx="6017623" cy="2554545"/>
          </a:xfrm>
          <a:prstGeom prst="rect">
            <a:avLst/>
          </a:prstGeom>
          <a:noFill/>
          <a:ln w="38100">
            <a:solidFill>
              <a:srgbClr val="C00000"/>
            </a:solidFill>
          </a:ln>
        </p:spPr>
        <p:txBody>
          <a:bodyPr wrap="square" rtlCol="0">
            <a:spAutoFit/>
          </a:bodyPr>
          <a:lstStyle/>
          <a:p>
            <a:pPr algn="ctr"/>
            <a:r>
              <a:rPr lang="fr-FR" sz="1600" dirty="0">
                <a:solidFill>
                  <a:srgbClr val="C00000"/>
                </a:solidFill>
                <a:latin typeface="Franklin Gothic Medium" panose="020B0603020102020204" pitchFamily="34" charset="0"/>
              </a:rPr>
              <a:t>Cependant, en regardant de plus près, on voit que la réalité est plus complexe pour un débutant :Un nuage très dispersé : Beaucoup de points restent très bas (entre 40 et 100 de hauteur) même quand le diamètre devient très grand (au-delà de 15). La ligne bleue monte très haut à droite (vers 150) à cause de quelques rares points élevés, mais elle ne reflète pas parfaitement la majorité des grands diamètres</a:t>
            </a:r>
            <a:r>
              <a:rPr lang="fr-FR" sz="1600" dirty="0" smtClean="0">
                <a:solidFill>
                  <a:srgbClr val="C00000"/>
                </a:solidFill>
                <a:latin typeface="Franklin Gothic Medium" panose="020B0603020102020204" pitchFamily="34" charset="0"/>
              </a:rPr>
              <a:t>. Le </a:t>
            </a:r>
            <a:r>
              <a:rPr lang="fr-FR" sz="1600" dirty="0">
                <a:solidFill>
                  <a:srgbClr val="C00000"/>
                </a:solidFill>
                <a:latin typeface="Franklin Gothic Medium" panose="020B0603020102020204" pitchFamily="34" charset="0"/>
              </a:rPr>
              <a:t>blocage visuel : On retrouve nos fameuses lignes horizontales de points accumulés pile sur les hauteurs 100 et 150, ce qui montre à quel point ces valeurs suspectes influencent et "tirent" la ligne bleue vers le haut.</a:t>
            </a:r>
          </a:p>
        </p:txBody>
      </p:sp>
    </p:spTree>
    <p:extLst>
      <p:ext uri="{BB962C8B-B14F-4D97-AF65-F5344CB8AC3E}">
        <p14:creationId xmlns:p14="http://schemas.microsoft.com/office/powerpoint/2010/main" val="120186209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56</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1" name="Rectangle 10"/>
          <p:cNvSpPr/>
          <p:nvPr/>
        </p:nvSpPr>
        <p:spPr>
          <a:xfrm>
            <a:off x="-4" y="747344"/>
            <a:ext cx="12191999" cy="224450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p:cNvSpPr txBox="1"/>
          <p:nvPr/>
        </p:nvSpPr>
        <p:spPr>
          <a:xfrm>
            <a:off x="-4" y="1052857"/>
            <a:ext cx="12052663" cy="1569660"/>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Évolution dans le </a:t>
            </a:r>
            <a:r>
              <a:rPr lang="fr-FR" sz="2400" dirty="0" smtClean="0">
                <a:solidFill>
                  <a:srgbClr val="C00000"/>
                </a:solidFill>
                <a:latin typeface="Franklin Gothic Medium" panose="020B0603020102020204" pitchFamily="34" charset="0"/>
              </a:rPr>
              <a:t>temps</a:t>
            </a:r>
          </a:p>
          <a:p>
            <a:r>
              <a:rPr lang="fr-FR" sz="2400" dirty="0" err="1" smtClean="0">
                <a:solidFill>
                  <a:srgbClr val="C00000"/>
                </a:solidFill>
                <a:latin typeface="Franklin Gothic Medium" panose="020B0603020102020204" pitchFamily="34" charset="0"/>
              </a:rPr>
              <a:t>ggplot</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a:t>
            </a:r>
            <a:r>
              <a:rPr lang="fr-FR" sz="2400" dirty="0">
                <a:solidFill>
                  <a:srgbClr val="C00000"/>
                </a:solidFill>
                <a:latin typeface="Franklin Gothic Medium" panose="020B0603020102020204" pitchFamily="34" charset="0"/>
              </a:rPr>
              <a:t>, </a:t>
            </a:r>
            <a:r>
              <a:rPr lang="fr-FR" sz="2400" dirty="0" err="1">
                <a:solidFill>
                  <a:srgbClr val="C00000"/>
                </a:solidFill>
                <a:latin typeface="Franklin Gothic Medium" panose="020B0603020102020204" pitchFamily="34" charset="0"/>
              </a:rPr>
              <a:t>aes</a:t>
            </a:r>
            <a:r>
              <a:rPr lang="fr-FR" sz="2400" dirty="0">
                <a:solidFill>
                  <a:srgbClr val="C00000"/>
                </a:solidFill>
                <a:latin typeface="Franklin Gothic Medium" panose="020B0603020102020204" pitchFamily="34" charset="0"/>
              </a:rPr>
              <a:t>(x = Dates, y = Hauteur, </a:t>
            </a:r>
            <a:r>
              <a:rPr lang="fr-FR" sz="2400" dirty="0" err="1">
                <a:solidFill>
                  <a:srgbClr val="C00000"/>
                </a:solidFill>
                <a:latin typeface="Franklin Gothic Medium" panose="020B0603020102020204" pitchFamily="34" charset="0"/>
              </a:rPr>
              <a:t>color</a:t>
            </a:r>
            <a:r>
              <a:rPr lang="fr-FR" sz="2400" dirty="0">
                <a:solidFill>
                  <a:srgbClr val="C00000"/>
                </a:solidFill>
                <a:latin typeface="Franklin Gothic Medium" panose="020B0603020102020204" pitchFamily="34" charset="0"/>
              </a:rPr>
              <a:t> = Traitements)) +  </a:t>
            </a:r>
            <a:endParaRPr lang="fr-FR" sz="2400" dirty="0" smtClean="0">
              <a:solidFill>
                <a:srgbClr val="C00000"/>
              </a:solidFill>
              <a:latin typeface="Franklin Gothic Medium" panose="020B0603020102020204" pitchFamily="34" charset="0"/>
            </a:endParaRPr>
          </a:p>
          <a:p>
            <a:r>
              <a:rPr lang="fr-FR" sz="2400" dirty="0" err="1" smtClean="0">
                <a:solidFill>
                  <a:srgbClr val="C00000"/>
                </a:solidFill>
                <a:latin typeface="Franklin Gothic Medium" panose="020B0603020102020204" pitchFamily="34" charset="0"/>
              </a:rPr>
              <a:t>geom_line</a:t>
            </a:r>
            <a:r>
              <a:rPr lang="fr-FR" sz="2400" dirty="0">
                <a:solidFill>
                  <a:srgbClr val="C00000"/>
                </a:solidFill>
                <a:latin typeface="Franklin Gothic Medium" panose="020B0603020102020204" pitchFamily="34" charset="0"/>
              </a:rPr>
              <a:t>() +  </a:t>
            </a:r>
            <a:endParaRPr lang="fr-FR" sz="2400" dirty="0" smtClean="0">
              <a:solidFill>
                <a:srgbClr val="C00000"/>
              </a:solidFill>
              <a:latin typeface="Franklin Gothic Medium" panose="020B0603020102020204" pitchFamily="34" charset="0"/>
            </a:endParaRPr>
          </a:p>
          <a:p>
            <a:r>
              <a:rPr lang="fr-FR" sz="2400" dirty="0" err="1" smtClean="0">
                <a:solidFill>
                  <a:srgbClr val="C00000"/>
                </a:solidFill>
                <a:latin typeface="Franklin Gothic Medium" panose="020B0603020102020204" pitchFamily="34" charset="0"/>
              </a:rPr>
              <a:t>theme_minimal</a:t>
            </a:r>
            <a:r>
              <a:rPr lang="fr-FR" sz="2400" dirty="0">
                <a:solidFill>
                  <a:srgbClr val="C00000"/>
                </a:solidFill>
                <a:latin typeface="Franklin Gothic Medium" panose="020B0603020102020204" pitchFamily="34" charset="0"/>
              </a:rPr>
              <a:t>()</a:t>
            </a:r>
            <a:endParaRPr lang="fr-FR" sz="2400" dirty="0">
              <a:solidFill>
                <a:srgbClr val="C00000"/>
              </a:solidFill>
              <a:latin typeface="Franklin Gothic Medium" panose="020B0603020102020204" pitchFamily="34" charset="0"/>
            </a:endParaRPr>
          </a:p>
        </p:txBody>
      </p:sp>
      <p:sp>
        <p:nvSpPr>
          <p:cNvPr id="14" name="ZoneTexte 13"/>
          <p:cNvSpPr txBox="1"/>
          <p:nvPr/>
        </p:nvSpPr>
        <p:spPr>
          <a:xfrm>
            <a:off x="1" y="3122979"/>
            <a:ext cx="12191999" cy="2677656"/>
          </a:xfrm>
          <a:prstGeom prst="rect">
            <a:avLst/>
          </a:prstGeom>
          <a:solidFill>
            <a:schemeClr val="accent2">
              <a:lumMod val="20000"/>
              <a:lumOff val="80000"/>
            </a:schemeClr>
          </a:solidFill>
        </p:spPr>
        <p:txBody>
          <a:bodyPr wrap="square" rtlCol="0">
            <a:spAutoFit/>
          </a:bodyPr>
          <a:lstStyle/>
          <a:p>
            <a:pPr algn="just"/>
            <a:r>
              <a:rPr lang="fr-FR" sz="2400" dirty="0" err="1">
                <a:solidFill>
                  <a:schemeClr val="accent6">
                    <a:lumMod val="50000"/>
                  </a:schemeClr>
                </a:solidFill>
                <a:latin typeface="Franklin Gothic Medium" panose="020B0603020102020204" pitchFamily="34" charset="0"/>
              </a:rPr>
              <a:t>ggplot</a:t>
            </a:r>
            <a:r>
              <a:rPr lang="fr-FR" sz="2400" dirty="0" smtClean="0">
                <a:solidFill>
                  <a:schemeClr val="accent6">
                    <a:lumMod val="50000"/>
                  </a:schemeClr>
                </a:solidFill>
                <a:latin typeface="Franklin Gothic Medium" panose="020B0603020102020204" pitchFamily="34" charset="0"/>
              </a:rPr>
              <a:t>() </a:t>
            </a:r>
            <a:r>
              <a:rPr lang="fr-FR" sz="2400" dirty="0">
                <a:latin typeface="Franklin Gothic Medium" panose="020B0603020102020204" pitchFamily="34" charset="0"/>
              </a:rPr>
              <a:t>Initialise le graphique avec le jeu de </a:t>
            </a:r>
            <a:r>
              <a:rPr lang="fr-FR" sz="2400" dirty="0" smtClean="0">
                <a:latin typeface="Franklin Gothic Medium" panose="020B0603020102020204" pitchFamily="34" charset="0"/>
              </a:rPr>
              <a:t>données </a:t>
            </a:r>
            <a:r>
              <a:rPr lang="fr-FR" sz="2400" dirty="0" err="1" smtClean="0">
                <a:latin typeface="Franklin Gothic Medium" panose="020B0603020102020204" pitchFamily="34" charset="0"/>
              </a:rPr>
              <a:t>data_clean</a:t>
            </a:r>
            <a:r>
              <a:rPr lang="fr-FR" sz="2400" dirty="0" smtClean="0">
                <a:latin typeface="Franklin Gothic Medium" panose="020B0603020102020204" pitchFamily="34" charset="0"/>
              </a:rPr>
              <a:t> ; </a:t>
            </a:r>
            <a:r>
              <a:rPr lang="fr-FR" sz="2400" dirty="0" err="1" smtClean="0">
                <a:solidFill>
                  <a:schemeClr val="accent6">
                    <a:lumMod val="50000"/>
                  </a:schemeClr>
                </a:solidFill>
                <a:latin typeface="Franklin Gothic Medium" panose="020B0603020102020204" pitchFamily="34" charset="0"/>
              </a:rPr>
              <a:t>aes</a:t>
            </a:r>
            <a:r>
              <a:rPr lang="fr-FR" sz="2400" dirty="0" smtClean="0">
                <a:solidFill>
                  <a:schemeClr val="accent6">
                    <a:lumMod val="50000"/>
                  </a:schemeClr>
                </a:solidFill>
                <a:latin typeface="Franklin Gothic Medium" panose="020B0603020102020204" pitchFamily="34" charset="0"/>
              </a:rPr>
              <a:t>(x </a:t>
            </a:r>
            <a:r>
              <a:rPr lang="fr-FR" sz="2400" dirty="0">
                <a:solidFill>
                  <a:schemeClr val="accent6">
                    <a:lumMod val="50000"/>
                  </a:schemeClr>
                </a:solidFill>
                <a:latin typeface="Franklin Gothic Medium" panose="020B0603020102020204" pitchFamily="34" charset="0"/>
              </a:rPr>
              <a:t>= Dates, y = Hauteur, </a:t>
            </a:r>
            <a:r>
              <a:rPr lang="fr-FR" sz="2400" dirty="0" err="1">
                <a:solidFill>
                  <a:schemeClr val="accent6">
                    <a:lumMod val="50000"/>
                  </a:schemeClr>
                </a:solidFill>
                <a:latin typeface="Franklin Gothic Medium" panose="020B0603020102020204" pitchFamily="34" charset="0"/>
              </a:rPr>
              <a:t>color</a:t>
            </a:r>
            <a:r>
              <a:rPr lang="fr-FR" sz="2400" dirty="0">
                <a:solidFill>
                  <a:schemeClr val="accent6">
                    <a:lumMod val="50000"/>
                  </a:schemeClr>
                </a:solidFill>
                <a:latin typeface="Franklin Gothic Medium" panose="020B0603020102020204" pitchFamily="34" charset="0"/>
              </a:rPr>
              <a:t> = Traitements</a:t>
            </a:r>
            <a:r>
              <a:rPr lang="fr-FR" sz="2400" dirty="0" smtClean="0">
                <a:solidFill>
                  <a:schemeClr val="accent6">
                    <a:lumMod val="50000"/>
                  </a:schemeClr>
                </a:solidFill>
                <a:latin typeface="Franklin Gothic Medium" panose="020B0603020102020204" pitchFamily="34" charset="0"/>
              </a:rPr>
              <a:t>) </a:t>
            </a:r>
            <a:r>
              <a:rPr lang="fr-FR" sz="2400" dirty="0" smtClean="0">
                <a:latin typeface="Franklin Gothic Medium" panose="020B0603020102020204" pitchFamily="34" charset="0"/>
              </a:rPr>
              <a:t>définit </a:t>
            </a:r>
            <a:r>
              <a:rPr lang="fr-FR" sz="2400" dirty="0">
                <a:latin typeface="Franklin Gothic Medium" panose="020B0603020102020204" pitchFamily="34" charset="0"/>
              </a:rPr>
              <a:t>les variables :</a:t>
            </a:r>
            <a:r>
              <a:rPr lang="fr-FR" sz="2400" dirty="0">
                <a:solidFill>
                  <a:schemeClr val="accent6">
                    <a:lumMod val="50000"/>
                  </a:schemeClr>
                </a:solidFill>
                <a:latin typeface="Franklin Gothic Medium" panose="020B0603020102020204" pitchFamily="34" charset="0"/>
              </a:rPr>
              <a:t>x = Dates </a:t>
            </a:r>
            <a:r>
              <a:rPr lang="fr-FR" sz="2400" dirty="0">
                <a:latin typeface="Franklin Gothic Medium" panose="020B0603020102020204" pitchFamily="34" charset="0"/>
              </a:rPr>
              <a:t>→ axe temporel (suivi des observations</a:t>
            </a:r>
            <a:r>
              <a:rPr lang="fr-FR" sz="2400" dirty="0" smtClean="0">
                <a:latin typeface="Franklin Gothic Medium" panose="020B0603020102020204" pitchFamily="34" charset="0"/>
              </a:rPr>
              <a:t>) </a:t>
            </a:r>
            <a:r>
              <a:rPr lang="fr-FR" sz="2400" dirty="0" smtClean="0">
                <a:solidFill>
                  <a:schemeClr val="accent6">
                    <a:lumMod val="50000"/>
                  </a:schemeClr>
                </a:solidFill>
                <a:latin typeface="Franklin Gothic Medium" panose="020B0603020102020204" pitchFamily="34" charset="0"/>
              </a:rPr>
              <a:t>y </a:t>
            </a:r>
            <a:r>
              <a:rPr lang="fr-FR" sz="2400" dirty="0">
                <a:solidFill>
                  <a:schemeClr val="accent6">
                    <a:lumMod val="50000"/>
                  </a:schemeClr>
                </a:solidFill>
                <a:latin typeface="Franklin Gothic Medium" panose="020B0603020102020204" pitchFamily="34" charset="0"/>
              </a:rPr>
              <a:t>= Hauteur </a:t>
            </a:r>
            <a:r>
              <a:rPr lang="fr-FR" sz="2400" dirty="0">
                <a:latin typeface="Franklin Gothic Medium" panose="020B0603020102020204" pitchFamily="34" charset="0"/>
              </a:rPr>
              <a:t>→ croissance des </a:t>
            </a:r>
            <a:r>
              <a:rPr lang="fr-FR" sz="2400" dirty="0" smtClean="0">
                <a:latin typeface="Franklin Gothic Medium" panose="020B0603020102020204" pitchFamily="34" charset="0"/>
              </a:rPr>
              <a:t>plants ; </a:t>
            </a:r>
            <a:r>
              <a:rPr lang="fr-FR" sz="2400" dirty="0" err="1" smtClean="0">
                <a:solidFill>
                  <a:schemeClr val="accent6">
                    <a:lumMod val="50000"/>
                  </a:schemeClr>
                </a:solidFill>
                <a:latin typeface="Franklin Gothic Medium" panose="020B0603020102020204" pitchFamily="34" charset="0"/>
              </a:rPr>
              <a:t>color</a:t>
            </a:r>
            <a:r>
              <a:rPr lang="fr-FR" sz="2400" dirty="0" smtClean="0">
                <a:solidFill>
                  <a:schemeClr val="accent6">
                    <a:lumMod val="50000"/>
                  </a:schemeClr>
                </a:solidFill>
                <a:latin typeface="Franklin Gothic Medium" panose="020B0603020102020204" pitchFamily="34" charset="0"/>
              </a:rPr>
              <a:t> </a:t>
            </a:r>
            <a:r>
              <a:rPr lang="fr-FR" sz="2400" dirty="0">
                <a:solidFill>
                  <a:schemeClr val="accent6">
                    <a:lumMod val="50000"/>
                  </a:schemeClr>
                </a:solidFill>
                <a:latin typeface="Franklin Gothic Medium" panose="020B0603020102020204" pitchFamily="34" charset="0"/>
              </a:rPr>
              <a:t>= Traitements </a:t>
            </a:r>
            <a:r>
              <a:rPr lang="fr-FR" sz="2400" dirty="0">
                <a:latin typeface="Franklin Gothic Medium" panose="020B0603020102020204" pitchFamily="34" charset="0"/>
              </a:rPr>
              <a:t>→ différencie les traitements par </a:t>
            </a:r>
            <a:r>
              <a:rPr lang="fr-FR" sz="2400" dirty="0" smtClean="0">
                <a:latin typeface="Franklin Gothic Medium" panose="020B0603020102020204" pitchFamily="34" charset="0"/>
              </a:rPr>
              <a:t>couleur ; </a:t>
            </a:r>
            <a:r>
              <a:rPr lang="fr-FR" sz="2400" dirty="0">
                <a:latin typeface="Franklin Gothic Medium" panose="020B0603020102020204" pitchFamily="34" charset="0"/>
              </a:rPr>
              <a:t>Permet de comparer l’évolution de la croissance selon les </a:t>
            </a:r>
            <a:r>
              <a:rPr lang="fr-FR" sz="2400" dirty="0" smtClean="0">
                <a:latin typeface="Franklin Gothic Medium" panose="020B0603020102020204" pitchFamily="34" charset="0"/>
              </a:rPr>
              <a:t>traitements ; </a:t>
            </a:r>
            <a:r>
              <a:rPr lang="fr-FR" sz="2400" dirty="0" err="1" smtClean="0">
                <a:solidFill>
                  <a:schemeClr val="accent6">
                    <a:lumMod val="50000"/>
                  </a:schemeClr>
                </a:solidFill>
                <a:latin typeface="Franklin Gothic Medium" panose="020B0603020102020204" pitchFamily="34" charset="0"/>
              </a:rPr>
              <a:t>geom_line</a:t>
            </a:r>
            <a:r>
              <a:rPr lang="fr-FR" sz="2400" dirty="0" smtClean="0">
                <a:solidFill>
                  <a:schemeClr val="accent6">
                    <a:lumMod val="50000"/>
                  </a:schemeClr>
                </a:solidFill>
                <a:latin typeface="Franklin Gothic Medium" panose="020B0603020102020204" pitchFamily="34" charset="0"/>
              </a:rPr>
              <a:t>() </a:t>
            </a:r>
            <a:r>
              <a:rPr lang="fr-FR" sz="2400" dirty="0">
                <a:latin typeface="Franklin Gothic Medium" panose="020B0603020102020204" pitchFamily="34" charset="0"/>
              </a:rPr>
              <a:t>t</a:t>
            </a:r>
            <a:r>
              <a:rPr lang="fr-FR" sz="2400" dirty="0" smtClean="0">
                <a:latin typeface="Franklin Gothic Medium" panose="020B0603020102020204" pitchFamily="34" charset="0"/>
              </a:rPr>
              <a:t>race </a:t>
            </a:r>
            <a:r>
              <a:rPr lang="fr-FR" sz="2400" dirty="0">
                <a:latin typeface="Franklin Gothic Medium" panose="020B0603020102020204" pitchFamily="34" charset="0"/>
              </a:rPr>
              <a:t>des courbes (lignes) reliant les observations dans le temps</a:t>
            </a:r>
            <a:r>
              <a:rPr lang="fr-FR" sz="2400" dirty="0" smtClean="0">
                <a:latin typeface="Franklin Gothic Medium" panose="020B0603020102020204" pitchFamily="34" charset="0"/>
              </a:rPr>
              <a:t>. </a:t>
            </a:r>
            <a:r>
              <a:rPr lang="fr-FR" sz="2400" dirty="0">
                <a:latin typeface="Franklin Gothic Medium" panose="020B0603020102020204" pitchFamily="34" charset="0"/>
              </a:rPr>
              <a:t>Objectif :Montrer la tendance de </a:t>
            </a:r>
            <a:r>
              <a:rPr lang="fr-FR" sz="2400" dirty="0" smtClean="0">
                <a:latin typeface="Franklin Gothic Medium" panose="020B0603020102020204" pitchFamily="34" charset="0"/>
              </a:rPr>
              <a:t>croissance ; Visualiser </a:t>
            </a:r>
            <a:r>
              <a:rPr lang="fr-FR" sz="2400" dirty="0">
                <a:latin typeface="Franklin Gothic Medium" panose="020B0603020102020204" pitchFamily="34" charset="0"/>
              </a:rPr>
              <a:t>les variations </a:t>
            </a:r>
            <a:r>
              <a:rPr lang="fr-FR" sz="2400" dirty="0" smtClean="0">
                <a:latin typeface="Franklin Gothic Medium" panose="020B0603020102020204" pitchFamily="34" charset="0"/>
              </a:rPr>
              <a:t>temporelles ;  </a:t>
            </a:r>
            <a:r>
              <a:rPr lang="fr-FR" sz="2400" dirty="0" err="1">
                <a:solidFill>
                  <a:schemeClr val="accent6">
                    <a:lumMod val="50000"/>
                  </a:schemeClr>
                </a:solidFill>
                <a:latin typeface="Franklin Gothic Medium" panose="020B0603020102020204" pitchFamily="34" charset="0"/>
              </a:rPr>
              <a:t>theme_minimal</a:t>
            </a:r>
            <a:r>
              <a:rPr lang="fr-FR" sz="2400" dirty="0" smtClean="0">
                <a:solidFill>
                  <a:schemeClr val="accent6">
                    <a:lumMod val="50000"/>
                  </a:schemeClr>
                </a:solidFill>
                <a:latin typeface="Franklin Gothic Medium" panose="020B0603020102020204" pitchFamily="34" charset="0"/>
              </a:rPr>
              <a:t>() ; </a:t>
            </a:r>
            <a:r>
              <a:rPr lang="fr-FR" sz="2400" dirty="0" smtClean="0">
                <a:latin typeface="Franklin Gothic Medium" panose="020B0603020102020204" pitchFamily="34" charset="0"/>
              </a:rPr>
              <a:t>Applique </a:t>
            </a:r>
            <a:r>
              <a:rPr lang="fr-FR" sz="2400" dirty="0">
                <a:latin typeface="Franklin Gothic Medium" panose="020B0603020102020204" pitchFamily="34" charset="0"/>
              </a:rPr>
              <a:t>un style clair et </a:t>
            </a:r>
            <a:r>
              <a:rPr lang="fr-FR" sz="2400" dirty="0" smtClean="0">
                <a:latin typeface="Franklin Gothic Medium" panose="020B0603020102020204" pitchFamily="34" charset="0"/>
              </a:rPr>
              <a:t>professionnel.</a:t>
            </a:r>
            <a:endParaRPr lang="fr-FR" sz="2400" dirty="0">
              <a:latin typeface="Franklin Gothic Medium" panose="020B0603020102020204" pitchFamily="34" charset="0"/>
            </a:endParaRPr>
          </a:p>
        </p:txBody>
      </p:sp>
    </p:spTree>
    <p:extLst>
      <p:ext uri="{BB962C8B-B14F-4D97-AF65-F5344CB8AC3E}">
        <p14:creationId xmlns:p14="http://schemas.microsoft.com/office/powerpoint/2010/main" val="317872752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57</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1" name="Rectangle 10"/>
          <p:cNvSpPr/>
          <p:nvPr/>
        </p:nvSpPr>
        <p:spPr>
          <a:xfrm>
            <a:off x="-4" y="747344"/>
            <a:ext cx="12191999" cy="224450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p:cNvSpPr txBox="1"/>
          <p:nvPr/>
        </p:nvSpPr>
        <p:spPr>
          <a:xfrm>
            <a:off x="-4" y="1052857"/>
            <a:ext cx="12052663" cy="1569660"/>
          </a:xfrm>
          <a:prstGeom prst="rect">
            <a:avLst/>
          </a:prstGeom>
          <a:noFill/>
        </p:spPr>
        <p:txBody>
          <a:bodyPr wrap="square" rtlCol="0">
            <a:spAutoFit/>
          </a:bodyPr>
          <a:lstStyle/>
          <a:p>
            <a:r>
              <a:rPr lang="fr-FR" sz="2400" dirty="0">
                <a:solidFill>
                  <a:srgbClr val="C00000"/>
                </a:solidFill>
                <a:latin typeface="Franklin Gothic Medium" panose="020B0603020102020204" pitchFamily="34" charset="0"/>
              </a:rPr>
              <a:t># Évolution dans le </a:t>
            </a:r>
            <a:r>
              <a:rPr lang="fr-FR" sz="2400" dirty="0" smtClean="0">
                <a:solidFill>
                  <a:srgbClr val="C00000"/>
                </a:solidFill>
                <a:latin typeface="Franklin Gothic Medium" panose="020B0603020102020204" pitchFamily="34" charset="0"/>
              </a:rPr>
              <a:t>temps</a:t>
            </a:r>
          </a:p>
          <a:p>
            <a:r>
              <a:rPr lang="fr-FR" sz="2400" dirty="0" err="1" smtClean="0">
                <a:solidFill>
                  <a:srgbClr val="C00000"/>
                </a:solidFill>
                <a:latin typeface="Franklin Gothic Medium" panose="020B0603020102020204" pitchFamily="34" charset="0"/>
              </a:rPr>
              <a:t>ggplot</a:t>
            </a:r>
            <a:r>
              <a:rPr lang="fr-FR" sz="2400" dirty="0" smtClean="0">
                <a:solidFill>
                  <a:srgbClr val="C00000"/>
                </a:solidFill>
                <a:latin typeface="Franklin Gothic Medium" panose="020B0603020102020204" pitchFamily="34" charset="0"/>
              </a:rPr>
              <a:t>(</a:t>
            </a:r>
            <a:r>
              <a:rPr lang="fr-FR" sz="2400" dirty="0" err="1" smtClean="0">
                <a:solidFill>
                  <a:srgbClr val="C00000"/>
                </a:solidFill>
                <a:latin typeface="Franklin Gothic Medium" panose="020B0603020102020204" pitchFamily="34" charset="0"/>
              </a:rPr>
              <a:t>data_clean</a:t>
            </a:r>
            <a:r>
              <a:rPr lang="fr-FR" sz="2400" dirty="0">
                <a:solidFill>
                  <a:srgbClr val="C00000"/>
                </a:solidFill>
                <a:latin typeface="Franklin Gothic Medium" panose="020B0603020102020204" pitchFamily="34" charset="0"/>
              </a:rPr>
              <a:t>, </a:t>
            </a:r>
            <a:r>
              <a:rPr lang="fr-FR" sz="2400" dirty="0" err="1">
                <a:solidFill>
                  <a:srgbClr val="C00000"/>
                </a:solidFill>
                <a:latin typeface="Franklin Gothic Medium" panose="020B0603020102020204" pitchFamily="34" charset="0"/>
              </a:rPr>
              <a:t>aes</a:t>
            </a:r>
            <a:r>
              <a:rPr lang="fr-FR" sz="2400" dirty="0">
                <a:solidFill>
                  <a:srgbClr val="C00000"/>
                </a:solidFill>
                <a:latin typeface="Franklin Gothic Medium" panose="020B0603020102020204" pitchFamily="34" charset="0"/>
              </a:rPr>
              <a:t>(x = Dates, y = Hauteur, </a:t>
            </a:r>
            <a:r>
              <a:rPr lang="fr-FR" sz="2400" dirty="0" err="1">
                <a:solidFill>
                  <a:srgbClr val="C00000"/>
                </a:solidFill>
                <a:latin typeface="Franklin Gothic Medium" panose="020B0603020102020204" pitchFamily="34" charset="0"/>
              </a:rPr>
              <a:t>color</a:t>
            </a:r>
            <a:r>
              <a:rPr lang="fr-FR" sz="2400" dirty="0">
                <a:solidFill>
                  <a:srgbClr val="C00000"/>
                </a:solidFill>
                <a:latin typeface="Franklin Gothic Medium" panose="020B0603020102020204" pitchFamily="34" charset="0"/>
              </a:rPr>
              <a:t> = Traitements)) +  </a:t>
            </a:r>
            <a:endParaRPr lang="fr-FR" sz="2400" dirty="0" smtClean="0">
              <a:solidFill>
                <a:srgbClr val="C00000"/>
              </a:solidFill>
              <a:latin typeface="Franklin Gothic Medium" panose="020B0603020102020204" pitchFamily="34" charset="0"/>
            </a:endParaRPr>
          </a:p>
          <a:p>
            <a:r>
              <a:rPr lang="fr-FR" sz="2400" dirty="0" err="1" smtClean="0">
                <a:solidFill>
                  <a:srgbClr val="C00000"/>
                </a:solidFill>
                <a:latin typeface="Franklin Gothic Medium" panose="020B0603020102020204" pitchFamily="34" charset="0"/>
              </a:rPr>
              <a:t>geom_line</a:t>
            </a:r>
            <a:r>
              <a:rPr lang="fr-FR" sz="2400" dirty="0">
                <a:solidFill>
                  <a:srgbClr val="C00000"/>
                </a:solidFill>
                <a:latin typeface="Franklin Gothic Medium" panose="020B0603020102020204" pitchFamily="34" charset="0"/>
              </a:rPr>
              <a:t>() +  </a:t>
            </a:r>
            <a:endParaRPr lang="fr-FR" sz="2400" dirty="0" smtClean="0">
              <a:solidFill>
                <a:srgbClr val="C00000"/>
              </a:solidFill>
              <a:latin typeface="Franklin Gothic Medium" panose="020B0603020102020204" pitchFamily="34" charset="0"/>
            </a:endParaRPr>
          </a:p>
          <a:p>
            <a:r>
              <a:rPr lang="fr-FR" sz="2400" dirty="0" err="1" smtClean="0">
                <a:solidFill>
                  <a:srgbClr val="C00000"/>
                </a:solidFill>
                <a:latin typeface="Franklin Gothic Medium" panose="020B0603020102020204" pitchFamily="34" charset="0"/>
              </a:rPr>
              <a:t>theme_minimal</a:t>
            </a:r>
            <a:r>
              <a:rPr lang="fr-FR" sz="2400" dirty="0">
                <a:solidFill>
                  <a:srgbClr val="C00000"/>
                </a:solidFill>
                <a:latin typeface="Franklin Gothic Medium" panose="020B0603020102020204" pitchFamily="34" charset="0"/>
              </a:rPr>
              <a:t>()</a:t>
            </a:r>
            <a:endParaRPr lang="fr-FR" sz="2400" dirty="0">
              <a:solidFill>
                <a:srgbClr val="C00000"/>
              </a:solidFill>
              <a:latin typeface="Franklin Gothic Medium" panose="020B0603020102020204" pitchFamily="34" charset="0"/>
            </a:endParaRPr>
          </a:p>
        </p:txBody>
      </p:sp>
      <p:sp>
        <p:nvSpPr>
          <p:cNvPr id="14" name="ZoneTexte 13"/>
          <p:cNvSpPr txBox="1"/>
          <p:nvPr/>
        </p:nvSpPr>
        <p:spPr>
          <a:xfrm>
            <a:off x="1" y="3122979"/>
            <a:ext cx="12191999" cy="2308324"/>
          </a:xfrm>
          <a:prstGeom prst="rect">
            <a:avLst/>
          </a:prstGeom>
          <a:solidFill>
            <a:schemeClr val="accent2">
              <a:lumMod val="20000"/>
              <a:lumOff val="80000"/>
            </a:schemeClr>
          </a:solidFill>
        </p:spPr>
        <p:txBody>
          <a:bodyPr wrap="square" rtlCol="0">
            <a:spAutoFit/>
          </a:bodyPr>
          <a:lstStyle/>
          <a:p>
            <a:pPr algn="just"/>
            <a:r>
              <a:rPr lang="fr-FR" sz="2400" dirty="0" smtClean="0">
                <a:latin typeface="Franklin Gothic Medium" panose="020B0603020102020204" pitchFamily="34" charset="0"/>
              </a:rPr>
              <a:t>Interprétation agronomique : Ce </a:t>
            </a:r>
            <a:r>
              <a:rPr lang="fr-FR" sz="2400" dirty="0">
                <a:latin typeface="Franklin Gothic Medium" panose="020B0603020102020204" pitchFamily="34" charset="0"/>
              </a:rPr>
              <a:t>graphique permet de s</a:t>
            </a:r>
            <a:r>
              <a:rPr lang="fr-FR" sz="2400" dirty="0" smtClean="0">
                <a:latin typeface="Franklin Gothic Medium" panose="020B0603020102020204" pitchFamily="34" charset="0"/>
              </a:rPr>
              <a:t>uivre </a:t>
            </a:r>
            <a:r>
              <a:rPr lang="fr-FR" sz="2400" dirty="0">
                <a:latin typeface="Franklin Gothic Medium" panose="020B0603020102020204" pitchFamily="34" charset="0"/>
              </a:rPr>
              <a:t>la croissance des plants au fil du </a:t>
            </a:r>
            <a:r>
              <a:rPr lang="fr-FR" sz="2400" dirty="0" smtClean="0">
                <a:latin typeface="Franklin Gothic Medium" panose="020B0603020102020204" pitchFamily="34" charset="0"/>
              </a:rPr>
              <a:t>temps ; Comparer </a:t>
            </a:r>
            <a:r>
              <a:rPr lang="fr-FR" sz="2400" dirty="0">
                <a:latin typeface="Franklin Gothic Medium" panose="020B0603020102020204" pitchFamily="34" charset="0"/>
              </a:rPr>
              <a:t>les performances des </a:t>
            </a:r>
            <a:r>
              <a:rPr lang="fr-FR" sz="2400" dirty="0" smtClean="0">
                <a:latin typeface="Franklin Gothic Medium" panose="020B0603020102020204" pitchFamily="34" charset="0"/>
              </a:rPr>
              <a:t>traitements ; Identifier </a:t>
            </a:r>
            <a:r>
              <a:rPr lang="fr-FR" sz="2400" dirty="0">
                <a:latin typeface="Franklin Gothic Medium" panose="020B0603020102020204" pitchFamily="34" charset="0"/>
              </a:rPr>
              <a:t>:le traitement avec la croissance la plus </a:t>
            </a:r>
            <a:r>
              <a:rPr lang="fr-FR" sz="2400" dirty="0" smtClean="0">
                <a:latin typeface="Franklin Gothic Medium" panose="020B0603020102020204" pitchFamily="34" charset="0"/>
              </a:rPr>
              <a:t>rapide ; les </a:t>
            </a:r>
            <a:r>
              <a:rPr lang="fr-FR" sz="2400" dirty="0">
                <a:latin typeface="Franklin Gothic Medium" panose="020B0603020102020204" pitchFamily="34" charset="0"/>
              </a:rPr>
              <a:t>phases de croissance active ou </a:t>
            </a:r>
            <a:r>
              <a:rPr lang="fr-FR" sz="2400" dirty="0" smtClean="0">
                <a:latin typeface="Franklin Gothic Medium" panose="020B0603020102020204" pitchFamily="34" charset="0"/>
              </a:rPr>
              <a:t>stagnation ; </a:t>
            </a:r>
            <a:r>
              <a:rPr lang="fr-FR" sz="2400" dirty="0">
                <a:latin typeface="Franklin Gothic Medium" panose="020B0603020102020204" pitchFamily="34" charset="0"/>
              </a:rPr>
              <a:t>Très utile pour analyser la réponse des cultures aux pratiques </a:t>
            </a:r>
            <a:r>
              <a:rPr lang="fr-FR" sz="2400" dirty="0" smtClean="0">
                <a:latin typeface="Franklin Gothic Medium" panose="020B0603020102020204" pitchFamily="34" charset="0"/>
              </a:rPr>
              <a:t>agronomiques ; </a:t>
            </a:r>
            <a:r>
              <a:rPr lang="fr-FR" sz="2400" dirty="0">
                <a:latin typeface="Franklin Gothic Medium" panose="020B0603020102020204" pitchFamily="34" charset="0"/>
              </a:rPr>
              <a:t>Idée clé à </a:t>
            </a:r>
            <a:r>
              <a:rPr lang="fr-FR" sz="2400" dirty="0" smtClean="0">
                <a:latin typeface="Franklin Gothic Medium" panose="020B0603020102020204" pitchFamily="34" charset="0"/>
              </a:rPr>
              <a:t>retenir : </a:t>
            </a:r>
            <a:r>
              <a:rPr lang="fr-FR" sz="2400" dirty="0">
                <a:solidFill>
                  <a:schemeClr val="accent6">
                    <a:lumMod val="50000"/>
                  </a:schemeClr>
                </a:solidFill>
                <a:latin typeface="Franklin Gothic Medium" panose="020B0603020102020204" pitchFamily="34" charset="0"/>
              </a:rPr>
              <a:t>Les graphiques temporels sont essentiels pour comprendre la dynamique de croissance et l’effet des traitements dans le temps.</a:t>
            </a:r>
            <a:endParaRPr lang="fr-FR" sz="2400" dirty="0">
              <a:solidFill>
                <a:schemeClr val="accent6">
                  <a:lumMod val="50000"/>
                </a:schemeClr>
              </a:solidFill>
              <a:latin typeface="Franklin Gothic Medium" panose="020B0603020102020204" pitchFamily="34" charset="0"/>
            </a:endParaRPr>
          </a:p>
        </p:txBody>
      </p:sp>
    </p:spTree>
    <p:extLst>
      <p:ext uri="{BB962C8B-B14F-4D97-AF65-F5344CB8AC3E}">
        <p14:creationId xmlns:p14="http://schemas.microsoft.com/office/powerpoint/2010/main" val="193626360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58</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5" name="ZoneTexte 14"/>
          <p:cNvSpPr txBox="1"/>
          <p:nvPr/>
        </p:nvSpPr>
        <p:spPr>
          <a:xfrm>
            <a:off x="6088378" y="967781"/>
            <a:ext cx="6017623" cy="1077218"/>
          </a:xfrm>
          <a:prstGeom prst="rect">
            <a:avLst/>
          </a:prstGeom>
          <a:noFill/>
          <a:ln w="38100">
            <a:solidFill>
              <a:srgbClr val="C00000"/>
            </a:solidFill>
          </a:ln>
        </p:spPr>
        <p:txBody>
          <a:bodyPr wrap="square" rtlCol="0">
            <a:spAutoFit/>
          </a:bodyPr>
          <a:lstStyle/>
          <a:p>
            <a:pPr algn="ctr"/>
            <a:r>
              <a:rPr lang="fr-FR" sz="1600" dirty="0">
                <a:solidFill>
                  <a:srgbClr val="C00000"/>
                </a:solidFill>
                <a:latin typeface="Franklin Gothic Medium" panose="020B0603020102020204" pitchFamily="34" charset="0"/>
              </a:rPr>
              <a:t>Ce graphique est un graphique en courbes (ou line plot) qui montre l'évolution de la Hauteur au cours du temps (Dates, sur l'axe horizontal) pour différents Traitements agricoles ou expérimentaux (représentés par les différentes couleurs dans la légende).</a:t>
            </a:r>
          </a:p>
        </p:txBody>
      </p:sp>
      <p:sp>
        <p:nvSpPr>
          <p:cNvPr id="16" name="ZoneTexte 15"/>
          <p:cNvSpPr txBox="1"/>
          <p:nvPr/>
        </p:nvSpPr>
        <p:spPr>
          <a:xfrm>
            <a:off x="6088378" y="2265864"/>
            <a:ext cx="6017623" cy="4031873"/>
          </a:xfrm>
          <a:prstGeom prst="rect">
            <a:avLst/>
          </a:prstGeom>
          <a:noFill/>
          <a:ln w="38100">
            <a:solidFill>
              <a:srgbClr val="C00000"/>
            </a:solidFill>
          </a:ln>
        </p:spPr>
        <p:txBody>
          <a:bodyPr wrap="square" rtlCol="0">
            <a:spAutoFit/>
          </a:bodyPr>
          <a:lstStyle/>
          <a:p>
            <a:pPr algn="ctr"/>
            <a:r>
              <a:rPr lang="fr-FR" sz="1600" dirty="0">
                <a:solidFill>
                  <a:srgbClr val="C00000"/>
                </a:solidFill>
                <a:latin typeface="Franklin Gothic Medium" panose="020B0603020102020204" pitchFamily="34" charset="0"/>
              </a:rPr>
              <a:t>V</a:t>
            </a:r>
            <a:r>
              <a:rPr lang="fr-FR" sz="1600" dirty="0" smtClean="0">
                <a:solidFill>
                  <a:srgbClr val="C00000"/>
                </a:solidFill>
                <a:latin typeface="Franklin Gothic Medium" panose="020B0603020102020204" pitchFamily="34" charset="0"/>
              </a:rPr>
              <a:t>oici </a:t>
            </a:r>
            <a:r>
              <a:rPr lang="fr-FR" sz="1600" dirty="0">
                <a:solidFill>
                  <a:srgbClr val="C00000"/>
                </a:solidFill>
                <a:latin typeface="Franklin Gothic Medium" panose="020B0603020102020204" pitchFamily="34" charset="0"/>
              </a:rPr>
              <a:t>ce qu'il faut en retenir :Une croissance globale : De manière générale, toutes les lignes montent vers la droite, ce qui montre que les sujets grandissent bien au fil des semaines (du mois de mai jusqu'à juillet).Le problème des lignes verticales : Vous remarquerez des lignes parfaitement verticales (des "pics" ou des "murs" de couleur) au tout début du graphique. En statistique, cela signifie qu'il y a un petit souci avec la structure de vos données ou votre code R. Soit vous avez plusieurs mesures différentes prises exactement à la même date pour un même traitement (sans en avoir fait la moyenne), soit le logiciel relie entre eux des individus différents d'une manière confuse au lieu de tracer une seule ligne propre par </a:t>
            </a:r>
            <a:r>
              <a:rPr lang="fr-FR" sz="1600" dirty="0" err="1">
                <a:solidFill>
                  <a:srgbClr val="C00000"/>
                </a:solidFill>
                <a:latin typeface="Franklin Gothic Medium" panose="020B0603020102020204" pitchFamily="34" charset="0"/>
              </a:rPr>
              <a:t>traitement.La</a:t>
            </a:r>
            <a:r>
              <a:rPr lang="fr-FR" sz="1600" dirty="0">
                <a:solidFill>
                  <a:srgbClr val="C00000"/>
                </a:solidFill>
                <a:latin typeface="Franklin Gothic Medium" panose="020B0603020102020204" pitchFamily="34" charset="0"/>
              </a:rPr>
              <a:t> fin du suivi : Vers la fin (juin à juillet), seule la ligne rose (TRAITEMT5) continue de monter très haut. Cela peut signifier que ce traitement est le seul à avoir été mesuré jusqu'au bout, ou que les autres traitements ont été arrêtés en cours de route.</a:t>
            </a:r>
          </a:p>
        </p:txBody>
      </p:sp>
      <p:pic>
        <p:nvPicPr>
          <p:cNvPr id="2" name="Image 1"/>
          <p:cNvPicPr>
            <a:picLocks noChangeAspect="1"/>
          </p:cNvPicPr>
          <p:nvPr/>
        </p:nvPicPr>
        <p:blipFill>
          <a:blip r:embed="rId2"/>
          <a:stretch>
            <a:fillRect/>
          </a:stretch>
        </p:blipFill>
        <p:spPr>
          <a:xfrm>
            <a:off x="102995" y="972994"/>
            <a:ext cx="5597851" cy="5368967"/>
          </a:xfrm>
          <a:prstGeom prst="rect">
            <a:avLst/>
          </a:prstGeom>
        </p:spPr>
      </p:pic>
    </p:spTree>
    <p:extLst>
      <p:ext uri="{BB962C8B-B14F-4D97-AF65-F5344CB8AC3E}">
        <p14:creationId xmlns:p14="http://schemas.microsoft.com/office/powerpoint/2010/main" val="28726278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59</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dirty="0" smtClean="0">
                <a:solidFill>
                  <a:srgbClr val="FFC000"/>
                </a:solidFill>
                <a:latin typeface="Franklin Gothic Medium" panose="020B0603020102020204" pitchFamily="34" charset="0"/>
              </a:rPr>
              <a:t>Pratique sous R</a:t>
            </a:r>
            <a:endParaRPr lang="fr-FR" sz="3200" b="1" dirty="0">
              <a:solidFill>
                <a:srgbClr val="FFC000"/>
              </a:solidFill>
              <a:latin typeface="Franklin Gothic Medium" panose="020B0603020102020204" pitchFamily="34" charset="0"/>
            </a:endParaRPr>
          </a:p>
        </p:txBody>
      </p:sp>
      <p:sp>
        <p:nvSpPr>
          <p:cNvPr id="15" name="ZoneTexte 14"/>
          <p:cNvSpPr txBox="1"/>
          <p:nvPr/>
        </p:nvSpPr>
        <p:spPr>
          <a:xfrm>
            <a:off x="6088378" y="967781"/>
            <a:ext cx="6017623" cy="1077218"/>
          </a:xfrm>
          <a:prstGeom prst="rect">
            <a:avLst/>
          </a:prstGeom>
          <a:noFill/>
          <a:ln w="38100">
            <a:solidFill>
              <a:srgbClr val="C00000"/>
            </a:solidFill>
          </a:ln>
        </p:spPr>
        <p:txBody>
          <a:bodyPr wrap="square" rtlCol="0">
            <a:spAutoFit/>
          </a:bodyPr>
          <a:lstStyle/>
          <a:p>
            <a:pPr algn="ctr"/>
            <a:r>
              <a:rPr lang="fr-FR" sz="1600" dirty="0">
                <a:solidFill>
                  <a:srgbClr val="C00000"/>
                </a:solidFill>
                <a:latin typeface="Franklin Gothic Medium" panose="020B0603020102020204" pitchFamily="34" charset="0"/>
              </a:rPr>
              <a:t>Ce graphique est un graphique en courbes (ou line plot) qui montre l'évolution de la Hauteur au cours du temps (Dates, sur l'axe horizontal) pour différents Traitements agricoles ou expérimentaux (représentés par les différentes couleurs dans la légende).</a:t>
            </a:r>
          </a:p>
        </p:txBody>
      </p:sp>
      <p:sp>
        <p:nvSpPr>
          <p:cNvPr id="16" name="ZoneTexte 15"/>
          <p:cNvSpPr txBox="1"/>
          <p:nvPr/>
        </p:nvSpPr>
        <p:spPr>
          <a:xfrm>
            <a:off x="6088378" y="2265864"/>
            <a:ext cx="6017623" cy="2800767"/>
          </a:xfrm>
          <a:prstGeom prst="rect">
            <a:avLst/>
          </a:prstGeom>
          <a:noFill/>
          <a:ln w="38100">
            <a:solidFill>
              <a:srgbClr val="C00000"/>
            </a:solidFill>
          </a:ln>
        </p:spPr>
        <p:txBody>
          <a:bodyPr wrap="square" rtlCol="0">
            <a:spAutoFit/>
          </a:bodyPr>
          <a:lstStyle/>
          <a:p>
            <a:r>
              <a:rPr lang="fr-FR" sz="1600" dirty="0">
                <a:solidFill>
                  <a:srgbClr val="C00000"/>
                </a:solidFill>
                <a:latin typeface="Franklin Gothic Medium" panose="020B0603020102020204" pitchFamily="34" charset="0"/>
              </a:rPr>
              <a:t># </a:t>
            </a:r>
            <a:r>
              <a:rPr lang="fr-FR" sz="1600" dirty="0" smtClean="0">
                <a:solidFill>
                  <a:srgbClr val="C00000"/>
                </a:solidFill>
                <a:latin typeface="Franklin Gothic Medium" panose="020B0603020102020204" pitchFamily="34" charset="0"/>
              </a:rPr>
              <a:t>4GRAPHIQUE </a:t>
            </a:r>
            <a:r>
              <a:rPr lang="fr-FR" sz="1600" dirty="0">
                <a:solidFill>
                  <a:srgbClr val="C00000"/>
                </a:solidFill>
                <a:latin typeface="Franklin Gothic Medium" panose="020B0603020102020204" pitchFamily="34" charset="0"/>
              </a:rPr>
              <a:t>CORRIGÉ </a:t>
            </a:r>
            <a:r>
              <a:rPr lang="fr-FR" sz="1600" dirty="0" smtClean="0">
                <a:solidFill>
                  <a:srgbClr val="C00000"/>
                </a:solidFill>
                <a:latin typeface="Franklin Gothic Medium" panose="020B0603020102020204" pitchFamily="34" charset="0"/>
              </a:rPr>
              <a:t> </a:t>
            </a:r>
            <a:r>
              <a:rPr lang="fr-FR" sz="1600" dirty="0">
                <a:solidFill>
                  <a:srgbClr val="C00000"/>
                </a:solidFill>
                <a:latin typeface="Franklin Gothic Medium" panose="020B0603020102020204" pitchFamily="34" charset="0"/>
              </a:rPr>
              <a:t>: Évolution de la MOYENNE par </a:t>
            </a:r>
            <a:r>
              <a:rPr lang="fr-FR" sz="1600" dirty="0" smtClean="0">
                <a:solidFill>
                  <a:srgbClr val="C00000"/>
                </a:solidFill>
                <a:latin typeface="Franklin Gothic Medium" panose="020B0603020102020204" pitchFamily="34" charset="0"/>
              </a:rPr>
              <a:t>traitement</a:t>
            </a:r>
          </a:p>
          <a:p>
            <a:r>
              <a:rPr lang="fr-FR" sz="1600" dirty="0" smtClean="0">
                <a:solidFill>
                  <a:srgbClr val="C00000"/>
                </a:solidFill>
                <a:latin typeface="Franklin Gothic Medium" panose="020B0603020102020204" pitchFamily="34" charset="0"/>
              </a:rPr>
              <a:t># </a:t>
            </a:r>
            <a:r>
              <a:rPr lang="fr-FR" sz="1600" dirty="0">
                <a:solidFill>
                  <a:srgbClr val="C00000"/>
                </a:solidFill>
                <a:latin typeface="Franklin Gothic Medium" panose="020B0603020102020204" pitchFamily="34" charset="0"/>
              </a:rPr>
              <a:t>C'est le code le plus propre pour une publication ou un rapport</a:t>
            </a:r>
            <a:r>
              <a:rPr lang="fr-FR" sz="1600" dirty="0" smtClean="0">
                <a:solidFill>
                  <a:srgbClr val="C00000"/>
                </a:solidFill>
                <a:latin typeface="Franklin Gothic Medium" panose="020B0603020102020204" pitchFamily="34" charset="0"/>
              </a:rPr>
              <a:t>.</a:t>
            </a:r>
          </a:p>
          <a:p>
            <a:r>
              <a:rPr lang="fr-FR" sz="1600" dirty="0" err="1" smtClean="0">
                <a:solidFill>
                  <a:srgbClr val="C00000"/>
                </a:solidFill>
                <a:latin typeface="Franklin Gothic Medium" panose="020B0603020102020204" pitchFamily="34" charset="0"/>
              </a:rPr>
              <a:t>ggplot</a:t>
            </a:r>
            <a:r>
              <a:rPr lang="fr-FR" sz="1600" dirty="0" smtClean="0">
                <a:solidFill>
                  <a:srgbClr val="C00000"/>
                </a:solidFill>
                <a:latin typeface="Franklin Gothic Medium" panose="020B0603020102020204" pitchFamily="34" charset="0"/>
              </a:rPr>
              <a:t>(</a:t>
            </a:r>
            <a:r>
              <a:rPr lang="fr-FR" sz="1600" dirty="0" err="1" smtClean="0">
                <a:solidFill>
                  <a:srgbClr val="C00000"/>
                </a:solidFill>
                <a:latin typeface="Franklin Gothic Medium" panose="020B0603020102020204" pitchFamily="34" charset="0"/>
              </a:rPr>
              <a:t>data_clean</a:t>
            </a:r>
            <a:r>
              <a:rPr lang="fr-FR" sz="1600" dirty="0">
                <a:solidFill>
                  <a:srgbClr val="C00000"/>
                </a:solidFill>
                <a:latin typeface="Franklin Gothic Medium" panose="020B0603020102020204" pitchFamily="34" charset="0"/>
              </a:rPr>
              <a:t>, </a:t>
            </a:r>
            <a:r>
              <a:rPr lang="fr-FR" sz="1600" dirty="0" err="1">
                <a:solidFill>
                  <a:srgbClr val="C00000"/>
                </a:solidFill>
                <a:latin typeface="Franklin Gothic Medium" panose="020B0603020102020204" pitchFamily="34" charset="0"/>
              </a:rPr>
              <a:t>aes</a:t>
            </a:r>
            <a:r>
              <a:rPr lang="fr-FR" sz="1600" dirty="0">
                <a:solidFill>
                  <a:srgbClr val="C00000"/>
                </a:solidFill>
                <a:latin typeface="Franklin Gothic Medium" panose="020B0603020102020204" pitchFamily="34" charset="0"/>
              </a:rPr>
              <a:t>(x = Dates, y = Hauteur, </a:t>
            </a:r>
            <a:r>
              <a:rPr lang="fr-FR" sz="1600" dirty="0" err="1">
                <a:solidFill>
                  <a:srgbClr val="C00000"/>
                </a:solidFill>
                <a:latin typeface="Franklin Gothic Medium" panose="020B0603020102020204" pitchFamily="34" charset="0"/>
              </a:rPr>
              <a:t>color</a:t>
            </a:r>
            <a:r>
              <a:rPr lang="fr-FR" sz="1600" dirty="0">
                <a:solidFill>
                  <a:srgbClr val="C00000"/>
                </a:solidFill>
                <a:latin typeface="Franklin Gothic Medium" panose="020B0603020102020204" pitchFamily="34" charset="0"/>
              </a:rPr>
              <a:t> = Traitements, group = Traitements)) +  </a:t>
            </a:r>
            <a:r>
              <a:rPr lang="fr-FR" sz="1600" dirty="0" err="1">
                <a:solidFill>
                  <a:srgbClr val="C00000"/>
                </a:solidFill>
                <a:latin typeface="Franklin Gothic Medium" panose="020B0603020102020204" pitchFamily="34" charset="0"/>
              </a:rPr>
              <a:t>stat_summary</a:t>
            </a:r>
            <a:r>
              <a:rPr lang="fr-FR" sz="1600" dirty="0">
                <a:solidFill>
                  <a:srgbClr val="C00000"/>
                </a:solidFill>
                <a:latin typeface="Franklin Gothic Medium" panose="020B0603020102020204" pitchFamily="34" charset="0"/>
              </a:rPr>
              <a:t>(fun = </a:t>
            </a:r>
            <a:r>
              <a:rPr lang="fr-FR" sz="1600" dirty="0" err="1">
                <a:solidFill>
                  <a:srgbClr val="C00000"/>
                </a:solidFill>
                <a:latin typeface="Franklin Gothic Medium" panose="020B0603020102020204" pitchFamily="34" charset="0"/>
              </a:rPr>
              <a:t>mean</a:t>
            </a:r>
            <a:r>
              <a:rPr lang="fr-FR" sz="1600" dirty="0">
                <a:solidFill>
                  <a:srgbClr val="C00000"/>
                </a:solidFill>
                <a:latin typeface="Franklin Gothic Medium" panose="020B0603020102020204" pitchFamily="34" charset="0"/>
              </a:rPr>
              <a:t>, </a:t>
            </a:r>
            <a:r>
              <a:rPr lang="fr-FR" sz="1600" dirty="0" err="1">
                <a:solidFill>
                  <a:srgbClr val="C00000"/>
                </a:solidFill>
                <a:latin typeface="Franklin Gothic Medium" panose="020B0603020102020204" pitchFamily="34" charset="0"/>
              </a:rPr>
              <a:t>geom</a:t>
            </a:r>
            <a:r>
              <a:rPr lang="fr-FR" sz="1600" dirty="0">
                <a:solidFill>
                  <a:srgbClr val="C00000"/>
                </a:solidFill>
                <a:latin typeface="Franklin Gothic Medium" panose="020B0603020102020204" pitchFamily="34" charset="0"/>
              </a:rPr>
              <a:t> = "line", size = 1.2) +  </a:t>
            </a:r>
            <a:r>
              <a:rPr lang="fr-FR" sz="1600" dirty="0" err="1">
                <a:solidFill>
                  <a:srgbClr val="C00000"/>
                </a:solidFill>
                <a:latin typeface="Franklin Gothic Medium" panose="020B0603020102020204" pitchFamily="34" charset="0"/>
              </a:rPr>
              <a:t>stat_summary</a:t>
            </a:r>
            <a:r>
              <a:rPr lang="fr-FR" sz="1600" dirty="0">
                <a:solidFill>
                  <a:srgbClr val="C00000"/>
                </a:solidFill>
                <a:latin typeface="Franklin Gothic Medium" panose="020B0603020102020204" pitchFamily="34" charset="0"/>
              </a:rPr>
              <a:t>(fun = </a:t>
            </a:r>
            <a:r>
              <a:rPr lang="fr-FR" sz="1600" dirty="0" err="1">
                <a:solidFill>
                  <a:srgbClr val="C00000"/>
                </a:solidFill>
                <a:latin typeface="Franklin Gothic Medium" panose="020B0603020102020204" pitchFamily="34" charset="0"/>
              </a:rPr>
              <a:t>mean</a:t>
            </a:r>
            <a:r>
              <a:rPr lang="fr-FR" sz="1600" dirty="0">
                <a:solidFill>
                  <a:srgbClr val="C00000"/>
                </a:solidFill>
                <a:latin typeface="Franklin Gothic Medium" panose="020B0603020102020204" pitchFamily="34" charset="0"/>
              </a:rPr>
              <a:t>, </a:t>
            </a:r>
            <a:r>
              <a:rPr lang="fr-FR" sz="1600" dirty="0" err="1">
                <a:solidFill>
                  <a:srgbClr val="C00000"/>
                </a:solidFill>
                <a:latin typeface="Franklin Gothic Medium" panose="020B0603020102020204" pitchFamily="34" charset="0"/>
              </a:rPr>
              <a:t>geom</a:t>
            </a:r>
            <a:r>
              <a:rPr lang="fr-FR" sz="1600" dirty="0">
                <a:solidFill>
                  <a:srgbClr val="C00000"/>
                </a:solidFill>
                <a:latin typeface="Franklin Gothic Medium" panose="020B0603020102020204" pitchFamily="34" charset="0"/>
              </a:rPr>
              <a:t> = "point", size = 2) +  </a:t>
            </a:r>
            <a:r>
              <a:rPr lang="fr-FR" sz="1600" dirty="0" err="1">
                <a:solidFill>
                  <a:srgbClr val="C00000"/>
                </a:solidFill>
                <a:latin typeface="Franklin Gothic Medium" panose="020B0603020102020204" pitchFamily="34" charset="0"/>
              </a:rPr>
              <a:t>scale_x_date</a:t>
            </a:r>
            <a:r>
              <a:rPr lang="fr-FR" sz="1600" dirty="0">
                <a:solidFill>
                  <a:srgbClr val="C00000"/>
                </a:solidFill>
                <a:latin typeface="Franklin Gothic Medium" panose="020B0603020102020204" pitchFamily="34" charset="0"/>
              </a:rPr>
              <a:t>(</a:t>
            </a:r>
            <a:r>
              <a:rPr lang="fr-FR" sz="1600" dirty="0" err="1">
                <a:solidFill>
                  <a:srgbClr val="C00000"/>
                </a:solidFill>
                <a:latin typeface="Franklin Gothic Medium" panose="020B0603020102020204" pitchFamily="34" charset="0"/>
              </a:rPr>
              <a:t>date_labels</a:t>
            </a:r>
            <a:r>
              <a:rPr lang="fr-FR" sz="1600" dirty="0">
                <a:solidFill>
                  <a:srgbClr val="C00000"/>
                </a:solidFill>
                <a:latin typeface="Franklin Gothic Medium" panose="020B0603020102020204" pitchFamily="34" charset="0"/>
              </a:rPr>
              <a:t> = "%d %b", </a:t>
            </a:r>
            <a:r>
              <a:rPr lang="fr-FR" sz="1600" dirty="0" err="1">
                <a:solidFill>
                  <a:srgbClr val="C00000"/>
                </a:solidFill>
                <a:latin typeface="Franklin Gothic Medium" panose="020B0603020102020204" pitchFamily="34" charset="0"/>
              </a:rPr>
              <a:t>date_breaks</a:t>
            </a:r>
            <a:r>
              <a:rPr lang="fr-FR" sz="1600" dirty="0">
                <a:solidFill>
                  <a:srgbClr val="C00000"/>
                </a:solidFill>
                <a:latin typeface="Franklin Gothic Medium" panose="020B0603020102020204" pitchFamily="34" charset="0"/>
              </a:rPr>
              <a:t> = "2 </a:t>
            </a:r>
            <a:r>
              <a:rPr lang="fr-FR" sz="1600" dirty="0" err="1">
                <a:solidFill>
                  <a:srgbClr val="C00000"/>
                </a:solidFill>
                <a:latin typeface="Franklin Gothic Medium" panose="020B0603020102020204" pitchFamily="34" charset="0"/>
              </a:rPr>
              <a:t>weeks</a:t>
            </a:r>
            <a:r>
              <a:rPr lang="fr-FR" sz="1600" dirty="0">
                <a:solidFill>
                  <a:srgbClr val="C00000"/>
                </a:solidFill>
                <a:latin typeface="Franklin Gothic Medium" panose="020B0603020102020204" pitchFamily="34" charset="0"/>
              </a:rPr>
              <a:t>") + # Bel affichage des dates  </a:t>
            </a:r>
            <a:r>
              <a:rPr lang="fr-FR" sz="1600" dirty="0" err="1">
                <a:solidFill>
                  <a:srgbClr val="C00000"/>
                </a:solidFill>
                <a:latin typeface="Franklin Gothic Medium" panose="020B0603020102020204" pitchFamily="34" charset="0"/>
              </a:rPr>
              <a:t>labs</a:t>
            </a:r>
            <a:r>
              <a:rPr lang="fr-FR" sz="1600" dirty="0">
                <a:solidFill>
                  <a:srgbClr val="C00000"/>
                </a:solidFill>
                <a:latin typeface="Franklin Gothic Medium" panose="020B0603020102020204" pitchFamily="34" charset="0"/>
              </a:rPr>
              <a:t>(    </a:t>
            </a:r>
            <a:r>
              <a:rPr lang="fr-FR" sz="1600" dirty="0" err="1">
                <a:solidFill>
                  <a:srgbClr val="C00000"/>
                </a:solidFill>
                <a:latin typeface="Franklin Gothic Medium" panose="020B0603020102020204" pitchFamily="34" charset="0"/>
              </a:rPr>
              <a:t>title</a:t>
            </a:r>
            <a:r>
              <a:rPr lang="fr-FR" sz="1600" dirty="0">
                <a:solidFill>
                  <a:srgbClr val="C00000"/>
                </a:solidFill>
                <a:latin typeface="Franklin Gothic Medium" panose="020B0603020102020204" pitchFamily="34" charset="0"/>
              </a:rPr>
              <a:t> = "Évolution de la hauteur moyenne du sorgho par traitement",    x = "Dates de suivi",    y = "Hauteur Moyenne (cm)",    </a:t>
            </a:r>
            <a:r>
              <a:rPr lang="fr-FR" sz="1600" dirty="0" err="1">
                <a:solidFill>
                  <a:srgbClr val="C00000"/>
                </a:solidFill>
                <a:latin typeface="Franklin Gothic Medium" panose="020B0603020102020204" pitchFamily="34" charset="0"/>
              </a:rPr>
              <a:t>color</a:t>
            </a:r>
            <a:r>
              <a:rPr lang="fr-FR" sz="1600" dirty="0">
                <a:solidFill>
                  <a:srgbClr val="C00000"/>
                </a:solidFill>
                <a:latin typeface="Franklin Gothic Medium" panose="020B0603020102020204" pitchFamily="34" charset="0"/>
              </a:rPr>
              <a:t> = "Traitements"  ) +  </a:t>
            </a:r>
            <a:r>
              <a:rPr lang="fr-FR" sz="1600" dirty="0" err="1">
                <a:solidFill>
                  <a:srgbClr val="C00000"/>
                </a:solidFill>
                <a:latin typeface="Franklin Gothic Medium" panose="020B0603020102020204" pitchFamily="34" charset="0"/>
              </a:rPr>
              <a:t>theme_minimal</a:t>
            </a:r>
            <a:r>
              <a:rPr lang="fr-FR" sz="1600" dirty="0">
                <a:solidFill>
                  <a:srgbClr val="C00000"/>
                </a:solidFill>
                <a:latin typeface="Franklin Gothic Medium" panose="020B0603020102020204" pitchFamily="34" charset="0"/>
              </a:rPr>
              <a:t>()</a:t>
            </a:r>
          </a:p>
        </p:txBody>
      </p:sp>
      <p:pic>
        <p:nvPicPr>
          <p:cNvPr id="11" name="Image 10"/>
          <p:cNvPicPr>
            <a:picLocks noChangeAspect="1"/>
          </p:cNvPicPr>
          <p:nvPr/>
        </p:nvPicPr>
        <p:blipFill>
          <a:blip r:embed="rId2"/>
          <a:stretch>
            <a:fillRect/>
          </a:stretch>
        </p:blipFill>
        <p:spPr>
          <a:xfrm>
            <a:off x="265611" y="1128960"/>
            <a:ext cx="5435236" cy="5213001"/>
          </a:xfrm>
          <a:prstGeom prst="rect">
            <a:avLst/>
          </a:prstGeom>
        </p:spPr>
      </p:pic>
    </p:spTree>
    <p:extLst>
      <p:ext uri="{BB962C8B-B14F-4D97-AF65-F5344CB8AC3E}">
        <p14:creationId xmlns:p14="http://schemas.microsoft.com/office/powerpoint/2010/main" val="221635724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32</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a:solidFill>
                  <a:srgbClr val="FFC000"/>
                </a:solidFill>
                <a:latin typeface="Franklin Gothic Medium" panose="020B0603020102020204" pitchFamily="34" charset="0"/>
              </a:rPr>
              <a:t>Conclusion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269966" y="2305742"/>
            <a:ext cx="11512730" cy="4154984"/>
          </a:xfrm>
          <a:prstGeom prst="rect">
            <a:avLst/>
          </a:prstGeom>
          <a:solidFill>
            <a:schemeClr val="accent2">
              <a:lumMod val="20000"/>
              <a:lumOff val="80000"/>
            </a:schemeClr>
          </a:solidFill>
        </p:spPr>
        <p:txBody>
          <a:bodyPr wrap="square" rtlCol="0">
            <a:spAutoFit/>
          </a:bodyPr>
          <a:lstStyle/>
          <a:p>
            <a:pPr algn="just"/>
            <a:r>
              <a:rPr lang="fr-FR" sz="2400">
                <a:latin typeface="Franklin Gothic Medium" panose="020B0603020102020204" pitchFamily="34" charset="0"/>
              </a:rPr>
              <a:t>L’analyse de cette première semaine a permis de mettre en œuvre les étapes clés de la modélisation spatiale et statistique, en insistant sur la préparation des données. Le nettoyage a permis de corriger les valeurs manquantes, aberrantes et les doublons, garantissant une base fiable. Les statistiques descriptives ont révélé des tendances sur la hauteur et le diamètre des plants, avec une variabilité entre parcelles liée aux traitements ou aux conditions environnementales. Les visualisations (histogrammes, boxplots, nuages de points, séries temporelles) ont facilité l’interprétation malgré quelques anomalies, soulignant l’importance du contrôle qualité. Enfin, la structuration et la transformation des données, incluant la création de variables dérivées et la normalisation, ont permis leur intégration dans R, préparant ainsi des analyses plus avancées.</a:t>
            </a:r>
            <a:endParaRPr lang="fr-FR" sz="2400" dirty="0">
              <a:latin typeface="Franklin Gothic Medium" panose="020B0603020102020204" pitchFamily="34" charset="0"/>
            </a:endParaRPr>
          </a:p>
        </p:txBody>
      </p:sp>
      <p:sp>
        <p:nvSpPr>
          <p:cNvPr id="23" name="Rectangle 22"/>
          <p:cNvSpPr/>
          <p:nvPr/>
        </p:nvSpPr>
        <p:spPr>
          <a:xfrm>
            <a:off x="269966" y="1523430"/>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269966" y="1606939"/>
            <a:ext cx="9074331" cy="523220"/>
          </a:xfrm>
          <a:prstGeom prst="rect">
            <a:avLst/>
          </a:prstGeom>
          <a:noFill/>
        </p:spPr>
        <p:txBody>
          <a:bodyPr wrap="square" rtlCol="0">
            <a:spAutoFit/>
          </a:bodyPr>
          <a:lstStyle/>
          <a:p>
            <a:r>
              <a:rPr lang="fr-FR" sz="2800" b="1">
                <a:solidFill>
                  <a:srgbClr val="C00000"/>
                </a:solidFill>
                <a:latin typeface="Franklin Gothic Medium" panose="020B0603020102020204" pitchFamily="34" charset="0"/>
              </a:rPr>
              <a:t>Synthèse des résultats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310983235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
            <a:ext cx="6792686" cy="890289"/>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6792686" y="0"/>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9701348" y="6278880"/>
            <a:ext cx="2490651" cy="587829"/>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6792685" y="6622869"/>
            <a:ext cx="2908663" cy="24384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0" y="6622869"/>
            <a:ext cx="6792686" cy="24384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9701349" y="0"/>
            <a:ext cx="2490651" cy="2438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p:cNvSpPr txBox="1"/>
          <p:nvPr/>
        </p:nvSpPr>
        <p:spPr>
          <a:xfrm>
            <a:off x="10476411" y="6341961"/>
            <a:ext cx="1419496" cy="461665"/>
          </a:xfrm>
          <a:prstGeom prst="rect">
            <a:avLst/>
          </a:prstGeom>
          <a:noFill/>
        </p:spPr>
        <p:txBody>
          <a:bodyPr wrap="square" rtlCol="0">
            <a:spAutoFit/>
          </a:bodyPr>
          <a:lstStyle/>
          <a:p>
            <a:r>
              <a:rPr lang="fr-FR" sz="2400" b="1" dirty="0" smtClean="0">
                <a:solidFill>
                  <a:srgbClr val="C00000"/>
                </a:solidFill>
                <a:latin typeface="Franklin Gothic Medium" panose="020B0603020102020204" pitchFamily="34" charset="0"/>
              </a:rPr>
              <a:t>33</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 </a:t>
            </a:r>
            <a:r>
              <a:rPr lang="fr-FR" sz="2400" b="1" dirty="0" smtClean="0">
                <a:solidFill>
                  <a:srgbClr val="C00000"/>
                </a:solidFill>
                <a:latin typeface="Franklin Gothic Medium" panose="020B0603020102020204" pitchFamily="34" charset="0"/>
              </a:rPr>
              <a:t>60</a:t>
            </a:r>
            <a:endParaRPr lang="fr-FR" sz="2400" b="1" dirty="0">
              <a:solidFill>
                <a:srgbClr val="C00000"/>
              </a:solidFill>
              <a:latin typeface="Franklin Gothic Medium" panose="020B0603020102020204" pitchFamily="34" charset="0"/>
            </a:endParaRPr>
          </a:p>
        </p:txBody>
      </p:sp>
      <p:sp>
        <p:nvSpPr>
          <p:cNvPr id="3" name="ZoneTexte 2"/>
          <p:cNvSpPr txBox="1"/>
          <p:nvPr/>
        </p:nvSpPr>
        <p:spPr>
          <a:xfrm>
            <a:off x="563881" y="162568"/>
            <a:ext cx="5699760" cy="584775"/>
          </a:xfrm>
          <a:prstGeom prst="rect">
            <a:avLst/>
          </a:prstGeom>
          <a:noFill/>
        </p:spPr>
        <p:txBody>
          <a:bodyPr wrap="square" rtlCol="0">
            <a:spAutoFit/>
          </a:bodyPr>
          <a:lstStyle/>
          <a:p>
            <a:r>
              <a:rPr lang="fr-FR" sz="3200" b="1">
                <a:solidFill>
                  <a:srgbClr val="FFC000"/>
                </a:solidFill>
                <a:latin typeface="Franklin Gothic Medium" panose="020B0603020102020204" pitchFamily="34" charset="0"/>
              </a:rPr>
              <a:t>Conclusion</a:t>
            </a:r>
            <a:endParaRPr lang="fr-FR" sz="3200" b="1" dirty="0">
              <a:solidFill>
                <a:srgbClr val="FFC000"/>
              </a:solidFill>
              <a:latin typeface="Franklin Gothic Medium" panose="020B0603020102020204" pitchFamily="34" charset="0"/>
            </a:endParaRPr>
          </a:p>
        </p:txBody>
      </p:sp>
      <p:sp>
        <p:nvSpPr>
          <p:cNvPr id="16" name="ZoneTexte 15"/>
          <p:cNvSpPr txBox="1"/>
          <p:nvPr/>
        </p:nvSpPr>
        <p:spPr>
          <a:xfrm>
            <a:off x="0" y="1794065"/>
            <a:ext cx="11512730" cy="4524315"/>
          </a:xfrm>
          <a:prstGeom prst="rect">
            <a:avLst/>
          </a:prstGeom>
          <a:solidFill>
            <a:schemeClr val="accent2">
              <a:lumMod val="20000"/>
              <a:lumOff val="80000"/>
            </a:schemeClr>
          </a:solidFill>
        </p:spPr>
        <p:txBody>
          <a:bodyPr wrap="square" rtlCol="0">
            <a:spAutoFit/>
          </a:bodyPr>
          <a:lstStyle/>
          <a:p>
            <a:pPr algn="just"/>
            <a:r>
              <a:rPr lang="fr-FR" sz="2400" dirty="0">
                <a:latin typeface="Franklin Gothic Medium" panose="020B0603020102020204" pitchFamily="34" charset="0"/>
              </a:rPr>
              <a:t>À l’issue du nettoyage et de la structuration, la qualité des données a été nettement améliorée, avec la suppression des valeurs manquantes en faible proportion afin d’éviter des biais. Les valeurs aberrantes, détectées par la méthode IQR, ont été traitées selon leur nature : certaines supprimées en cas d’erreurs évidentes, d’autres conservées avec prudence. L’élimination des doublons et l’harmonisation des formats ont renforcé la cohérence du jeu de données, tandis que les variables qualitatives ont été correctement définies comme facteurs, facilitant les analyses futures. La normalisation de la hauteur et la création de la surface foliaire ont amélioré la comparabilité des variables. Toutefois, certaines anomalies persistent dans les visualisations, suggérant des erreurs résiduelles ou un manque d’agrégation des données, nécessitant des vérifications complémentaires. Malgré cela, les données restent suffisamment fiables pour des analyses exploratoires.</a:t>
            </a:r>
            <a:endParaRPr lang="fr-FR" sz="2400" dirty="0">
              <a:latin typeface="Franklin Gothic Medium" panose="020B0603020102020204" pitchFamily="34" charset="0"/>
            </a:endParaRPr>
          </a:p>
        </p:txBody>
      </p:sp>
      <p:sp>
        <p:nvSpPr>
          <p:cNvPr id="23" name="Rectangle 22"/>
          <p:cNvSpPr/>
          <p:nvPr/>
        </p:nvSpPr>
        <p:spPr>
          <a:xfrm>
            <a:off x="0" y="960491"/>
            <a:ext cx="11512730" cy="71922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p:cNvSpPr txBox="1"/>
          <p:nvPr/>
        </p:nvSpPr>
        <p:spPr>
          <a:xfrm>
            <a:off x="0" y="1074836"/>
            <a:ext cx="9074331" cy="523220"/>
          </a:xfrm>
          <a:prstGeom prst="rect">
            <a:avLst/>
          </a:prstGeom>
          <a:noFill/>
        </p:spPr>
        <p:txBody>
          <a:bodyPr wrap="square" rtlCol="0">
            <a:spAutoFit/>
          </a:bodyPr>
          <a:lstStyle/>
          <a:p>
            <a:r>
              <a:rPr lang="fr-FR" sz="2800" b="1" dirty="0">
                <a:solidFill>
                  <a:srgbClr val="C00000"/>
                </a:solidFill>
                <a:latin typeface="Franklin Gothic Medium" panose="020B0603020102020204" pitchFamily="34" charset="0"/>
              </a:rPr>
              <a:t>Qualité des données obtenues</a:t>
            </a:r>
            <a:endParaRPr lang="fr-FR" sz="2800" b="1" dirty="0">
              <a:solidFill>
                <a:srgbClr val="C00000"/>
              </a:solidFill>
              <a:latin typeface="Franklin Gothic Medium" panose="020B0603020102020204" pitchFamily="34" charset="0"/>
            </a:endParaRPr>
          </a:p>
        </p:txBody>
      </p:sp>
    </p:spTree>
    <p:extLst>
      <p:ext uri="{BB962C8B-B14F-4D97-AF65-F5344CB8AC3E}">
        <p14:creationId xmlns:p14="http://schemas.microsoft.com/office/powerpoint/2010/main" val="2196362938"/>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525</TotalTime>
  <Words>6356</Words>
  <Application>Microsoft Office PowerPoint</Application>
  <PresentationFormat>Grand écran</PresentationFormat>
  <Paragraphs>372</Paragraphs>
  <Slides>61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61</vt:i4>
      </vt:variant>
    </vt:vector>
  </HeadingPairs>
  <TitlesOfParts>
    <vt:vector size="66" baseType="lpstr">
      <vt:lpstr>Arial</vt:lpstr>
      <vt:lpstr>Calibri</vt:lpstr>
      <vt:lpstr>Calibri Light</vt:lpstr>
      <vt:lpstr>Franklin Gothic Medium</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BAGALWA</dc:creator>
  <cp:lastModifiedBy>BAGALWA</cp:lastModifiedBy>
  <cp:revision>41</cp:revision>
  <dcterms:created xsi:type="dcterms:W3CDTF">2026-05-19T14:05:04Z</dcterms:created>
  <dcterms:modified xsi:type="dcterms:W3CDTF">2026-05-20T09:21:39Z</dcterms:modified>
</cp:coreProperties>
</file>