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9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809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6309360" y="-22486"/>
            <a:ext cx="2926080" cy="5143500"/>
          </a:xfrm>
          <a:prstGeom prst="rect">
            <a:avLst/>
          </a:prstGeom>
          <a:solidFill>
            <a:srgbClr val="006E7F"/>
          </a:solidFill>
          <a:ln w="12700">
            <a:solidFill>
              <a:srgbClr val="006E7F"/>
            </a:solidFill>
            <a:prstDash val="solid"/>
          </a:ln>
        </p:spPr>
      </p:sp>
      <p:sp>
        <p:nvSpPr>
          <p:cNvPr id="3" name="Shape 1"/>
          <p:cNvSpPr/>
          <p:nvPr/>
        </p:nvSpPr>
        <p:spPr>
          <a:xfrm>
            <a:off x="5760720" y="0"/>
            <a:ext cx="502920" cy="5143500"/>
          </a:xfrm>
          <a:prstGeom prst="rect">
            <a:avLst/>
          </a:prstGeom>
          <a:solidFill>
            <a:srgbClr val="1A9BAF">
              <a:alpha val="60000"/>
            </a:srgbClr>
          </a:solidFill>
          <a:ln w="12700">
            <a:solidFill>
              <a:srgbClr val="1A9BAF">
                <a:alpha val="60000"/>
              </a:srgbClr>
            </a:solidFill>
            <a:prstDash val="solid"/>
          </a:ln>
        </p:spPr>
      </p:sp>
      <p:sp>
        <p:nvSpPr>
          <p:cNvPr id="8" name="Text 6"/>
          <p:cNvSpPr/>
          <p:nvPr/>
        </p:nvSpPr>
        <p:spPr>
          <a:xfrm>
            <a:off x="457200" y="1542468"/>
            <a:ext cx="6686961" cy="361603"/>
          </a:xfrm>
          <a:prstGeom prst="rect">
            <a:avLst/>
          </a:prstGeom>
          <a:noFill/>
          <a:ln/>
        </p:spPr>
        <p:txBody>
          <a:bodyPr wrap="square" lIns="0" tIns="0" rIns="0" bIns="0" rtlCol="0" anchor="ctr"/>
          <a:lstStyle/>
          <a:p>
            <a:pPr marL="0" indent="0">
              <a:buNone/>
            </a:pPr>
            <a:r>
              <a:rPr lang="en-US" sz="1900" i="1" dirty="0">
                <a:solidFill>
                  <a:srgbClr val="D4F0F0"/>
                </a:solidFill>
                <a:latin typeface="Calibri" pitchFamily="34" charset="0"/>
                <a:ea typeface="Calibri" pitchFamily="34" charset="-122"/>
                <a:cs typeface="Calibri" pitchFamily="34" charset="-120"/>
              </a:rPr>
              <a:t>Dynamique Épidémiologique du Paludisme</a:t>
            </a:r>
            <a:endParaRPr lang="en-US" sz="1900" dirty="0"/>
          </a:p>
        </p:txBody>
      </p:sp>
      <p:sp>
        <p:nvSpPr>
          <p:cNvPr id="9" name="Text 7"/>
          <p:cNvSpPr/>
          <p:nvPr/>
        </p:nvSpPr>
        <p:spPr>
          <a:xfrm>
            <a:off x="457200" y="2331720"/>
            <a:ext cx="5394960" cy="685800"/>
          </a:xfrm>
          <a:prstGeom prst="rect">
            <a:avLst/>
          </a:prstGeom>
          <a:noFill/>
          <a:ln/>
        </p:spPr>
        <p:txBody>
          <a:bodyPr wrap="square" lIns="0" tIns="0" rIns="0" bIns="0" rtlCol="0" anchor="ctr"/>
          <a:lstStyle/>
          <a:p>
            <a:pPr marL="0" indent="0">
              <a:buNone/>
            </a:pPr>
            <a:r>
              <a:rPr lang="en-US" sz="1200" dirty="0">
                <a:solidFill>
                  <a:srgbClr val="9BC8D3"/>
                </a:solidFill>
                <a:latin typeface="Calibri" pitchFamily="34" charset="0"/>
                <a:ea typeface="Calibri" pitchFamily="34" charset="-122"/>
                <a:cs typeface="Calibri" pitchFamily="34" charset="-120"/>
              </a:rPr>
              <a:t>Base OMS — World Malaria Report 2024 (Annexe 4F)</a:t>
            </a:r>
            <a:endParaRPr lang="en-US" sz="1200" dirty="0"/>
          </a:p>
          <a:p>
            <a:pPr marL="0" indent="0">
              <a:buNone/>
            </a:pPr>
            <a:r>
              <a:rPr lang="en-US" sz="1200" dirty="0">
                <a:solidFill>
                  <a:srgbClr val="9BC8D3"/>
                </a:solidFill>
                <a:latin typeface="Calibri" pitchFamily="34" charset="0"/>
                <a:ea typeface="Calibri" pitchFamily="34" charset="-122"/>
                <a:cs typeface="Calibri" pitchFamily="34" charset="-120"/>
              </a:rPr>
              <a:t>Approche One Health | Modélisation Spatiale</a:t>
            </a:r>
            <a:endParaRPr lang="en-US" sz="1200" dirty="0"/>
          </a:p>
        </p:txBody>
      </p:sp>
      <p:sp>
        <p:nvSpPr>
          <p:cNvPr id="10" name="Shape 8"/>
          <p:cNvSpPr/>
          <p:nvPr/>
        </p:nvSpPr>
        <p:spPr>
          <a:xfrm>
            <a:off x="457200" y="3154680"/>
            <a:ext cx="2286000" cy="36576"/>
          </a:xfrm>
          <a:prstGeom prst="rect">
            <a:avLst/>
          </a:prstGeom>
          <a:solidFill>
            <a:srgbClr val="1A9BAF"/>
          </a:solidFill>
          <a:ln w="12700">
            <a:solidFill>
              <a:srgbClr val="1A9BAF"/>
            </a:solidFill>
            <a:prstDash val="solid"/>
          </a:ln>
        </p:spPr>
      </p:sp>
      <p:sp>
        <p:nvSpPr>
          <p:cNvPr id="11" name="Text 9"/>
          <p:cNvSpPr/>
          <p:nvPr/>
        </p:nvSpPr>
        <p:spPr>
          <a:xfrm>
            <a:off x="457200" y="3291840"/>
            <a:ext cx="5394960" cy="320040"/>
          </a:xfrm>
          <a:prstGeom prst="rect">
            <a:avLst/>
          </a:prstGeom>
          <a:noFill/>
          <a:ln/>
        </p:spPr>
        <p:txBody>
          <a:bodyPr wrap="square" lIns="0" tIns="0" rIns="0" bIns="0" rtlCol="0" anchor="ctr"/>
          <a:lstStyle/>
          <a:p>
            <a:pPr marL="0" indent="0">
              <a:buNone/>
            </a:pPr>
            <a:r>
              <a:rPr lang="en-US" sz="1100" b="1" dirty="0" smtClean="0">
                <a:solidFill>
                  <a:srgbClr val="8ABFCC"/>
                </a:solidFill>
                <a:latin typeface="Calibri" pitchFamily="34" charset="0"/>
                <a:ea typeface="Calibri" pitchFamily="34" charset="-122"/>
                <a:cs typeface="Calibri" pitchFamily="34" charset="-120"/>
              </a:rPr>
              <a:t>Jour 3</a:t>
            </a:r>
            <a:r>
              <a:rPr lang="en-US" sz="1100" b="1" dirty="0" smtClean="0">
                <a:solidFill>
                  <a:srgbClr val="8ABFCC"/>
                </a:solidFill>
                <a:latin typeface="Calibri" pitchFamily="34" charset="0"/>
                <a:ea typeface="Calibri" pitchFamily="34" charset="-122"/>
                <a:cs typeface="Calibri" pitchFamily="34" charset="-120"/>
              </a:rPr>
              <a:t>  </a:t>
            </a:r>
            <a:r>
              <a:rPr lang="en-US" sz="1100" b="1" dirty="0">
                <a:solidFill>
                  <a:srgbClr val="8ABFCC"/>
                </a:solidFill>
                <a:latin typeface="Calibri" pitchFamily="34" charset="0"/>
                <a:ea typeface="Calibri" pitchFamily="34" charset="-122"/>
                <a:cs typeface="Calibri" pitchFamily="34" charset="-120"/>
              </a:rPr>
              <a:t>|  </a:t>
            </a:r>
            <a:r>
              <a:rPr lang="en-US" sz="1100" dirty="0">
                <a:solidFill>
                  <a:srgbClr val="8ABFCC"/>
                </a:solidFill>
                <a:latin typeface="Calibri" pitchFamily="34" charset="0"/>
                <a:ea typeface="Calibri" pitchFamily="34" charset="-122"/>
                <a:cs typeface="Calibri" pitchFamily="34" charset="-120"/>
              </a:rPr>
              <a:t>Formation en Modélisation Spatiale</a:t>
            </a:r>
            <a:endParaRPr lang="en-US" sz="1100" dirty="0"/>
          </a:p>
        </p:txBody>
      </p:sp>
      <p:sp>
        <p:nvSpPr>
          <p:cNvPr id="12" name="Text 10"/>
          <p:cNvSpPr/>
          <p:nvPr/>
        </p:nvSpPr>
        <p:spPr>
          <a:xfrm>
            <a:off x="457200" y="3625366"/>
            <a:ext cx="5394960" cy="256032"/>
          </a:xfrm>
          <a:prstGeom prst="rect">
            <a:avLst/>
          </a:prstGeom>
          <a:noFill/>
          <a:ln/>
        </p:spPr>
        <p:txBody>
          <a:bodyPr wrap="square" lIns="0" tIns="0" rIns="0" bIns="0" rtlCol="0" anchor="ctr"/>
          <a:lstStyle/>
          <a:p>
            <a:pPr marL="0" indent="0">
              <a:buNone/>
            </a:pPr>
            <a:r>
              <a:rPr lang="en-US" sz="950" dirty="0">
                <a:solidFill>
                  <a:srgbClr val="6A9FAD"/>
                </a:solidFill>
                <a:latin typeface="Calibri" pitchFamily="34" charset="0"/>
                <a:ea typeface="Calibri" pitchFamily="34" charset="-122"/>
                <a:cs typeface="Calibri" pitchFamily="34" charset="-120"/>
              </a:rPr>
              <a:t>GADA Training &amp; Solutions  —  2024</a:t>
            </a:r>
            <a:endParaRPr lang="en-US" sz="950" dirty="0"/>
          </a:p>
        </p:txBody>
      </p:sp>
      <p:sp>
        <p:nvSpPr>
          <p:cNvPr id="13" name="Shape 11"/>
          <p:cNvSpPr/>
          <p:nvPr/>
        </p:nvSpPr>
        <p:spPr>
          <a:xfrm>
            <a:off x="457200" y="4160520"/>
            <a:ext cx="1554480" cy="658368"/>
          </a:xfrm>
          <a:prstGeom prst="rect">
            <a:avLst/>
          </a:prstGeom>
          <a:solidFill>
            <a:srgbClr val="006E7F">
              <a:alpha val="40000"/>
            </a:srgbClr>
          </a:solidFill>
          <a:ln w="12700">
            <a:solidFill>
              <a:srgbClr val="1A9BAF"/>
            </a:solidFill>
            <a:prstDash val="solid"/>
          </a:ln>
        </p:spPr>
      </p:sp>
      <p:sp>
        <p:nvSpPr>
          <p:cNvPr id="14" name="Text 12"/>
          <p:cNvSpPr/>
          <p:nvPr/>
        </p:nvSpPr>
        <p:spPr>
          <a:xfrm>
            <a:off x="502920" y="4206240"/>
            <a:ext cx="1463040" cy="566928"/>
          </a:xfrm>
          <a:prstGeom prst="rect">
            <a:avLst/>
          </a:prstGeom>
          <a:noFill/>
          <a:ln/>
        </p:spPr>
        <p:txBody>
          <a:bodyPr wrap="square" lIns="0" tIns="0" rIns="0" bIns="0" rtlCol="0" anchor="ctr"/>
          <a:lstStyle/>
          <a:p>
            <a:pPr marL="0" indent="0" algn="ctr">
              <a:buNone/>
            </a:pPr>
            <a:r>
              <a:rPr lang="en-US" sz="950" dirty="0" smtClean="0">
                <a:solidFill>
                  <a:srgbClr val="FFFFFF"/>
                </a:solidFill>
                <a:latin typeface="Calibri" pitchFamily="34" charset="0"/>
                <a:ea typeface="Calibri" pitchFamily="34" charset="-122"/>
                <a:cs typeface="Calibri" pitchFamily="34" charset="-120"/>
              </a:rPr>
              <a:t>  </a:t>
            </a:r>
            <a:r>
              <a:rPr lang="en-US" sz="950" dirty="0">
                <a:solidFill>
                  <a:srgbClr val="FFFFFF"/>
                </a:solidFill>
                <a:latin typeface="Calibri" pitchFamily="34" charset="0"/>
                <a:ea typeface="Calibri" pitchFamily="34" charset="-122"/>
                <a:cs typeface="Calibri" pitchFamily="34" charset="-120"/>
              </a:rPr>
              <a:t>Épidémiologie</a:t>
            </a:r>
            <a:endParaRPr lang="en-US" sz="950" dirty="0"/>
          </a:p>
        </p:txBody>
      </p:sp>
      <p:sp>
        <p:nvSpPr>
          <p:cNvPr id="15" name="Shape 13"/>
          <p:cNvSpPr/>
          <p:nvPr/>
        </p:nvSpPr>
        <p:spPr>
          <a:xfrm>
            <a:off x="2240280" y="4160520"/>
            <a:ext cx="1554480" cy="658368"/>
          </a:xfrm>
          <a:prstGeom prst="rect">
            <a:avLst/>
          </a:prstGeom>
          <a:solidFill>
            <a:srgbClr val="006E7F">
              <a:alpha val="40000"/>
            </a:srgbClr>
          </a:solidFill>
          <a:ln w="12700">
            <a:solidFill>
              <a:srgbClr val="1A9BAF"/>
            </a:solidFill>
            <a:prstDash val="solid"/>
          </a:ln>
        </p:spPr>
      </p:sp>
      <p:sp>
        <p:nvSpPr>
          <p:cNvPr id="16" name="Text 14"/>
          <p:cNvSpPr/>
          <p:nvPr/>
        </p:nvSpPr>
        <p:spPr>
          <a:xfrm>
            <a:off x="2286000" y="4206240"/>
            <a:ext cx="1463040" cy="566928"/>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Environnement</a:t>
            </a:r>
            <a:endParaRPr lang="en-US" sz="950" dirty="0"/>
          </a:p>
        </p:txBody>
      </p:sp>
      <p:sp>
        <p:nvSpPr>
          <p:cNvPr id="17" name="Shape 15"/>
          <p:cNvSpPr/>
          <p:nvPr/>
        </p:nvSpPr>
        <p:spPr>
          <a:xfrm>
            <a:off x="4023360" y="4160520"/>
            <a:ext cx="1554480" cy="658368"/>
          </a:xfrm>
          <a:prstGeom prst="rect">
            <a:avLst/>
          </a:prstGeom>
          <a:solidFill>
            <a:srgbClr val="006E7F">
              <a:alpha val="40000"/>
            </a:srgbClr>
          </a:solidFill>
          <a:ln w="12700">
            <a:solidFill>
              <a:srgbClr val="1A9BAF"/>
            </a:solidFill>
            <a:prstDash val="solid"/>
          </a:ln>
        </p:spPr>
      </p:sp>
      <p:sp>
        <p:nvSpPr>
          <p:cNvPr id="18" name="Text 16"/>
          <p:cNvSpPr/>
          <p:nvPr/>
        </p:nvSpPr>
        <p:spPr>
          <a:xfrm>
            <a:off x="4069080" y="4206240"/>
            <a:ext cx="1463040" cy="566928"/>
          </a:xfrm>
          <a:prstGeom prst="rect">
            <a:avLst/>
          </a:prstGeom>
          <a:noFill/>
          <a:ln/>
        </p:spPr>
        <p:txBody>
          <a:bodyPr wrap="square" lIns="0" tIns="0" rIns="0" bIns="0" rtlCol="0" anchor="ctr"/>
          <a:lstStyle/>
          <a:p>
            <a:pPr marL="0" indent="0" algn="ctr">
              <a:buNone/>
            </a:pPr>
            <a:r>
              <a:rPr lang="en-US" sz="950" dirty="0" smtClean="0">
                <a:solidFill>
                  <a:srgbClr val="FFFFFF"/>
                </a:solidFill>
                <a:latin typeface="Calibri" pitchFamily="34" charset="0"/>
                <a:ea typeface="Calibri" pitchFamily="34" charset="-122"/>
                <a:cs typeface="Calibri" pitchFamily="34" charset="-120"/>
              </a:rPr>
              <a:t>  </a:t>
            </a:r>
            <a:r>
              <a:rPr lang="en-US" sz="950" dirty="0">
                <a:solidFill>
                  <a:srgbClr val="FFFFFF"/>
                </a:solidFill>
                <a:latin typeface="Calibri" pitchFamily="34" charset="0"/>
                <a:ea typeface="Calibri" pitchFamily="34" charset="-122"/>
                <a:cs typeface="Calibri" pitchFamily="34" charset="-120"/>
              </a:rPr>
              <a:t>Spatial / SIG</a:t>
            </a:r>
            <a:endParaRPr lang="en-US" sz="950" dirty="0"/>
          </a:p>
        </p:txBody>
      </p:sp>
      <p:sp>
        <p:nvSpPr>
          <p:cNvPr id="19" name="Text 5"/>
          <p:cNvSpPr/>
          <p:nvPr/>
        </p:nvSpPr>
        <p:spPr>
          <a:xfrm>
            <a:off x="457200" y="776866"/>
            <a:ext cx="5098273" cy="640080"/>
          </a:xfrm>
          <a:prstGeom prst="rect">
            <a:avLst/>
          </a:prstGeom>
          <a:noFill/>
          <a:ln/>
        </p:spPr>
        <p:txBody>
          <a:bodyPr wrap="square" lIns="0" tIns="0" rIns="0" bIns="0" rtlCol="0" anchor="ctr"/>
          <a:lstStyle/>
          <a:p>
            <a:pPr marL="0" indent="0">
              <a:buNone/>
            </a:pPr>
            <a:r>
              <a:rPr lang="en-US" sz="2200" b="1" kern="0" spc="100" dirty="0">
                <a:solidFill>
                  <a:srgbClr val="FFFFFF"/>
                </a:solidFill>
                <a:latin typeface="Calibri" pitchFamily="34" charset="0"/>
                <a:ea typeface="Calibri" pitchFamily="34" charset="-122"/>
                <a:cs typeface="Calibri" pitchFamily="34" charset="-120"/>
              </a:rPr>
              <a:t>ANALYSE EXPLORATOIRE DES DONNÉES</a:t>
            </a:r>
            <a:endParaRPr lang="en-US" sz="2200" dirty="0"/>
          </a:p>
        </p:txBody>
      </p:sp>
      <p:pic>
        <p:nvPicPr>
          <p:cNvPr id="20" name="Imag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7158" y="2116462"/>
            <a:ext cx="2221924" cy="547797"/>
          </a:xfrm>
          <a:prstGeom prst="rect">
            <a:avLst/>
          </a:prstGeom>
        </p:spPr>
      </p:pic>
      <p:pic>
        <p:nvPicPr>
          <p:cNvPr id="21" name="Image 20"/>
          <p:cNvPicPr>
            <a:picLocks noChangeAspect="1"/>
          </p:cNvPicPr>
          <p:nvPr/>
        </p:nvPicPr>
        <p:blipFill>
          <a:blip r:embed="rId4"/>
          <a:stretch>
            <a:fillRect/>
          </a:stretch>
        </p:blipFill>
        <p:spPr>
          <a:xfrm>
            <a:off x="779996" y="4428821"/>
            <a:ext cx="98628" cy="115319"/>
          </a:xfrm>
          <a:prstGeom prst="rect">
            <a:avLst/>
          </a:prstGeom>
        </p:spPr>
      </p:pic>
      <p:pic>
        <p:nvPicPr>
          <p:cNvPr id="22" name="Image 21"/>
          <p:cNvPicPr>
            <a:picLocks noChangeAspect="1"/>
          </p:cNvPicPr>
          <p:nvPr/>
        </p:nvPicPr>
        <p:blipFill rotWithShape="1">
          <a:blip r:embed="rId5"/>
          <a:srcRect l="10626" t="6797" r="5175" b="1"/>
          <a:stretch/>
        </p:blipFill>
        <p:spPr>
          <a:xfrm>
            <a:off x="4384515" y="4428821"/>
            <a:ext cx="124992" cy="1201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Contexte &amp; Objectifs de l'Analyse</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Problématique One Health — Paludisme Mondial</a:t>
            </a:r>
            <a:endParaRPr lang="en-US" sz="1100" dirty="0"/>
          </a:p>
        </p:txBody>
      </p:sp>
      <p:sp>
        <p:nvSpPr>
          <p:cNvPr id="5" name="Shape 3"/>
          <p:cNvSpPr/>
          <p:nvPr/>
        </p:nvSpPr>
        <p:spPr>
          <a:xfrm>
            <a:off x="274320" y="1005840"/>
            <a:ext cx="4023360" cy="3611880"/>
          </a:xfrm>
          <a:prstGeom prst="rect">
            <a:avLst/>
          </a:prstGeom>
          <a:solidFill>
            <a:srgbClr val="FFFFFF"/>
          </a:solidFill>
          <a:ln w="12700">
            <a:solidFill>
              <a:srgbClr val="E8EEF2"/>
            </a:solidFill>
            <a:prstDash val="solid"/>
          </a:ln>
          <a:effectLst>
            <a:outerShdw blurRad="101600" dist="38100" dir="8100000" algn="bl" rotWithShape="0">
              <a:srgbClr val="000000">
                <a:alpha val="8000"/>
              </a:srgbClr>
            </a:outerShdw>
          </a:effectLst>
        </p:spPr>
      </p:sp>
      <p:sp>
        <p:nvSpPr>
          <p:cNvPr id="6" name="Text 4"/>
          <p:cNvSpPr/>
          <p:nvPr/>
        </p:nvSpPr>
        <p:spPr>
          <a:xfrm>
            <a:off x="274320" y="1005840"/>
            <a:ext cx="4023360" cy="347472"/>
          </a:xfrm>
          <a:prstGeom prst="rect">
            <a:avLst/>
          </a:prstGeom>
          <a:solidFill>
            <a:srgbClr val="0D2B55"/>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CONTEXTE</a:t>
            </a:r>
            <a:endParaRPr lang="en-US" sz="1100" dirty="0"/>
          </a:p>
        </p:txBody>
      </p:sp>
      <p:sp>
        <p:nvSpPr>
          <p:cNvPr id="7" name="Text 5"/>
          <p:cNvSpPr/>
          <p:nvPr/>
        </p:nvSpPr>
        <p:spPr>
          <a:xfrm>
            <a:off x="411480" y="1444752"/>
            <a:ext cx="3749040" cy="685800"/>
          </a:xfrm>
          <a:prstGeom prst="rect">
            <a:avLst/>
          </a:prstGeom>
          <a:noFill/>
          <a:ln/>
        </p:spPr>
        <p:txBody>
          <a:bodyPr wrap="square" lIns="0" tIns="0" rIns="0" bIns="0" rtlCol="0" anchor="ctr"/>
          <a:lstStyle/>
          <a:p>
            <a:pPr marL="0" indent="0">
              <a:buNone/>
            </a:pPr>
            <a:r>
              <a:rPr lang="en-US" sz="1000" b="1" dirty="0">
                <a:solidFill>
                  <a:srgbClr val="006E7F"/>
                </a:solidFill>
                <a:latin typeface="Calibri" pitchFamily="34" charset="0"/>
                <a:ea typeface="Calibri" pitchFamily="34" charset="-122"/>
                <a:cs typeface="Calibri" pitchFamily="34" charset="-120"/>
              </a:rPr>
              <a:t>▸  </a:t>
            </a:r>
            <a:r>
              <a:rPr lang="en-US" sz="1000" dirty="0">
                <a:solidFill>
                  <a:srgbClr val="1A2B3C"/>
                </a:solidFill>
                <a:latin typeface="Calibri" pitchFamily="34" charset="0"/>
                <a:ea typeface="Calibri" pitchFamily="34" charset="-122"/>
                <a:cs typeface="Calibri" pitchFamily="34" charset="-120"/>
              </a:rPr>
              <a:t>Le paludisme reste l'une des maladies vectorielles les plus meurtrières au monde, avec plus de 260 millions de cas estimés en 2023.</a:t>
            </a:r>
            <a:endParaRPr lang="en-US" sz="1000" dirty="0"/>
          </a:p>
        </p:txBody>
      </p:sp>
      <p:sp>
        <p:nvSpPr>
          <p:cNvPr id="8" name="Text 6"/>
          <p:cNvSpPr/>
          <p:nvPr/>
        </p:nvSpPr>
        <p:spPr>
          <a:xfrm>
            <a:off x="411480" y="2194560"/>
            <a:ext cx="3749040" cy="685800"/>
          </a:xfrm>
          <a:prstGeom prst="rect">
            <a:avLst/>
          </a:prstGeom>
          <a:noFill/>
          <a:ln/>
        </p:spPr>
        <p:txBody>
          <a:bodyPr wrap="square" lIns="0" tIns="0" rIns="0" bIns="0" rtlCol="0" anchor="ctr"/>
          <a:lstStyle/>
          <a:p>
            <a:pPr marL="0" indent="0">
              <a:buNone/>
            </a:pPr>
            <a:r>
              <a:rPr lang="en-US" sz="1000" b="1" dirty="0">
                <a:solidFill>
                  <a:srgbClr val="006E7F"/>
                </a:solidFill>
                <a:latin typeface="Calibri" pitchFamily="34" charset="0"/>
                <a:ea typeface="Calibri" pitchFamily="34" charset="-122"/>
                <a:cs typeface="Calibri" pitchFamily="34" charset="-120"/>
              </a:rPr>
              <a:t>▸  </a:t>
            </a:r>
            <a:r>
              <a:rPr lang="en-US" sz="1000" dirty="0">
                <a:solidFill>
                  <a:srgbClr val="1A2B3C"/>
                </a:solidFill>
                <a:latin typeface="Calibri" pitchFamily="34" charset="0"/>
                <a:ea typeface="Calibri" pitchFamily="34" charset="-122"/>
                <a:cs typeface="Calibri" pitchFamily="34" charset="-120"/>
              </a:rPr>
              <a:t>L'OMS publie annuellement le World Malaria Report compilant les estimations épidémiologiques par pays depuis l'an 2000.</a:t>
            </a:r>
            <a:endParaRPr lang="en-US" sz="1000" dirty="0"/>
          </a:p>
        </p:txBody>
      </p:sp>
      <p:sp>
        <p:nvSpPr>
          <p:cNvPr id="9" name="Text 7"/>
          <p:cNvSpPr/>
          <p:nvPr/>
        </p:nvSpPr>
        <p:spPr>
          <a:xfrm>
            <a:off x="411480" y="2944368"/>
            <a:ext cx="3749040" cy="685800"/>
          </a:xfrm>
          <a:prstGeom prst="rect">
            <a:avLst/>
          </a:prstGeom>
          <a:noFill/>
          <a:ln/>
        </p:spPr>
        <p:txBody>
          <a:bodyPr wrap="square" lIns="0" tIns="0" rIns="0" bIns="0" rtlCol="0" anchor="ctr"/>
          <a:lstStyle/>
          <a:p>
            <a:pPr marL="0" indent="0">
              <a:buNone/>
            </a:pPr>
            <a:r>
              <a:rPr lang="en-US" sz="1000" b="1" dirty="0">
                <a:solidFill>
                  <a:srgbClr val="006E7F"/>
                </a:solidFill>
                <a:latin typeface="Calibri" pitchFamily="34" charset="0"/>
                <a:ea typeface="Calibri" pitchFamily="34" charset="-122"/>
                <a:cs typeface="Calibri" pitchFamily="34" charset="-120"/>
              </a:rPr>
              <a:t>▸  </a:t>
            </a:r>
            <a:r>
              <a:rPr lang="en-US" sz="1000" dirty="0">
                <a:solidFill>
                  <a:srgbClr val="1A2B3C"/>
                </a:solidFill>
                <a:latin typeface="Calibri" pitchFamily="34" charset="0"/>
                <a:ea typeface="Calibri" pitchFamily="34" charset="-122"/>
                <a:cs typeface="Calibri" pitchFamily="34" charset="-120"/>
              </a:rPr>
              <a:t>L'annexe 4F fournit les données de population à risque, cas et décès estimés avec intervalles de confiance à 95 %.</a:t>
            </a:r>
            <a:endParaRPr lang="en-US" sz="1000" dirty="0"/>
          </a:p>
        </p:txBody>
      </p:sp>
      <p:sp>
        <p:nvSpPr>
          <p:cNvPr id="10" name="Text 8"/>
          <p:cNvSpPr/>
          <p:nvPr/>
        </p:nvSpPr>
        <p:spPr>
          <a:xfrm>
            <a:off x="411480" y="3694176"/>
            <a:ext cx="3749040" cy="685800"/>
          </a:xfrm>
          <a:prstGeom prst="rect">
            <a:avLst/>
          </a:prstGeom>
          <a:noFill/>
          <a:ln/>
        </p:spPr>
        <p:txBody>
          <a:bodyPr wrap="square" lIns="0" tIns="0" rIns="0" bIns="0" rtlCol="0" anchor="ctr"/>
          <a:lstStyle/>
          <a:p>
            <a:pPr marL="0" indent="0">
              <a:buNone/>
            </a:pPr>
            <a:r>
              <a:rPr lang="en-US" sz="1000" b="1" dirty="0">
                <a:solidFill>
                  <a:srgbClr val="006E7F"/>
                </a:solidFill>
                <a:latin typeface="Calibri" pitchFamily="34" charset="0"/>
                <a:ea typeface="Calibri" pitchFamily="34" charset="-122"/>
                <a:cs typeface="Calibri" pitchFamily="34" charset="-120"/>
              </a:rPr>
              <a:t>▸  </a:t>
            </a:r>
            <a:r>
              <a:rPr lang="en-US" sz="1000" dirty="0">
                <a:solidFill>
                  <a:srgbClr val="1A2B3C"/>
                </a:solidFill>
                <a:latin typeface="Calibri" pitchFamily="34" charset="0"/>
                <a:ea typeface="Calibri" pitchFamily="34" charset="-122"/>
                <a:cs typeface="Calibri" pitchFamily="34" charset="-120"/>
              </a:rPr>
              <a:t>L'approche One Health intègre la santé humaine, animale et environnementale dans une perspective spatiale.</a:t>
            </a:r>
            <a:endParaRPr lang="en-US" sz="1000" dirty="0"/>
          </a:p>
        </p:txBody>
      </p:sp>
      <p:sp>
        <p:nvSpPr>
          <p:cNvPr id="11" name="Shape 9"/>
          <p:cNvSpPr/>
          <p:nvPr/>
        </p:nvSpPr>
        <p:spPr>
          <a:xfrm>
            <a:off x="4572000" y="1005840"/>
            <a:ext cx="4297680" cy="3611880"/>
          </a:xfrm>
          <a:prstGeom prst="rect">
            <a:avLst/>
          </a:prstGeom>
          <a:solidFill>
            <a:srgbClr val="FFFFFF"/>
          </a:solidFill>
          <a:ln w="12700">
            <a:solidFill>
              <a:srgbClr val="E8EEF2"/>
            </a:solidFill>
            <a:prstDash val="solid"/>
          </a:ln>
          <a:effectLst>
            <a:outerShdw blurRad="101600" dist="38100" dir="8100000" algn="bl" rotWithShape="0">
              <a:srgbClr val="000000">
                <a:alpha val="8000"/>
              </a:srgbClr>
            </a:outerShdw>
          </a:effectLst>
        </p:spPr>
      </p:sp>
      <p:sp>
        <p:nvSpPr>
          <p:cNvPr id="12" name="Text 10"/>
          <p:cNvSpPr/>
          <p:nvPr/>
        </p:nvSpPr>
        <p:spPr>
          <a:xfrm>
            <a:off x="4572000" y="1005840"/>
            <a:ext cx="4297680" cy="347472"/>
          </a:xfrm>
          <a:prstGeom prst="rect">
            <a:avLst/>
          </a:prstGeom>
          <a:solidFill>
            <a:srgbClr val="006E7F"/>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OBJECTIFS PÉDAGOGIQUES</a:t>
            </a:r>
            <a:endParaRPr lang="en-US" sz="1100" dirty="0"/>
          </a:p>
        </p:txBody>
      </p:sp>
      <p:sp>
        <p:nvSpPr>
          <p:cNvPr id="13" name="Shape 11"/>
          <p:cNvSpPr/>
          <p:nvPr/>
        </p:nvSpPr>
        <p:spPr>
          <a:xfrm>
            <a:off x="4709160" y="1463040"/>
            <a:ext cx="347472" cy="347472"/>
          </a:xfrm>
          <a:prstGeom prst="ellipse">
            <a:avLst/>
          </a:prstGeom>
          <a:solidFill>
            <a:srgbClr val="1A9BAF"/>
          </a:solidFill>
          <a:ln w="12700">
            <a:solidFill>
              <a:srgbClr val="1A9BAF"/>
            </a:solidFill>
            <a:prstDash val="solid"/>
          </a:ln>
        </p:spPr>
      </p:sp>
      <p:sp>
        <p:nvSpPr>
          <p:cNvPr id="14" name="Text 12"/>
          <p:cNvSpPr/>
          <p:nvPr/>
        </p:nvSpPr>
        <p:spPr>
          <a:xfrm>
            <a:off x="4709160" y="14630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5" name="Text 13"/>
          <p:cNvSpPr/>
          <p:nvPr/>
        </p:nvSpPr>
        <p:spPr>
          <a:xfrm>
            <a:off x="5138928" y="1481328"/>
            <a:ext cx="3611880" cy="65836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Importer &amp; reconstruire une base Excel à structure fusionnée (OMS)</a:t>
            </a:r>
            <a:endParaRPr lang="en-US" sz="1000" dirty="0"/>
          </a:p>
        </p:txBody>
      </p:sp>
      <p:sp>
        <p:nvSpPr>
          <p:cNvPr id="16" name="Shape 14"/>
          <p:cNvSpPr/>
          <p:nvPr/>
        </p:nvSpPr>
        <p:spPr>
          <a:xfrm>
            <a:off x="4709160" y="2221992"/>
            <a:ext cx="347472" cy="347472"/>
          </a:xfrm>
          <a:prstGeom prst="ellipse">
            <a:avLst/>
          </a:prstGeom>
          <a:solidFill>
            <a:srgbClr val="1A9BAF"/>
          </a:solidFill>
          <a:ln w="12700">
            <a:solidFill>
              <a:srgbClr val="1A9BAF"/>
            </a:solidFill>
            <a:prstDash val="solid"/>
          </a:ln>
        </p:spPr>
      </p:sp>
      <p:sp>
        <p:nvSpPr>
          <p:cNvPr id="17" name="Text 15"/>
          <p:cNvSpPr/>
          <p:nvPr/>
        </p:nvSpPr>
        <p:spPr>
          <a:xfrm>
            <a:off x="4709160" y="222199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8" name="Text 16"/>
          <p:cNvSpPr/>
          <p:nvPr/>
        </p:nvSpPr>
        <p:spPr>
          <a:xfrm>
            <a:off x="5138928" y="2240280"/>
            <a:ext cx="3611880" cy="65836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Conduire une EDA automatisée avec le package DataExplorer</a:t>
            </a:r>
            <a:endParaRPr lang="en-US" sz="1000" dirty="0"/>
          </a:p>
        </p:txBody>
      </p:sp>
      <p:sp>
        <p:nvSpPr>
          <p:cNvPr id="19" name="Shape 17"/>
          <p:cNvSpPr/>
          <p:nvPr/>
        </p:nvSpPr>
        <p:spPr>
          <a:xfrm>
            <a:off x="4709160" y="2980944"/>
            <a:ext cx="347472" cy="347472"/>
          </a:xfrm>
          <a:prstGeom prst="ellipse">
            <a:avLst/>
          </a:prstGeom>
          <a:solidFill>
            <a:srgbClr val="1A9BAF"/>
          </a:solidFill>
          <a:ln w="12700">
            <a:solidFill>
              <a:srgbClr val="1A9BAF"/>
            </a:solidFill>
            <a:prstDash val="solid"/>
          </a:ln>
        </p:spPr>
      </p:sp>
      <p:sp>
        <p:nvSpPr>
          <p:cNvPr id="20" name="Text 18"/>
          <p:cNvSpPr/>
          <p:nvPr/>
        </p:nvSpPr>
        <p:spPr>
          <a:xfrm>
            <a:off x="4709160" y="298094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5138928" y="2999232"/>
            <a:ext cx="3611880" cy="65836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Produire des visualisations avancées (ggplot2) : tendances, corrélations, classements</a:t>
            </a:r>
            <a:endParaRPr lang="en-US" sz="1000" dirty="0"/>
          </a:p>
        </p:txBody>
      </p:sp>
      <p:sp>
        <p:nvSpPr>
          <p:cNvPr id="22" name="Shape 20"/>
          <p:cNvSpPr/>
          <p:nvPr/>
        </p:nvSpPr>
        <p:spPr>
          <a:xfrm>
            <a:off x="4709160" y="3739896"/>
            <a:ext cx="347472" cy="347472"/>
          </a:xfrm>
          <a:prstGeom prst="ellipse">
            <a:avLst/>
          </a:prstGeom>
          <a:solidFill>
            <a:srgbClr val="1A9BAF"/>
          </a:solidFill>
          <a:ln w="12700">
            <a:solidFill>
              <a:srgbClr val="1A9BAF"/>
            </a:solidFill>
            <a:prstDash val="solid"/>
          </a:ln>
        </p:spPr>
      </p:sp>
      <p:sp>
        <p:nvSpPr>
          <p:cNvPr id="23" name="Text 21"/>
          <p:cNvSpPr/>
          <p:nvPr/>
        </p:nvSpPr>
        <p:spPr>
          <a:xfrm>
            <a:off x="4709160" y="37398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5138928" y="3758184"/>
            <a:ext cx="3611880" cy="658368"/>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Exporter un jeu de données structuré pour la cartographie dans ArcGIS Pro</a:t>
            </a:r>
            <a:endParaRPr lang="en-US" sz="1000" dirty="0"/>
          </a:p>
        </p:txBody>
      </p:sp>
      <p:sp>
        <p:nvSpPr>
          <p:cNvPr id="25" name="Shape 23"/>
          <p:cNvSpPr/>
          <p:nvPr/>
        </p:nvSpPr>
        <p:spPr>
          <a:xfrm>
            <a:off x="0" y="4892040"/>
            <a:ext cx="9144000" cy="251460"/>
          </a:xfrm>
          <a:prstGeom prst="rect">
            <a:avLst/>
          </a:prstGeom>
          <a:solidFill>
            <a:srgbClr val="E8EEF2"/>
          </a:solidFill>
          <a:ln w="12700">
            <a:solidFill>
              <a:srgbClr val="E8EEF2"/>
            </a:solidFill>
            <a:prstDash val="solid"/>
          </a:ln>
        </p:spPr>
      </p:sp>
      <p:sp>
        <p:nvSpPr>
          <p:cNvPr id="26" name="Text 24"/>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Méthodologie — Pipeline de Traitement des Données</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De la base OMS brute au fichier SIG cartographiable</a:t>
            </a:r>
            <a:endParaRPr lang="en-US" sz="1100" dirty="0"/>
          </a:p>
        </p:txBody>
      </p:sp>
      <p:sp>
        <p:nvSpPr>
          <p:cNvPr id="5" name="Shape 3"/>
          <p:cNvSpPr/>
          <p:nvPr/>
        </p:nvSpPr>
        <p:spPr>
          <a:xfrm>
            <a:off x="274320" y="1417320"/>
            <a:ext cx="1325880" cy="2560320"/>
          </a:xfrm>
          <a:prstGeom prst="rect">
            <a:avLst/>
          </a:prstGeom>
          <a:solidFill>
            <a:srgbClr val="FFFFFF"/>
          </a:solidFill>
          <a:ln w="25400">
            <a:solidFill>
              <a:srgbClr val="0D2B55"/>
            </a:solidFill>
            <a:prstDash val="solid"/>
          </a:ln>
          <a:effectLst>
            <a:outerShdw blurRad="63500" dist="25400" dir="8100000" algn="bl" rotWithShape="0">
              <a:srgbClr val="000000">
                <a:alpha val="9000"/>
              </a:srgbClr>
            </a:outerShdw>
          </a:effectLst>
        </p:spPr>
      </p:sp>
      <p:sp>
        <p:nvSpPr>
          <p:cNvPr id="6" name="Shape 4"/>
          <p:cNvSpPr/>
          <p:nvPr/>
        </p:nvSpPr>
        <p:spPr>
          <a:xfrm>
            <a:off x="274320" y="1417320"/>
            <a:ext cx="1325880" cy="347472"/>
          </a:xfrm>
          <a:prstGeom prst="rect">
            <a:avLst/>
          </a:prstGeom>
          <a:solidFill>
            <a:srgbClr val="0D2B55"/>
          </a:solidFill>
          <a:ln w="12700">
            <a:solidFill>
              <a:srgbClr val="0D2B55"/>
            </a:solidFill>
            <a:prstDash val="solid"/>
          </a:ln>
        </p:spPr>
      </p:sp>
      <p:sp>
        <p:nvSpPr>
          <p:cNvPr id="7" name="Text 5"/>
          <p:cNvSpPr/>
          <p:nvPr/>
        </p:nvSpPr>
        <p:spPr>
          <a:xfrm>
            <a:off x="320040" y="1435608"/>
            <a:ext cx="123444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ÉTAPE 1</a:t>
            </a:r>
            <a:endParaRPr lang="en-US" sz="950" dirty="0"/>
          </a:p>
        </p:txBody>
      </p:sp>
      <p:sp>
        <p:nvSpPr>
          <p:cNvPr id="8" name="Text 6"/>
          <p:cNvSpPr/>
          <p:nvPr/>
        </p:nvSpPr>
        <p:spPr>
          <a:xfrm>
            <a:off x="320040" y="1828800"/>
            <a:ext cx="1234440" cy="502920"/>
          </a:xfrm>
          <a:prstGeom prst="rect">
            <a:avLst/>
          </a:prstGeom>
          <a:noFill/>
          <a:ln/>
        </p:spPr>
        <p:txBody>
          <a:bodyPr wrap="square" lIns="0" tIns="0" rIns="0" bIns="0" rtlCol="0" anchor="ctr"/>
          <a:lstStyle/>
          <a:p>
            <a:pPr marL="0" indent="0" algn="ctr">
              <a:buNone/>
            </a:pPr>
            <a:r>
              <a:rPr lang="en-US" sz="1100" b="1" dirty="0">
                <a:solidFill>
                  <a:srgbClr val="0D2B55"/>
                </a:solidFill>
                <a:latin typeface="Calibri" pitchFamily="34" charset="0"/>
                <a:ea typeface="Calibri" pitchFamily="34" charset="-122"/>
                <a:cs typeface="Calibri" pitchFamily="34" charset="-120"/>
              </a:rPr>
              <a:t>Importation brute</a:t>
            </a:r>
            <a:endParaRPr lang="en-US" sz="1100" dirty="0"/>
          </a:p>
        </p:txBody>
      </p:sp>
      <p:sp>
        <p:nvSpPr>
          <p:cNvPr id="9" name="Text 7"/>
          <p:cNvSpPr/>
          <p:nvPr/>
        </p:nvSpPr>
        <p:spPr>
          <a:xfrm>
            <a:off x="347472" y="2404872"/>
            <a:ext cx="1179576" cy="141732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read_excel(col_names=FALSE)</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col_types='text'</a:t>
            </a:r>
            <a:endParaRPr lang="en-US" sz="950" dirty="0"/>
          </a:p>
        </p:txBody>
      </p:sp>
      <p:sp>
        <p:nvSpPr>
          <p:cNvPr id="10" name="Shape 8"/>
          <p:cNvSpPr/>
          <p:nvPr/>
        </p:nvSpPr>
        <p:spPr>
          <a:xfrm>
            <a:off x="1600200" y="2660904"/>
            <a:ext cx="109728" cy="73152"/>
          </a:xfrm>
          <a:prstGeom prst="rect">
            <a:avLst/>
          </a:prstGeom>
          <a:solidFill>
            <a:srgbClr val="E8EEF2"/>
          </a:solidFill>
          <a:ln w="12700">
            <a:solidFill>
              <a:srgbClr val="E8EEF2"/>
            </a:solidFill>
            <a:prstDash val="solid"/>
          </a:ln>
        </p:spPr>
      </p:sp>
      <p:sp>
        <p:nvSpPr>
          <p:cNvPr id="11" name="Shape 9"/>
          <p:cNvSpPr/>
          <p:nvPr/>
        </p:nvSpPr>
        <p:spPr>
          <a:xfrm>
            <a:off x="1709928" y="1417320"/>
            <a:ext cx="1325880" cy="2560320"/>
          </a:xfrm>
          <a:prstGeom prst="rect">
            <a:avLst/>
          </a:prstGeom>
          <a:solidFill>
            <a:srgbClr val="FFFFFF"/>
          </a:solidFill>
          <a:ln w="25400">
            <a:solidFill>
              <a:srgbClr val="006E7F"/>
            </a:solidFill>
            <a:prstDash val="solid"/>
          </a:ln>
          <a:effectLst>
            <a:outerShdw blurRad="63500" dist="25400" dir="8100000" algn="bl" rotWithShape="0">
              <a:srgbClr val="000000">
                <a:alpha val="9000"/>
              </a:srgbClr>
            </a:outerShdw>
          </a:effectLst>
        </p:spPr>
      </p:sp>
      <p:sp>
        <p:nvSpPr>
          <p:cNvPr id="12" name="Shape 10"/>
          <p:cNvSpPr/>
          <p:nvPr/>
        </p:nvSpPr>
        <p:spPr>
          <a:xfrm>
            <a:off x="1709928" y="1417320"/>
            <a:ext cx="1325880" cy="347472"/>
          </a:xfrm>
          <a:prstGeom prst="rect">
            <a:avLst/>
          </a:prstGeom>
          <a:solidFill>
            <a:srgbClr val="006E7F"/>
          </a:solidFill>
          <a:ln w="12700">
            <a:solidFill>
              <a:srgbClr val="006E7F"/>
            </a:solidFill>
            <a:prstDash val="solid"/>
          </a:ln>
        </p:spPr>
      </p:sp>
      <p:sp>
        <p:nvSpPr>
          <p:cNvPr id="13" name="Text 11"/>
          <p:cNvSpPr/>
          <p:nvPr/>
        </p:nvSpPr>
        <p:spPr>
          <a:xfrm>
            <a:off x="1755648" y="1435608"/>
            <a:ext cx="123444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ÉTAPE 2</a:t>
            </a:r>
            <a:endParaRPr lang="en-US" sz="950" dirty="0"/>
          </a:p>
        </p:txBody>
      </p:sp>
      <p:sp>
        <p:nvSpPr>
          <p:cNvPr id="14" name="Text 12"/>
          <p:cNvSpPr/>
          <p:nvPr/>
        </p:nvSpPr>
        <p:spPr>
          <a:xfrm>
            <a:off x="1755648" y="1828800"/>
            <a:ext cx="1234440" cy="502920"/>
          </a:xfrm>
          <a:prstGeom prst="rect">
            <a:avLst/>
          </a:prstGeom>
          <a:noFill/>
          <a:ln/>
        </p:spPr>
        <p:txBody>
          <a:bodyPr wrap="square" lIns="0" tIns="0" rIns="0" bIns="0" rtlCol="0" anchor="ctr"/>
          <a:lstStyle/>
          <a:p>
            <a:pPr marL="0" indent="0" algn="ctr">
              <a:buNone/>
            </a:pPr>
            <a:r>
              <a:rPr lang="en-US" sz="1100" b="1" dirty="0">
                <a:solidFill>
                  <a:srgbClr val="006E7F"/>
                </a:solidFill>
                <a:latin typeface="Calibri" pitchFamily="34" charset="0"/>
                <a:ea typeface="Calibri" pitchFamily="34" charset="-122"/>
                <a:cs typeface="Calibri" pitchFamily="34" charset="-120"/>
              </a:rPr>
              <a:t>Fill-Down pays</a:t>
            </a:r>
            <a:endParaRPr lang="en-US" sz="1100" dirty="0"/>
          </a:p>
        </p:txBody>
      </p:sp>
      <p:sp>
        <p:nvSpPr>
          <p:cNvPr id="15" name="Text 13"/>
          <p:cNvSpPr/>
          <p:nvPr/>
        </p:nvSpPr>
        <p:spPr>
          <a:xfrm>
            <a:off x="1783080" y="2404872"/>
            <a:ext cx="1179576" cy="141732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tidyr::fill()</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Propagation du nom</a:t>
            </a:r>
            <a:endParaRPr lang="en-US" sz="950" dirty="0"/>
          </a:p>
        </p:txBody>
      </p:sp>
      <p:sp>
        <p:nvSpPr>
          <p:cNvPr id="16" name="Shape 14"/>
          <p:cNvSpPr/>
          <p:nvPr/>
        </p:nvSpPr>
        <p:spPr>
          <a:xfrm>
            <a:off x="3035808" y="2660904"/>
            <a:ext cx="109728" cy="73152"/>
          </a:xfrm>
          <a:prstGeom prst="rect">
            <a:avLst/>
          </a:prstGeom>
          <a:solidFill>
            <a:srgbClr val="E8EEF2"/>
          </a:solidFill>
          <a:ln w="12700">
            <a:solidFill>
              <a:srgbClr val="E8EEF2"/>
            </a:solidFill>
            <a:prstDash val="solid"/>
          </a:ln>
        </p:spPr>
      </p:sp>
      <p:sp>
        <p:nvSpPr>
          <p:cNvPr id="17" name="Shape 15"/>
          <p:cNvSpPr/>
          <p:nvPr/>
        </p:nvSpPr>
        <p:spPr>
          <a:xfrm>
            <a:off x="3145536" y="1417320"/>
            <a:ext cx="1325880" cy="2560320"/>
          </a:xfrm>
          <a:prstGeom prst="rect">
            <a:avLst/>
          </a:prstGeom>
          <a:solidFill>
            <a:srgbClr val="FFFFFF"/>
          </a:solidFill>
          <a:ln w="25400">
            <a:solidFill>
              <a:srgbClr val="1A9BAF"/>
            </a:solidFill>
            <a:prstDash val="solid"/>
          </a:ln>
          <a:effectLst>
            <a:outerShdw blurRad="63500" dist="25400" dir="8100000" algn="bl" rotWithShape="0">
              <a:srgbClr val="000000">
                <a:alpha val="9000"/>
              </a:srgbClr>
            </a:outerShdw>
          </a:effectLst>
        </p:spPr>
      </p:sp>
      <p:sp>
        <p:nvSpPr>
          <p:cNvPr id="18" name="Shape 16"/>
          <p:cNvSpPr/>
          <p:nvPr/>
        </p:nvSpPr>
        <p:spPr>
          <a:xfrm>
            <a:off x="3145536" y="1417320"/>
            <a:ext cx="1325880" cy="347472"/>
          </a:xfrm>
          <a:prstGeom prst="rect">
            <a:avLst/>
          </a:prstGeom>
          <a:solidFill>
            <a:srgbClr val="1A9BAF"/>
          </a:solidFill>
          <a:ln w="12700">
            <a:solidFill>
              <a:srgbClr val="1A9BAF"/>
            </a:solidFill>
            <a:prstDash val="solid"/>
          </a:ln>
        </p:spPr>
      </p:sp>
      <p:sp>
        <p:nvSpPr>
          <p:cNvPr id="19" name="Text 17"/>
          <p:cNvSpPr/>
          <p:nvPr/>
        </p:nvSpPr>
        <p:spPr>
          <a:xfrm>
            <a:off x="3191256" y="1435608"/>
            <a:ext cx="123444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ÉTAPE 3</a:t>
            </a:r>
            <a:endParaRPr lang="en-US" sz="950" dirty="0"/>
          </a:p>
        </p:txBody>
      </p:sp>
      <p:sp>
        <p:nvSpPr>
          <p:cNvPr id="20" name="Text 18"/>
          <p:cNvSpPr/>
          <p:nvPr/>
        </p:nvSpPr>
        <p:spPr>
          <a:xfrm>
            <a:off x="3191256" y="1828800"/>
            <a:ext cx="1234440" cy="502920"/>
          </a:xfrm>
          <a:prstGeom prst="rect">
            <a:avLst/>
          </a:prstGeom>
          <a:noFill/>
          <a:ln/>
        </p:spPr>
        <p:txBody>
          <a:bodyPr wrap="square" lIns="0" tIns="0" rIns="0" bIns="0" rtlCol="0" anchor="ctr"/>
          <a:lstStyle/>
          <a:p>
            <a:pPr marL="0" indent="0" algn="ctr">
              <a:buNone/>
            </a:pPr>
            <a:r>
              <a:rPr lang="en-US" sz="1100" b="1" dirty="0">
                <a:solidFill>
                  <a:srgbClr val="1A9BAF"/>
                </a:solidFill>
                <a:latin typeface="Calibri" pitchFamily="34" charset="0"/>
                <a:ea typeface="Calibri" pitchFamily="34" charset="-122"/>
                <a:cs typeface="Calibri" pitchFamily="34" charset="-120"/>
              </a:rPr>
              <a:t>Filtrage &amp; typage</a:t>
            </a:r>
            <a:endParaRPr lang="en-US" sz="1100" dirty="0"/>
          </a:p>
        </p:txBody>
      </p:sp>
      <p:sp>
        <p:nvSpPr>
          <p:cNvPr id="21" name="Text 19"/>
          <p:cNvSpPr/>
          <p:nvPr/>
        </p:nvSpPr>
        <p:spPr>
          <a:xfrm>
            <a:off x="3218688" y="2404872"/>
            <a:ext cx="1179576" cy="141732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Années 2000–2023</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as.numeric()</a:t>
            </a:r>
            <a:endParaRPr lang="en-US" sz="950" dirty="0"/>
          </a:p>
        </p:txBody>
      </p:sp>
      <p:sp>
        <p:nvSpPr>
          <p:cNvPr id="22" name="Shape 20"/>
          <p:cNvSpPr/>
          <p:nvPr/>
        </p:nvSpPr>
        <p:spPr>
          <a:xfrm>
            <a:off x="4471416" y="2660904"/>
            <a:ext cx="109728" cy="73152"/>
          </a:xfrm>
          <a:prstGeom prst="rect">
            <a:avLst/>
          </a:prstGeom>
          <a:solidFill>
            <a:srgbClr val="E8EEF2"/>
          </a:solidFill>
          <a:ln w="12700">
            <a:solidFill>
              <a:srgbClr val="E8EEF2"/>
            </a:solidFill>
            <a:prstDash val="solid"/>
          </a:ln>
        </p:spPr>
      </p:sp>
      <p:sp>
        <p:nvSpPr>
          <p:cNvPr id="23" name="Shape 21"/>
          <p:cNvSpPr/>
          <p:nvPr/>
        </p:nvSpPr>
        <p:spPr>
          <a:xfrm>
            <a:off x="4581144" y="1417320"/>
            <a:ext cx="1325880" cy="2560320"/>
          </a:xfrm>
          <a:prstGeom prst="rect">
            <a:avLst/>
          </a:prstGeom>
          <a:solidFill>
            <a:srgbClr val="FFFFFF"/>
          </a:solidFill>
          <a:ln w="25400">
            <a:solidFill>
              <a:srgbClr val="27AE60"/>
            </a:solidFill>
            <a:prstDash val="solid"/>
          </a:ln>
          <a:effectLst>
            <a:outerShdw blurRad="63500" dist="25400" dir="8100000" algn="bl" rotWithShape="0">
              <a:srgbClr val="000000">
                <a:alpha val="9000"/>
              </a:srgbClr>
            </a:outerShdw>
          </a:effectLst>
        </p:spPr>
      </p:sp>
      <p:sp>
        <p:nvSpPr>
          <p:cNvPr id="24" name="Shape 22"/>
          <p:cNvSpPr/>
          <p:nvPr/>
        </p:nvSpPr>
        <p:spPr>
          <a:xfrm>
            <a:off x="4581144" y="1417320"/>
            <a:ext cx="1325880" cy="347472"/>
          </a:xfrm>
          <a:prstGeom prst="rect">
            <a:avLst/>
          </a:prstGeom>
          <a:solidFill>
            <a:srgbClr val="27AE60"/>
          </a:solidFill>
          <a:ln w="12700">
            <a:solidFill>
              <a:srgbClr val="27AE60"/>
            </a:solidFill>
            <a:prstDash val="solid"/>
          </a:ln>
        </p:spPr>
      </p:sp>
      <p:sp>
        <p:nvSpPr>
          <p:cNvPr id="25" name="Text 23"/>
          <p:cNvSpPr/>
          <p:nvPr/>
        </p:nvSpPr>
        <p:spPr>
          <a:xfrm>
            <a:off x="4626864" y="1435608"/>
            <a:ext cx="123444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ÉTAPE 4</a:t>
            </a:r>
            <a:endParaRPr lang="en-US" sz="950" dirty="0"/>
          </a:p>
        </p:txBody>
      </p:sp>
      <p:sp>
        <p:nvSpPr>
          <p:cNvPr id="26" name="Text 24"/>
          <p:cNvSpPr/>
          <p:nvPr/>
        </p:nvSpPr>
        <p:spPr>
          <a:xfrm>
            <a:off x="4626864" y="1828800"/>
            <a:ext cx="1234440" cy="502920"/>
          </a:xfrm>
          <a:prstGeom prst="rect">
            <a:avLst/>
          </a:prstGeom>
          <a:noFill/>
          <a:ln/>
        </p:spPr>
        <p:txBody>
          <a:bodyPr wrap="square" lIns="0" tIns="0" rIns="0" bIns="0" rtlCol="0" anchor="ctr"/>
          <a:lstStyle/>
          <a:p>
            <a:pPr marL="0" indent="0" algn="ctr">
              <a:buNone/>
            </a:pPr>
            <a:r>
              <a:rPr lang="en-US" sz="1100" b="1" dirty="0">
                <a:solidFill>
                  <a:srgbClr val="27AE60"/>
                </a:solidFill>
                <a:latin typeface="Calibri" pitchFamily="34" charset="0"/>
                <a:ea typeface="Calibri" pitchFamily="34" charset="-122"/>
                <a:cs typeface="Calibri" pitchFamily="34" charset="-120"/>
              </a:rPr>
              <a:t>EDA — DataExplorer</a:t>
            </a:r>
            <a:endParaRPr lang="en-US" sz="1100" dirty="0"/>
          </a:p>
        </p:txBody>
      </p:sp>
      <p:sp>
        <p:nvSpPr>
          <p:cNvPr id="27" name="Text 25"/>
          <p:cNvSpPr/>
          <p:nvPr/>
        </p:nvSpPr>
        <p:spPr>
          <a:xfrm>
            <a:off x="4654296" y="2404872"/>
            <a:ext cx="1179576" cy="141732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plot_str / missing</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histogrammes</a:t>
            </a:r>
            <a:endParaRPr lang="en-US" sz="950" dirty="0"/>
          </a:p>
        </p:txBody>
      </p:sp>
      <p:sp>
        <p:nvSpPr>
          <p:cNvPr id="28" name="Shape 26"/>
          <p:cNvSpPr/>
          <p:nvPr/>
        </p:nvSpPr>
        <p:spPr>
          <a:xfrm>
            <a:off x="5907024" y="2660904"/>
            <a:ext cx="109728" cy="73152"/>
          </a:xfrm>
          <a:prstGeom prst="rect">
            <a:avLst/>
          </a:prstGeom>
          <a:solidFill>
            <a:srgbClr val="E8EEF2"/>
          </a:solidFill>
          <a:ln w="12700">
            <a:solidFill>
              <a:srgbClr val="E8EEF2"/>
            </a:solidFill>
            <a:prstDash val="solid"/>
          </a:ln>
        </p:spPr>
      </p:sp>
      <p:sp>
        <p:nvSpPr>
          <p:cNvPr id="29" name="Shape 27"/>
          <p:cNvSpPr/>
          <p:nvPr/>
        </p:nvSpPr>
        <p:spPr>
          <a:xfrm>
            <a:off x="6016752" y="1417320"/>
            <a:ext cx="1325880" cy="2560320"/>
          </a:xfrm>
          <a:prstGeom prst="rect">
            <a:avLst/>
          </a:prstGeom>
          <a:solidFill>
            <a:srgbClr val="FFFFFF"/>
          </a:solidFill>
          <a:ln w="25400">
            <a:solidFill>
              <a:srgbClr val="E67E22"/>
            </a:solidFill>
            <a:prstDash val="solid"/>
          </a:ln>
          <a:effectLst>
            <a:outerShdw blurRad="63500" dist="25400" dir="8100000" algn="bl" rotWithShape="0">
              <a:srgbClr val="000000">
                <a:alpha val="9000"/>
              </a:srgbClr>
            </a:outerShdw>
          </a:effectLst>
        </p:spPr>
      </p:sp>
      <p:sp>
        <p:nvSpPr>
          <p:cNvPr id="30" name="Shape 28"/>
          <p:cNvSpPr/>
          <p:nvPr/>
        </p:nvSpPr>
        <p:spPr>
          <a:xfrm>
            <a:off x="6016752" y="1417320"/>
            <a:ext cx="1325880" cy="347472"/>
          </a:xfrm>
          <a:prstGeom prst="rect">
            <a:avLst/>
          </a:prstGeom>
          <a:solidFill>
            <a:srgbClr val="E67E22"/>
          </a:solidFill>
          <a:ln w="12700">
            <a:solidFill>
              <a:srgbClr val="E67E22"/>
            </a:solidFill>
            <a:prstDash val="solid"/>
          </a:ln>
        </p:spPr>
      </p:sp>
      <p:sp>
        <p:nvSpPr>
          <p:cNvPr id="31" name="Text 29"/>
          <p:cNvSpPr/>
          <p:nvPr/>
        </p:nvSpPr>
        <p:spPr>
          <a:xfrm>
            <a:off x="6062472" y="1435608"/>
            <a:ext cx="123444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ÉTAPE 5</a:t>
            </a:r>
            <a:endParaRPr lang="en-US" sz="950" dirty="0"/>
          </a:p>
        </p:txBody>
      </p:sp>
      <p:sp>
        <p:nvSpPr>
          <p:cNvPr id="32" name="Text 30"/>
          <p:cNvSpPr/>
          <p:nvPr/>
        </p:nvSpPr>
        <p:spPr>
          <a:xfrm>
            <a:off x="6062472" y="1828800"/>
            <a:ext cx="1234440" cy="502920"/>
          </a:xfrm>
          <a:prstGeom prst="rect">
            <a:avLst/>
          </a:prstGeom>
          <a:noFill/>
          <a:ln/>
        </p:spPr>
        <p:txBody>
          <a:bodyPr wrap="square" lIns="0" tIns="0" rIns="0" bIns="0" rtlCol="0" anchor="ctr"/>
          <a:lstStyle/>
          <a:p>
            <a:pPr marL="0" indent="0" algn="ctr">
              <a:buNone/>
            </a:pPr>
            <a:r>
              <a:rPr lang="en-US" sz="1100" b="1" dirty="0">
                <a:solidFill>
                  <a:srgbClr val="E67E22"/>
                </a:solidFill>
                <a:latin typeface="Calibri" pitchFamily="34" charset="0"/>
                <a:ea typeface="Calibri" pitchFamily="34" charset="-122"/>
                <a:cs typeface="Calibri" pitchFamily="34" charset="-120"/>
              </a:rPr>
              <a:t>Visualisations ggplot2</a:t>
            </a:r>
            <a:endParaRPr lang="en-US" sz="1100" dirty="0"/>
          </a:p>
        </p:txBody>
      </p:sp>
      <p:sp>
        <p:nvSpPr>
          <p:cNvPr id="33" name="Text 31"/>
          <p:cNvSpPr/>
          <p:nvPr/>
        </p:nvSpPr>
        <p:spPr>
          <a:xfrm>
            <a:off x="6089904" y="2404872"/>
            <a:ext cx="1179576" cy="141732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3 graphiques avancés</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One Health</a:t>
            </a:r>
            <a:endParaRPr lang="en-US" sz="950" dirty="0"/>
          </a:p>
        </p:txBody>
      </p:sp>
      <p:sp>
        <p:nvSpPr>
          <p:cNvPr id="34" name="Shape 32"/>
          <p:cNvSpPr/>
          <p:nvPr/>
        </p:nvSpPr>
        <p:spPr>
          <a:xfrm>
            <a:off x="7342632" y="2660904"/>
            <a:ext cx="109728" cy="73152"/>
          </a:xfrm>
          <a:prstGeom prst="rect">
            <a:avLst/>
          </a:prstGeom>
          <a:solidFill>
            <a:srgbClr val="E8EEF2"/>
          </a:solidFill>
          <a:ln w="12700">
            <a:solidFill>
              <a:srgbClr val="E8EEF2"/>
            </a:solidFill>
            <a:prstDash val="solid"/>
          </a:ln>
        </p:spPr>
      </p:sp>
      <p:sp>
        <p:nvSpPr>
          <p:cNvPr id="35" name="Shape 33"/>
          <p:cNvSpPr/>
          <p:nvPr/>
        </p:nvSpPr>
        <p:spPr>
          <a:xfrm>
            <a:off x="7452360" y="1417320"/>
            <a:ext cx="1325880" cy="2560320"/>
          </a:xfrm>
          <a:prstGeom prst="rect">
            <a:avLst/>
          </a:prstGeom>
          <a:solidFill>
            <a:srgbClr val="FFFFFF"/>
          </a:solidFill>
          <a:ln w="25400">
            <a:solidFill>
              <a:srgbClr val="C0392B"/>
            </a:solidFill>
            <a:prstDash val="solid"/>
          </a:ln>
          <a:effectLst>
            <a:outerShdw blurRad="63500" dist="25400" dir="8100000" algn="bl" rotWithShape="0">
              <a:srgbClr val="000000">
                <a:alpha val="9000"/>
              </a:srgbClr>
            </a:outerShdw>
          </a:effectLst>
        </p:spPr>
      </p:sp>
      <p:sp>
        <p:nvSpPr>
          <p:cNvPr id="36" name="Shape 34"/>
          <p:cNvSpPr/>
          <p:nvPr/>
        </p:nvSpPr>
        <p:spPr>
          <a:xfrm>
            <a:off x="7452360" y="1417320"/>
            <a:ext cx="1325880" cy="347472"/>
          </a:xfrm>
          <a:prstGeom prst="rect">
            <a:avLst/>
          </a:prstGeom>
          <a:solidFill>
            <a:srgbClr val="C0392B"/>
          </a:solidFill>
          <a:ln w="12700">
            <a:solidFill>
              <a:srgbClr val="C0392B"/>
            </a:solidFill>
            <a:prstDash val="solid"/>
          </a:ln>
        </p:spPr>
      </p:sp>
      <p:sp>
        <p:nvSpPr>
          <p:cNvPr id="37" name="Text 35"/>
          <p:cNvSpPr/>
          <p:nvPr/>
        </p:nvSpPr>
        <p:spPr>
          <a:xfrm>
            <a:off x="7498080" y="1435608"/>
            <a:ext cx="123444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ÉTAPE 6</a:t>
            </a:r>
            <a:endParaRPr lang="en-US" sz="950" dirty="0"/>
          </a:p>
        </p:txBody>
      </p:sp>
      <p:sp>
        <p:nvSpPr>
          <p:cNvPr id="38" name="Text 36"/>
          <p:cNvSpPr/>
          <p:nvPr/>
        </p:nvSpPr>
        <p:spPr>
          <a:xfrm>
            <a:off x="7498080" y="1828800"/>
            <a:ext cx="1234440" cy="502920"/>
          </a:xfrm>
          <a:prstGeom prst="rect">
            <a:avLst/>
          </a:prstGeom>
          <a:noFill/>
          <a:ln/>
        </p:spPr>
        <p:txBody>
          <a:bodyPr wrap="square" lIns="0" tIns="0" rIns="0" bIns="0"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Export ArcGIS</a:t>
            </a:r>
            <a:endParaRPr lang="en-US" sz="1100" dirty="0"/>
          </a:p>
        </p:txBody>
      </p:sp>
      <p:sp>
        <p:nvSpPr>
          <p:cNvPr id="39" name="Text 37"/>
          <p:cNvSpPr/>
          <p:nvPr/>
        </p:nvSpPr>
        <p:spPr>
          <a:xfrm>
            <a:off x="7525512" y="2404872"/>
            <a:ext cx="1179576" cy="1417320"/>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CSV UTF-8</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Indicateurs dérivés</a:t>
            </a:r>
            <a:endParaRPr lang="en-US" sz="950" dirty="0"/>
          </a:p>
        </p:txBody>
      </p:sp>
      <p:sp>
        <p:nvSpPr>
          <p:cNvPr id="40" name="Shape 38"/>
          <p:cNvSpPr/>
          <p:nvPr/>
        </p:nvSpPr>
        <p:spPr>
          <a:xfrm>
            <a:off x="274320" y="4160520"/>
            <a:ext cx="8595360" cy="566928"/>
          </a:xfrm>
          <a:prstGeom prst="rect">
            <a:avLst/>
          </a:prstGeom>
          <a:solidFill>
            <a:srgbClr val="FFF3CD"/>
          </a:solidFill>
          <a:ln w="12700">
            <a:solidFill>
              <a:srgbClr val="E67E22"/>
            </a:solidFill>
            <a:prstDash val="solid"/>
          </a:ln>
        </p:spPr>
      </p:sp>
      <p:sp>
        <p:nvSpPr>
          <p:cNvPr id="41" name="Text 39"/>
          <p:cNvSpPr/>
          <p:nvPr/>
        </p:nvSpPr>
        <p:spPr>
          <a:xfrm>
            <a:off x="411480" y="4178808"/>
            <a:ext cx="8321040" cy="521208"/>
          </a:xfrm>
          <a:prstGeom prst="rect">
            <a:avLst/>
          </a:prstGeom>
          <a:noFill/>
          <a:ln/>
        </p:spPr>
        <p:txBody>
          <a:bodyPr wrap="square" lIns="0" tIns="0" rIns="0" bIns="0" rtlCol="0" anchor="ctr"/>
          <a:lstStyle/>
          <a:p>
            <a:pPr marL="0" indent="0">
              <a:buNone/>
            </a:pPr>
            <a:r>
              <a:rPr lang="en-US" sz="950" b="1" dirty="0">
                <a:solidFill>
                  <a:srgbClr val="E67E22"/>
                </a:solidFill>
                <a:latin typeface="Calibri" pitchFamily="34" charset="0"/>
                <a:ea typeface="Calibri" pitchFamily="34" charset="-122"/>
                <a:cs typeface="Calibri" pitchFamily="34" charset="-120"/>
              </a:rPr>
              <a:t>⚠  Problème clé résolu :  </a:t>
            </a:r>
            <a:r>
              <a:rPr lang="en-US" sz="950" dirty="0">
                <a:solidFill>
                  <a:srgbClr val="1A2B3C"/>
                </a:solidFill>
                <a:latin typeface="Calibri" pitchFamily="34" charset="0"/>
                <a:ea typeface="Calibri" pitchFamily="34" charset="-122"/>
                <a:cs typeface="Calibri" pitchFamily="34" charset="-120"/>
              </a:rPr>
              <a:t>Le fichier OMS utilise des cellules Excel fusionnées (merged cells) — le nom du pays n'apparaît qu'une seule fois. La technique fill-down (tidyr::fill) est indispensable pour reconstruire correctement les 2 760 lignes de données.</a:t>
            </a:r>
            <a:endParaRPr lang="en-US" sz="950" dirty="0"/>
          </a:p>
        </p:txBody>
      </p:sp>
      <p:sp>
        <p:nvSpPr>
          <p:cNvPr id="42" name="Shape 40"/>
          <p:cNvSpPr/>
          <p:nvPr/>
        </p:nvSpPr>
        <p:spPr>
          <a:xfrm>
            <a:off x="0" y="4892040"/>
            <a:ext cx="9144000" cy="251460"/>
          </a:xfrm>
          <a:prstGeom prst="rect">
            <a:avLst/>
          </a:prstGeom>
          <a:solidFill>
            <a:srgbClr val="E8EEF2"/>
          </a:solidFill>
          <a:ln w="12700">
            <a:solidFill>
              <a:srgbClr val="E8EEF2"/>
            </a:solidFill>
            <a:prstDash val="solid"/>
          </a:ln>
        </p:spPr>
      </p:sp>
      <p:sp>
        <p:nvSpPr>
          <p:cNvPr id="43" name="Text 41"/>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Résultats — Base de Données Reconstruite &amp; Validée</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Validation post-nettoyage — malaria_clean</a:t>
            </a:r>
            <a:endParaRPr lang="en-US" sz="1100" dirty="0"/>
          </a:p>
        </p:txBody>
      </p:sp>
      <p:sp>
        <p:nvSpPr>
          <p:cNvPr id="5" name="Shape 3"/>
          <p:cNvSpPr/>
          <p:nvPr/>
        </p:nvSpPr>
        <p:spPr>
          <a:xfrm>
            <a:off x="274320" y="960120"/>
            <a:ext cx="2651760" cy="1325880"/>
          </a:xfrm>
          <a:prstGeom prst="rect">
            <a:avLst/>
          </a:prstGeom>
          <a:solidFill>
            <a:srgbClr val="FFFFFF"/>
          </a:solidFill>
          <a:ln w="25400">
            <a:solidFill>
              <a:srgbClr val="006E7F"/>
            </a:solidFill>
            <a:prstDash val="solid"/>
          </a:ln>
          <a:effectLst>
            <a:outerShdw blurRad="76200" dist="25400" dir="8100000" algn="bl" rotWithShape="0">
              <a:srgbClr val="000000">
                <a:alpha val="10000"/>
              </a:srgbClr>
            </a:outerShdw>
          </a:effectLst>
        </p:spPr>
      </p:sp>
      <p:sp>
        <p:nvSpPr>
          <p:cNvPr id="6" name="Text 4"/>
          <p:cNvSpPr/>
          <p:nvPr/>
        </p:nvSpPr>
        <p:spPr>
          <a:xfrm>
            <a:off x="365760" y="1051560"/>
            <a:ext cx="2468880" cy="729234"/>
          </a:xfrm>
          <a:prstGeom prst="rect">
            <a:avLst/>
          </a:prstGeom>
          <a:noFill/>
          <a:ln/>
        </p:spPr>
        <p:txBody>
          <a:bodyPr wrap="square" lIns="0" tIns="0" rIns="0" bIns="0" rtlCol="0" anchor="b"/>
          <a:lstStyle/>
          <a:p>
            <a:pPr marL="0" indent="0" algn="ctr">
              <a:buNone/>
            </a:pPr>
            <a:r>
              <a:rPr lang="en-US" sz="2800" b="1" dirty="0">
                <a:solidFill>
                  <a:srgbClr val="006E7F"/>
                </a:solidFill>
                <a:latin typeface="Calibri" pitchFamily="34" charset="0"/>
                <a:ea typeface="Calibri" pitchFamily="34" charset="-122"/>
                <a:cs typeface="Calibri" pitchFamily="34" charset="-120"/>
              </a:rPr>
              <a:t>2 760</a:t>
            </a:r>
            <a:endParaRPr lang="en-US" sz="2800" dirty="0"/>
          </a:p>
        </p:txBody>
      </p:sp>
      <p:sp>
        <p:nvSpPr>
          <p:cNvPr id="7" name="Text 5"/>
          <p:cNvSpPr/>
          <p:nvPr/>
        </p:nvSpPr>
        <p:spPr>
          <a:xfrm>
            <a:off x="365760" y="1755648"/>
            <a:ext cx="2468880" cy="503834"/>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Lignes de données valides</a:t>
            </a:r>
            <a:endParaRPr lang="en-US" sz="950" dirty="0"/>
          </a:p>
        </p:txBody>
      </p:sp>
      <p:sp>
        <p:nvSpPr>
          <p:cNvPr id="8" name="Shape 6"/>
          <p:cNvSpPr/>
          <p:nvPr/>
        </p:nvSpPr>
        <p:spPr>
          <a:xfrm>
            <a:off x="3154680" y="960120"/>
            <a:ext cx="2651760" cy="1325880"/>
          </a:xfrm>
          <a:prstGeom prst="rect">
            <a:avLst/>
          </a:prstGeom>
          <a:solidFill>
            <a:srgbClr val="FFFFFF"/>
          </a:solidFill>
          <a:ln w="25400">
            <a:solidFill>
              <a:srgbClr val="0D2B55"/>
            </a:solidFill>
            <a:prstDash val="solid"/>
          </a:ln>
          <a:effectLst>
            <a:outerShdw blurRad="76200" dist="25400" dir="8100000" algn="bl" rotWithShape="0">
              <a:srgbClr val="000000">
                <a:alpha val="10000"/>
              </a:srgbClr>
            </a:outerShdw>
          </a:effectLst>
        </p:spPr>
      </p:sp>
      <p:sp>
        <p:nvSpPr>
          <p:cNvPr id="9" name="Text 7"/>
          <p:cNvSpPr/>
          <p:nvPr/>
        </p:nvSpPr>
        <p:spPr>
          <a:xfrm>
            <a:off x="3246120" y="1051560"/>
            <a:ext cx="2468880" cy="729234"/>
          </a:xfrm>
          <a:prstGeom prst="rect">
            <a:avLst/>
          </a:prstGeom>
          <a:noFill/>
          <a:ln/>
        </p:spPr>
        <p:txBody>
          <a:bodyPr wrap="square" lIns="0" tIns="0" rIns="0" bIns="0" rtlCol="0" anchor="b"/>
          <a:lstStyle/>
          <a:p>
            <a:pPr marL="0" indent="0" algn="ctr">
              <a:buNone/>
            </a:pPr>
            <a:r>
              <a:rPr lang="en-US" sz="2800" b="1" dirty="0">
                <a:solidFill>
                  <a:srgbClr val="0D2B55"/>
                </a:solidFill>
                <a:latin typeface="Calibri" pitchFamily="34" charset="0"/>
                <a:ea typeface="Calibri" pitchFamily="34" charset="-122"/>
                <a:cs typeface="Calibri" pitchFamily="34" charset="-120"/>
              </a:rPr>
              <a:t>9</a:t>
            </a:r>
            <a:endParaRPr lang="en-US" sz="2800" dirty="0"/>
          </a:p>
        </p:txBody>
      </p:sp>
      <p:sp>
        <p:nvSpPr>
          <p:cNvPr id="10" name="Text 8"/>
          <p:cNvSpPr/>
          <p:nvPr/>
        </p:nvSpPr>
        <p:spPr>
          <a:xfrm>
            <a:off x="3246120" y="1755648"/>
            <a:ext cx="2468880" cy="503834"/>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Variables structurées</a:t>
            </a:r>
            <a:endParaRPr lang="en-US" sz="950" dirty="0"/>
          </a:p>
        </p:txBody>
      </p:sp>
      <p:sp>
        <p:nvSpPr>
          <p:cNvPr id="11" name="Shape 9"/>
          <p:cNvSpPr/>
          <p:nvPr/>
        </p:nvSpPr>
        <p:spPr>
          <a:xfrm>
            <a:off x="6035040" y="960120"/>
            <a:ext cx="2651760" cy="1325880"/>
          </a:xfrm>
          <a:prstGeom prst="rect">
            <a:avLst/>
          </a:prstGeom>
          <a:solidFill>
            <a:srgbClr val="FFFFFF"/>
          </a:solidFill>
          <a:ln w="25400">
            <a:solidFill>
              <a:srgbClr val="1A9BAF"/>
            </a:solidFill>
            <a:prstDash val="solid"/>
          </a:ln>
          <a:effectLst>
            <a:outerShdw blurRad="76200" dist="25400" dir="8100000" algn="bl" rotWithShape="0">
              <a:srgbClr val="000000">
                <a:alpha val="10000"/>
              </a:srgbClr>
            </a:outerShdw>
          </a:effectLst>
        </p:spPr>
      </p:sp>
      <p:sp>
        <p:nvSpPr>
          <p:cNvPr id="12" name="Text 10"/>
          <p:cNvSpPr/>
          <p:nvPr/>
        </p:nvSpPr>
        <p:spPr>
          <a:xfrm>
            <a:off x="6126480" y="1051560"/>
            <a:ext cx="2468880" cy="729234"/>
          </a:xfrm>
          <a:prstGeom prst="rect">
            <a:avLst/>
          </a:prstGeom>
          <a:noFill/>
          <a:ln/>
        </p:spPr>
        <p:txBody>
          <a:bodyPr wrap="square" lIns="0" tIns="0" rIns="0" bIns="0" rtlCol="0" anchor="b"/>
          <a:lstStyle/>
          <a:p>
            <a:pPr marL="0" indent="0" algn="ctr">
              <a:buNone/>
            </a:pPr>
            <a:r>
              <a:rPr lang="en-US" sz="2800" b="1" dirty="0">
                <a:solidFill>
                  <a:srgbClr val="1A9BAF"/>
                </a:solidFill>
                <a:latin typeface="Calibri" pitchFamily="34" charset="0"/>
                <a:ea typeface="Calibri" pitchFamily="34" charset="-122"/>
                <a:cs typeface="Calibri" pitchFamily="34" charset="-120"/>
              </a:rPr>
              <a:t>115</a:t>
            </a:r>
            <a:endParaRPr lang="en-US" sz="2800" dirty="0"/>
          </a:p>
        </p:txBody>
      </p:sp>
      <p:sp>
        <p:nvSpPr>
          <p:cNvPr id="13" name="Text 11"/>
          <p:cNvSpPr/>
          <p:nvPr/>
        </p:nvSpPr>
        <p:spPr>
          <a:xfrm>
            <a:off x="6126480" y="1755648"/>
            <a:ext cx="2468880" cy="503834"/>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Entités géographiques</a:t>
            </a:r>
            <a:endParaRPr lang="en-US" sz="950" dirty="0"/>
          </a:p>
        </p:txBody>
      </p:sp>
      <p:sp>
        <p:nvSpPr>
          <p:cNvPr id="14" name="Shape 12"/>
          <p:cNvSpPr/>
          <p:nvPr/>
        </p:nvSpPr>
        <p:spPr>
          <a:xfrm>
            <a:off x="274320" y="2468880"/>
            <a:ext cx="2651760" cy="1325880"/>
          </a:xfrm>
          <a:prstGeom prst="rect">
            <a:avLst/>
          </a:prstGeom>
          <a:solidFill>
            <a:srgbClr val="FFFFFF"/>
          </a:solidFill>
          <a:ln w="25400">
            <a:solidFill>
              <a:srgbClr val="27AE60"/>
            </a:solidFill>
            <a:prstDash val="solid"/>
          </a:ln>
          <a:effectLst>
            <a:outerShdw blurRad="76200" dist="25400" dir="8100000" algn="bl" rotWithShape="0">
              <a:srgbClr val="000000">
                <a:alpha val="10000"/>
              </a:srgbClr>
            </a:outerShdw>
          </a:effectLst>
        </p:spPr>
      </p:sp>
      <p:sp>
        <p:nvSpPr>
          <p:cNvPr id="15" name="Text 13"/>
          <p:cNvSpPr/>
          <p:nvPr/>
        </p:nvSpPr>
        <p:spPr>
          <a:xfrm>
            <a:off x="365760" y="2560320"/>
            <a:ext cx="2468880" cy="729234"/>
          </a:xfrm>
          <a:prstGeom prst="rect">
            <a:avLst/>
          </a:prstGeom>
          <a:noFill/>
          <a:ln/>
        </p:spPr>
        <p:txBody>
          <a:bodyPr wrap="square" lIns="0" tIns="0" rIns="0" bIns="0" rtlCol="0" anchor="b"/>
          <a:lstStyle/>
          <a:p>
            <a:pPr marL="0" indent="0" algn="ctr">
              <a:buNone/>
            </a:pPr>
            <a:r>
              <a:rPr lang="en-US" sz="2800" b="1" dirty="0">
                <a:solidFill>
                  <a:srgbClr val="27AE60"/>
                </a:solidFill>
                <a:latin typeface="Calibri" pitchFamily="34" charset="0"/>
                <a:ea typeface="Calibri" pitchFamily="34" charset="-122"/>
                <a:cs typeface="Calibri" pitchFamily="34" charset="-120"/>
              </a:rPr>
              <a:t>2000–2023</a:t>
            </a:r>
            <a:endParaRPr lang="en-US" sz="2800" dirty="0"/>
          </a:p>
        </p:txBody>
      </p:sp>
      <p:sp>
        <p:nvSpPr>
          <p:cNvPr id="16" name="Text 14"/>
          <p:cNvSpPr/>
          <p:nvPr/>
        </p:nvSpPr>
        <p:spPr>
          <a:xfrm>
            <a:off x="365760" y="3264408"/>
            <a:ext cx="2468880" cy="503834"/>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Plage temporelle (24 ans)</a:t>
            </a:r>
            <a:endParaRPr lang="en-US" sz="950" dirty="0"/>
          </a:p>
        </p:txBody>
      </p:sp>
      <p:sp>
        <p:nvSpPr>
          <p:cNvPr id="17" name="Shape 15"/>
          <p:cNvSpPr/>
          <p:nvPr/>
        </p:nvSpPr>
        <p:spPr>
          <a:xfrm>
            <a:off x="3154680" y="2468880"/>
            <a:ext cx="2651760" cy="1325880"/>
          </a:xfrm>
          <a:prstGeom prst="rect">
            <a:avLst/>
          </a:prstGeom>
          <a:solidFill>
            <a:srgbClr val="FFFFFF"/>
          </a:solidFill>
          <a:ln w="25400">
            <a:solidFill>
              <a:srgbClr val="27AE60"/>
            </a:solidFill>
            <a:prstDash val="solid"/>
          </a:ln>
          <a:effectLst>
            <a:outerShdw blurRad="76200" dist="25400" dir="8100000" algn="bl" rotWithShape="0">
              <a:srgbClr val="000000">
                <a:alpha val="10000"/>
              </a:srgbClr>
            </a:outerShdw>
          </a:effectLst>
        </p:spPr>
      </p:sp>
      <p:sp>
        <p:nvSpPr>
          <p:cNvPr id="18" name="Text 16"/>
          <p:cNvSpPr/>
          <p:nvPr/>
        </p:nvSpPr>
        <p:spPr>
          <a:xfrm>
            <a:off x="3246120" y="2560320"/>
            <a:ext cx="2468880" cy="729234"/>
          </a:xfrm>
          <a:prstGeom prst="rect">
            <a:avLst/>
          </a:prstGeom>
          <a:noFill/>
          <a:ln/>
        </p:spPr>
        <p:txBody>
          <a:bodyPr wrap="square" lIns="0" tIns="0" rIns="0" bIns="0" rtlCol="0" anchor="b"/>
          <a:lstStyle/>
          <a:p>
            <a:pPr marL="0" indent="0" algn="ctr">
              <a:buNone/>
            </a:pPr>
            <a:r>
              <a:rPr lang="en-US" sz="2800" b="1" dirty="0">
                <a:solidFill>
                  <a:srgbClr val="27AE60"/>
                </a:solidFill>
                <a:latin typeface="Calibri" pitchFamily="34" charset="0"/>
                <a:ea typeface="Calibri" pitchFamily="34" charset="-122"/>
                <a:cs typeface="Calibri" pitchFamily="34" charset="-120"/>
              </a:rPr>
              <a:t>0 %</a:t>
            </a:r>
            <a:endParaRPr lang="en-US" sz="2800" dirty="0"/>
          </a:p>
        </p:txBody>
      </p:sp>
      <p:sp>
        <p:nvSpPr>
          <p:cNvPr id="19" name="Text 17"/>
          <p:cNvSpPr/>
          <p:nvPr/>
        </p:nvSpPr>
        <p:spPr>
          <a:xfrm>
            <a:off x="3246120" y="3264408"/>
            <a:ext cx="2468880" cy="503834"/>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Données manquantes (cas_point)</a:t>
            </a:r>
            <a:endParaRPr lang="en-US" sz="950" dirty="0"/>
          </a:p>
        </p:txBody>
      </p:sp>
      <p:sp>
        <p:nvSpPr>
          <p:cNvPr id="20" name="Shape 18"/>
          <p:cNvSpPr/>
          <p:nvPr/>
        </p:nvSpPr>
        <p:spPr>
          <a:xfrm>
            <a:off x="6035040" y="2468880"/>
            <a:ext cx="2651760" cy="1325880"/>
          </a:xfrm>
          <a:prstGeom prst="rect">
            <a:avLst/>
          </a:prstGeom>
          <a:solidFill>
            <a:srgbClr val="FFFFFF"/>
          </a:solidFill>
          <a:ln w="25400">
            <a:solidFill>
              <a:srgbClr val="E67E22"/>
            </a:solidFill>
            <a:prstDash val="solid"/>
          </a:ln>
          <a:effectLst>
            <a:outerShdw blurRad="76200" dist="25400" dir="8100000" algn="bl" rotWithShape="0">
              <a:srgbClr val="000000">
                <a:alpha val="10000"/>
              </a:srgbClr>
            </a:outerShdw>
          </a:effectLst>
        </p:spPr>
      </p:sp>
      <p:sp>
        <p:nvSpPr>
          <p:cNvPr id="21" name="Text 19"/>
          <p:cNvSpPr/>
          <p:nvPr/>
        </p:nvSpPr>
        <p:spPr>
          <a:xfrm>
            <a:off x="6126480" y="2560320"/>
            <a:ext cx="2468880" cy="729234"/>
          </a:xfrm>
          <a:prstGeom prst="rect">
            <a:avLst/>
          </a:prstGeom>
          <a:noFill/>
          <a:ln/>
        </p:spPr>
        <p:txBody>
          <a:bodyPr wrap="square" lIns="0" tIns="0" rIns="0" bIns="0" rtlCol="0" anchor="b"/>
          <a:lstStyle/>
          <a:p>
            <a:pPr marL="0" indent="0" algn="ctr">
              <a:buNone/>
            </a:pPr>
            <a:r>
              <a:rPr lang="en-US" sz="2800" b="1" dirty="0">
                <a:solidFill>
                  <a:srgbClr val="E67E22"/>
                </a:solidFill>
                <a:latin typeface="Calibri" pitchFamily="34" charset="0"/>
                <a:ea typeface="Calibri" pitchFamily="34" charset="-122"/>
                <a:cs typeface="Calibri" pitchFamily="34" charset="-120"/>
              </a:rPr>
              <a:t>36–44 %</a:t>
            </a:r>
            <a:endParaRPr lang="en-US" sz="2800" dirty="0"/>
          </a:p>
        </p:txBody>
      </p:sp>
      <p:sp>
        <p:nvSpPr>
          <p:cNvPr id="22" name="Text 20"/>
          <p:cNvSpPr/>
          <p:nvPr/>
        </p:nvSpPr>
        <p:spPr>
          <a:xfrm>
            <a:off x="6126480" y="3264408"/>
            <a:ext cx="2468880" cy="503834"/>
          </a:xfrm>
          <a:prstGeom prst="rect">
            <a:avLst/>
          </a:prstGeom>
          <a:noFill/>
          <a:ln/>
        </p:spPr>
        <p:txBody>
          <a:bodyPr wrap="square" lIns="0" tIns="0" rIns="0" bIns="0" rtlCol="0" anchor="t"/>
          <a:lstStyle/>
          <a:p>
            <a:pPr marL="0" indent="0" algn="ctr">
              <a:buNone/>
            </a:pPr>
            <a:r>
              <a:rPr lang="en-US" sz="950" dirty="0">
                <a:solidFill>
                  <a:srgbClr val="64748B"/>
                </a:solidFill>
                <a:latin typeface="Calibri" pitchFamily="34" charset="0"/>
                <a:ea typeface="Calibri" pitchFamily="34" charset="-122"/>
                <a:cs typeface="Calibri" pitchFamily="34" charset="-120"/>
              </a:rPr>
              <a:t>NA sur bornes IC95%</a:t>
            </a:r>
            <a:endParaRPr lang="en-US" sz="950" dirty="0"/>
          </a:p>
          <a:p>
            <a:pPr marL="0" indent="0" algn="ctr">
              <a:buNone/>
            </a:pPr>
            <a:r>
              <a:rPr lang="en-US" sz="950" dirty="0">
                <a:solidFill>
                  <a:srgbClr val="64748B"/>
                </a:solidFill>
                <a:latin typeface="Calibri" pitchFamily="34" charset="0"/>
                <a:ea typeface="Calibri" pitchFamily="34" charset="-122"/>
                <a:cs typeface="Calibri" pitchFamily="34" charset="-120"/>
              </a:rPr>
              <a:t>(pays NMP uniquement)</a:t>
            </a:r>
            <a:endParaRPr lang="en-US" sz="950" dirty="0"/>
          </a:p>
        </p:txBody>
      </p:sp>
      <p:sp>
        <p:nvSpPr>
          <p:cNvPr id="23" name="Shape 21"/>
          <p:cNvSpPr/>
          <p:nvPr/>
        </p:nvSpPr>
        <p:spPr>
          <a:xfrm>
            <a:off x="274320" y="4114800"/>
            <a:ext cx="8595360" cy="640080"/>
          </a:xfrm>
          <a:prstGeom prst="rect">
            <a:avLst/>
          </a:prstGeom>
          <a:solidFill>
            <a:srgbClr val="FFFFFF"/>
          </a:solidFill>
          <a:ln w="12700">
            <a:solidFill>
              <a:srgbClr val="1A9BAF"/>
            </a:solidFill>
            <a:prstDash val="solid"/>
          </a:ln>
        </p:spPr>
      </p:sp>
      <p:sp>
        <p:nvSpPr>
          <p:cNvPr id="24" name="Text 22"/>
          <p:cNvSpPr/>
          <p:nvPr/>
        </p:nvSpPr>
        <p:spPr>
          <a:xfrm>
            <a:off x="411480" y="4142232"/>
            <a:ext cx="8321040" cy="576072"/>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Interprétation One Health : </a:t>
            </a:r>
            <a:r>
              <a:rPr lang="en-US" sz="950" dirty="0">
                <a:solidFill>
                  <a:srgbClr val="1A2B3C"/>
                </a:solidFill>
                <a:latin typeface="Calibri" pitchFamily="34" charset="0"/>
                <a:ea typeface="Calibri" pitchFamily="34" charset="-122"/>
                <a:cs typeface="Calibri" pitchFamily="34" charset="-120"/>
              </a:rPr>
              <a:t>Les 36–44 % de NA sur les bornes IC95% (cas_estimes_inf/sup et deces_estimes_inf/sup) correspondent aux pays pour lesquels l'OMS ne dispose que de données de programmes nationaux (NMP) sans modélisation statistique de l'incertitude. Ces pays doivent être traités avec précaution lors du couplage avec des données environnementales (NDVI, précipitations, zones humides).</a:t>
            </a:r>
            <a:endParaRPr lang="en-US" sz="950" dirty="0"/>
          </a:p>
        </p:txBody>
      </p:sp>
      <p:sp>
        <p:nvSpPr>
          <p:cNvPr id="25" name="Shape 23"/>
          <p:cNvSpPr/>
          <p:nvPr/>
        </p:nvSpPr>
        <p:spPr>
          <a:xfrm>
            <a:off x="0" y="4892040"/>
            <a:ext cx="9144000" cy="251460"/>
          </a:xfrm>
          <a:prstGeom prst="rect">
            <a:avLst/>
          </a:prstGeom>
          <a:solidFill>
            <a:srgbClr val="E8EEF2"/>
          </a:solidFill>
          <a:ln w="12700">
            <a:solidFill>
              <a:srgbClr val="E8EEF2"/>
            </a:solidFill>
            <a:prstDash val="solid"/>
          </a:ln>
        </p:spPr>
      </p:sp>
      <p:sp>
        <p:nvSpPr>
          <p:cNvPr id="26" name="Text 24"/>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EDA — Diagnostic Structurel &amp; Analyse des Valeurs Manquantes</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Fonctions plot_str() et plot_missing() — Package DataExplorer</a:t>
            </a:r>
            <a:endParaRPr lang="en-US" sz="1100" dirty="0"/>
          </a:p>
        </p:txBody>
      </p:sp>
      <p:pic>
        <p:nvPicPr>
          <p:cNvPr id="5" name="Image 0" descr="preencoded.png"/>
          <p:cNvPicPr>
            <a:picLocks noChangeAspect="1"/>
          </p:cNvPicPr>
          <p:nvPr/>
        </p:nvPicPr>
        <p:blipFill>
          <a:blip r:embed="rId3"/>
          <a:stretch>
            <a:fillRect/>
          </a:stretch>
        </p:blipFill>
        <p:spPr>
          <a:xfrm>
            <a:off x="228600" y="914400"/>
            <a:ext cx="4114800" cy="2331720"/>
          </a:xfrm>
          <a:prstGeom prst="rect">
            <a:avLst/>
          </a:prstGeom>
        </p:spPr>
      </p:pic>
      <p:sp>
        <p:nvSpPr>
          <p:cNvPr id="6" name="Text 3"/>
          <p:cNvSpPr/>
          <p:nvPr/>
        </p:nvSpPr>
        <p:spPr>
          <a:xfrm>
            <a:off x="228600" y="3291840"/>
            <a:ext cx="4114800" cy="256032"/>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1 — Structure de la base (plot_str)</a:t>
            </a:r>
            <a:endParaRPr lang="en-US" sz="850" dirty="0"/>
          </a:p>
        </p:txBody>
      </p:sp>
      <p:pic>
        <p:nvPicPr>
          <p:cNvPr id="7" name="Image 1" descr="preencoded.png"/>
          <p:cNvPicPr>
            <a:picLocks noChangeAspect="1"/>
          </p:cNvPicPr>
          <p:nvPr/>
        </p:nvPicPr>
        <p:blipFill>
          <a:blip r:embed="rId4"/>
          <a:stretch>
            <a:fillRect/>
          </a:stretch>
        </p:blipFill>
        <p:spPr>
          <a:xfrm>
            <a:off x="4526280" y="914400"/>
            <a:ext cx="4389120" cy="2331720"/>
          </a:xfrm>
          <a:prstGeom prst="rect">
            <a:avLst/>
          </a:prstGeom>
        </p:spPr>
      </p:pic>
      <p:sp>
        <p:nvSpPr>
          <p:cNvPr id="8" name="Text 4"/>
          <p:cNvSpPr/>
          <p:nvPr/>
        </p:nvSpPr>
        <p:spPr>
          <a:xfrm>
            <a:off x="4526280" y="3291840"/>
            <a:ext cx="4389120" cy="256032"/>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2 — Valeurs manquantes (plot_missing)</a:t>
            </a:r>
            <a:endParaRPr lang="en-US" sz="850" dirty="0"/>
          </a:p>
        </p:txBody>
      </p:sp>
      <p:sp>
        <p:nvSpPr>
          <p:cNvPr id="9" name="Shape 5"/>
          <p:cNvSpPr/>
          <p:nvPr/>
        </p:nvSpPr>
        <p:spPr>
          <a:xfrm>
            <a:off x="228600" y="3657600"/>
            <a:ext cx="8686800" cy="1005840"/>
          </a:xfrm>
          <a:prstGeom prst="rect">
            <a:avLst/>
          </a:prstGeom>
          <a:solidFill>
            <a:srgbClr val="D4F0F0"/>
          </a:solidFill>
          <a:ln w="12700">
            <a:solidFill>
              <a:srgbClr val="1A9BAF"/>
            </a:solidFill>
            <a:prstDash val="solid"/>
          </a:ln>
        </p:spPr>
      </p:sp>
      <p:sp>
        <p:nvSpPr>
          <p:cNvPr id="10" name="Text 6"/>
          <p:cNvSpPr/>
          <p:nvPr/>
        </p:nvSpPr>
        <p:spPr>
          <a:xfrm>
            <a:off x="365760" y="3703320"/>
            <a:ext cx="8412480" cy="914400"/>
          </a:xfrm>
          <a:prstGeom prst="rect">
            <a:avLst/>
          </a:prstGeom>
          <a:noFill/>
          <a:ln/>
        </p:spPr>
        <p:txBody>
          <a:bodyPr wrap="square" lIns="0" tIns="0" rIns="0" bIns="0" rtlCol="0" anchor="ctr"/>
          <a:lstStyle/>
          <a:p>
            <a:pPr marL="0" indent="0">
              <a:buNone/>
            </a:pPr>
            <a:r>
              <a:rPr lang="en-US" sz="950" b="1" dirty="0">
                <a:solidFill>
                  <a:srgbClr val="0D2B55"/>
                </a:solidFill>
                <a:latin typeface="Calibri" pitchFamily="34" charset="0"/>
                <a:ea typeface="Calibri" pitchFamily="34" charset="-122"/>
                <a:cs typeface="Calibri" pitchFamily="34" charset="-120"/>
              </a:rPr>
              <a:t>Lecture : </a:t>
            </a:r>
            <a:r>
              <a:rPr lang="en-US" sz="950" dirty="0">
                <a:solidFill>
                  <a:srgbClr val="1A2B3C"/>
                </a:solidFill>
                <a:latin typeface="Calibri" pitchFamily="34" charset="0"/>
                <a:ea typeface="Calibri" pitchFamily="34" charset="-122"/>
                <a:cs typeface="Calibri" pitchFamily="34" charset="-120"/>
              </a:rPr>
              <a:t>La base reconstruite compte 2 760 lignes × 9 variables. Les variables centrales (region_pays, annee, population_a_risque, cas_estimes_point, deces_estimes_point) présentent 0 % de manquants — confirmant la robustesse de la reconstruction par fill-down. Les bornes de l'IC95% (cas_estimes_inf/sup, deces_estimes_inf/sup) affichent 36–44 % de NA, correspondant aux pays classés « Band: Bad » sur le graphique DataExplorer. Ces lacunes sont structurelles (pays NMP sans modélisation statistique) et non liées à un problème de nettoyage.</a:t>
            </a:r>
            <a:endParaRPr lang="en-US" sz="950" dirty="0"/>
          </a:p>
        </p:txBody>
      </p:sp>
      <p:sp>
        <p:nvSpPr>
          <p:cNvPr id="11" name="Shape 7"/>
          <p:cNvSpPr/>
          <p:nvPr/>
        </p:nvSpPr>
        <p:spPr>
          <a:xfrm>
            <a:off x="0" y="4892040"/>
            <a:ext cx="9144000" cy="251460"/>
          </a:xfrm>
          <a:prstGeom prst="rect">
            <a:avLst/>
          </a:prstGeom>
          <a:solidFill>
            <a:srgbClr val="E8EEF2"/>
          </a:solidFill>
          <a:ln w="12700">
            <a:solidFill>
              <a:srgbClr val="E8EEF2"/>
            </a:solidFill>
            <a:prstDash val="solid"/>
          </a:ln>
        </p:spPr>
      </p:sp>
      <p:sp>
        <p:nvSpPr>
          <p:cNvPr id="12" name="Text 8"/>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EDA — Distributions des Variables Numériques</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Fonction plot_histogram() — Asymétrie typique des données épidémiologiques mondiales</a:t>
            </a:r>
            <a:endParaRPr lang="en-US" sz="1100" dirty="0"/>
          </a:p>
        </p:txBody>
      </p:sp>
      <p:pic>
        <p:nvPicPr>
          <p:cNvPr id="5" name="Image 0" descr="preencoded.png"/>
          <p:cNvPicPr>
            <a:picLocks noChangeAspect="1"/>
          </p:cNvPicPr>
          <p:nvPr/>
        </p:nvPicPr>
        <p:blipFill>
          <a:blip r:embed="rId3"/>
          <a:stretch>
            <a:fillRect/>
          </a:stretch>
        </p:blipFill>
        <p:spPr>
          <a:xfrm>
            <a:off x="228600" y="777240"/>
            <a:ext cx="5943600" cy="3337560"/>
          </a:xfrm>
          <a:prstGeom prst="rect">
            <a:avLst/>
          </a:prstGeom>
        </p:spPr>
      </p:pic>
      <p:sp>
        <p:nvSpPr>
          <p:cNvPr id="6" name="Text 3"/>
          <p:cNvSpPr/>
          <p:nvPr/>
        </p:nvSpPr>
        <p:spPr>
          <a:xfrm>
            <a:off x="228600" y="4133088"/>
            <a:ext cx="5943600" cy="228600"/>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3 — Histogrammes automatiques (DataExplorer)</a:t>
            </a:r>
            <a:endParaRPr lang="en-US" sz="850" dirty="0"/>
          </a:p>
        </p:txBody>
      </p:sp>
      <p:sp>
        <p:nvSpPr>
          <p:cNvPr id="7" name="Shape 4"/>
          <p:cNvSpPr/>
          <p:nvPr/>
        </p:nvSpPr>
        <p:spPr>
          <a:xfrm>
            <a:off x="6355080" y="777240"/>
            <a:ext cx="2560320" cy="3794760"/>
          </a:xfrm>
          <a:prstGeom prst="rect">
            <a:avLst/>
          </a:prstGeom>
          <a:solidFill>
            <a:srgbClr val="FFFFFF"/>
          </a:solidFill>
          <a:ln w="12700">
            <a:solidFill>
              <a:srgbClr val="E8EEF2"/>
            </a:solidFill>
            <a:prstDash val="solid"/>
          </a:ln>
          <a:effectLst>
            <a:outerShdw blurRad="63500" dist="25400" dir="8100000" algn="bl" rotWithShape="0">
              <a:srgbClr val="000000">
                <a:alpha val="8000"/>
              </a:srgbClr>
            </a:outerShdw>
          </a:effectLst>
        </p:spPr>
      </p:sp>
      <p:sp>
        <p:nvSpPr>
          <p:cNvPr id="8" name="Text 5"/>
          <p:cNvSpPr/>
          <p:nvPr/>
        </p:nvSpPr>
        <p:spPr>
          <a:xfrm>
            <a:off x="6355080" y="777240"/>
            <a:ext cx="2560320" cy="320040"/>
          </a:xfrm>
          <a:prstGeom prst="rect">
            <a:avLst/>
          </a:prstGeom>
          <a:solidFill>
            <a:srgbClr val="0D2B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INTERPRÉTATION</a:t>
            </a:r>
            <a:endParaRPr lang="en-US" sz="1000" dirty="0"/>
          </a:p>
        </p:txBody>
      </p:sp>
      <p:sp>
        <p:nvSpPr>
          <p:cNvPr id="9" name="Text 6"/>
          <p:cNvSpPr/>
          <p:nvPr/>
        </p:nvSpPr>
        <p:spPr>
          <a:xfrm>
            <a:off x="6446520" y="1188720"/>
            <a:ext cx="2377440" cy="749808"/>
          </a:xfrm>
          <a:prstGeom prst="rect">
            <a:avLst/>
          </a:prstGeom>
          <a:noFill/>
          <a:ln/>
        </p:spPr>
        <p:txBody>
          <a:bodyPr wrap="square" lIns="0" tIns="0" rIns="0" bIns="0" rtlCol="0" anchor="t"/>
          <a:lstStyle/>
          <a:p>
            <a:pPr marL="0" indent="0">
              <a:buNone/>
            </a:pPr>
            <a:r>
              <a:rPr lang="en-US" sz="900" dirty="0">
                <a:solidFill>
                  <a:srgbClr val="1A2B3C"/>
                </a:solidFill>
                <a:latin typeface="Calibri" pitchFamily="34" charset="0"/>
                <a:ea typeface="Calibri" pitchFamily="34" charset="-122"/>
                <a:cs typeface="Calibri" pitchFamily="34" charset="-120"/>
              </a:rPr>
              <a:t>📊  Toutes les variables épidémiologiques présentent une asymétrie positive (right-skew) très marquée.</a:t>
            </a:r>
            <a:endParaRPr lang="en-US" sz="900" dirty="0"/>
          </a:p>
        </p:txBody>
      </p:sp>
      <p:sp>
        <p:nvSpPr>
          <p:cNvPr id="10" name="Text 7"/>
          <p:cNvSpPr/>
          <p:nvPr/>
        </p:nvSpPr>
        <p:spPr>
          <a:xfrm>
            <a:off x="6446520" y="1993392"/>
            <a:ext cx="2377440" cy="749808"/>
          </a:xfrm>
          <a:prstGeom prst="rect">
            <a:avLst/>
          </a:prstGeom>
          <a:noFill/>
          <a:ln/>
        </p:spPr>
        <p:txBody>
          <a:bodyPr wrap="square" lIns="0" tIns="0" rIns="0" bIns="0" rtlCol="0" anchor="t"/>
          <a:lstStyle/>
          <a:p>
            <a:pPr marL="0" indent="0">
              <a:buNone/>
            </a:pPr>
            <a:r>
              <a:rPr lang="en-US" sz="900" dirty="0">
                <a:solidFill>
                  <a:srgbClr val="1A2B3C"/>
                </a:solidFill>
                <a:latin typeface="Calibri" pitchFamily="34" charset="0"/>
                <a:ea typeface="Calibri" pitchFamily="34" charset="-122"/>
                <a:cs typeface="Calibri" pitchFamily="34" charset="-120"/>
              </a:rPr>
              <a:t>🌍  Quelques pays d'Afrique subsaharienne concentrent la quasi-totalité de la charge mondiale.</a:t>
            </a:r>
            <a:endParaRPr lang="en-US" sz="900" dirty="0"/>
          </a:p>
        </p:txBody>
      </p:sp>
      <p:sp>
        <p:nvSpPr>
          <p:cNvPr id="11" name="Text 8"/>
          <p:cNvSpPr/>
          <p:nvPr/>
        </p:nvSpPr>
        <p:spPr>
          <a:xfrm>
            <a:off x="6446520" y="2798064"/>
            <a:ext cx="2377440" cy="749808"/>
          </a:xfrm>
          <a:prstGeom prst="rect">
            <a:avLst/>
          </a:prstGeom>
          <a:noFill/>
          <a:ln/>
        </p:spPr>
        <p:txBody>
          <a:bodyPr wrap="square" lIns="0" tIns="0" rIns="0" bIns="0" rtlCol="0" anchor="t"/>
          <a:lstStyle/>
          <a:p>
            <a:pPr marL="0" indent="0">
              <a:buNone/>
            </a:pPr>
            <a:r>
              <a:rPr lang="en-US" sz="900" dirty="0">
                <a:solidFill>
                  <a:srgbClr val="1A2B3C"/>
                </a:solidFill>
                <a:latin typeface="Calibri" pitchFamily="34" charset="0"/>
                <a:ea typeface="Calibri" pitchFamily="34" charset="-122"/>
                <a:cs typeface="Calibri" pitchFamily="34" charset="-120"/>
              </a:rPr>
              <a:t>📅  La variable annee est uniformément distribuée : 115 pays × 24 ans = 2 760 observations équilibrées.</a:t>
            </a:r>
            <a:endParaRPr lang="en-US" sz="900" dirty="0"/>
          </a:p>
        </p:txBody>
      </p:sp>
      <p:sp>
        <p:nvSpPr>
          <p:cNvPr id="12" name="Text 9"/>
          <p:cNvSpPr/>
          <p:nvPr/>
        </p:nvSpPr>
        <p:spPr>
          <a:xfrm>
            <a:off x="6446520" y="3602736"/>
            <a:ext cx="2377440" cy="749808"/>
          </a:xfrm>
          <a:prstGeom prst="rect">
            <a:avLst/>
          </a:prstGeom>
          <a:noFill/>
          <a:ln/>
        </p:spPr>
        <p:txBody>
          <a:bodyPr wrap="square" lIns="0" tIns="0" rIns="0" bIns="0" rtlCol="0" anchor="t"/>
          <a:lstStyle/>
          <a:p>
            <a:pPr marL="0" indent="0">
              <a:buNone/>
            </a:pPr>
            <a:r>
              <a:rPr lang="en-US" sz="900" dirty="0">
                <a:solidFill>
                  <a:srgbClr val="1A2B3C"/>
                </a:solidFill>
                <a:latin typeface="Calibri" pitchFamily="34" charset="0"/>
                <a:ea typeface="Calibri" pitchFamily="34" charset="-122"/>
                <a:cs typeface="Calibri" pitchFamily="34" charset="-120"/>
              </a:rPr>
              <a:t>⚠️  Implication ArcGIS : utiliser la méthode Natural Breaks (Jenks) et non Equal Interval pour la symbologie choroplèthe.</a:t>
            </a:r>
            <a:endParaRPr lang="en-US" sz="900" dirty="0"/>
          </a:p>
        </p:txBody>
      </p:sp>
      <p:sp>
        <p:nvSpPr>
          <p:cNvPr id="13" name="Shape 10"/>
          <p:cNvSpPr/>
          <p:nvPr/>
        </p:nvSpPr>
        <p:spPr>
          <a:xfrm>
            <a:off x="0" y="4892040"/>
            <a:ext cx="9144000" cy="251460"/>
          </a:xfrm>
          <a:prstGeom prst="rect">
            <a:avLst/>
          </a:prstGeom>
          <a:solidFill>
            <a:srgbClr val="E8EEF2"/>
          </a:solidFill>
          <a:ln w="12700">
            <a:solidFill>
              <a:srgbClr val="E8EEF2"/>
            </a:solidFill>
            <a:prstDash val="solid"/>
          </a:ln>
        </p:spPr>
      </p:sp>
      <p:sp>
        <p:nvSpPr>
          <p:cNvPr id="14" name="Text 11"/>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EDA — Matrice de Corrélation entre Variables Épidémiologiques</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Fonction plot_correlation() — Cohérence interne de la base OMS</a:t>
            </a:r>
            <a:endParaRPr lang="en-US" sz="1100" dirty="0"/>
          </a:p>
        </p:txBody>
      </p:sp>
      <p:pic>
        <p:nvPicPr>
          <p:cNvPr id="5" name="Image 0" descr="preencoded.png"/>
          <p:cNvPicPr>
            <a:picLocks noChangeAspect="1"/>
          </p:cNvPicPr>
          <p:nvPr/>
        </p:nvPicPr>
        <p:blipFill>
          <a:blip r:embed="rId3"/>
          <a:stretch>
            <a:fillRect/>
          </a:stretch>
        </p:blipFill>
        <p:spPr>
          <a:xfrm>
            <a:off x="228600" y="777240"/>
            <a:ext cx="5303520" cy="3657600"/>
          </a:xfrm>
          <a:prstGeom prst="rect">
            <a:avLst/>
          </a:prstGeom>
        </p:spPr>
      </p:pic>
      <p:sp>
        <p:nvSpPr>
          <p:cNvPr id="6" name="Text 3"/>
          <p:cNvSpPr/>
          <p:nvPr/>
        </p:nvSpPr>
        <p:spPr>
          <a:xfrm>
            <a:off x="228600" y="4453128"/>
            <a:ext cx="5303520" cy="228600"/>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4 — Matrice de corrélation (Pearson)</a:t>
            </a:r>
            <a:endParaRPr lang="en-US" sz="850" dirty="0"/>
          </a:p>
        </p:txBody>
      </p:sp>
      <p:sp>
        <p:nvSpPr>
          <p:cNvPr id="7" name="Shape 4"/>
          <p:cNvSpPr/>
          <p:nvPr/>
        </p:nvSpPr>
        <p:spPr>
          <a:xfrm>
            <a:off x="5715000" y="914400"/>
            <a:ext cx="3200400" cy="713232"/>
          </a:xfrm>
          <a:prstGeom prst="rect">
            <a:avLst/>
          </a:prstGeom>
          <a:solidFill>
            <a:srgbClr val="FFFFFF"/>
          </a:solidFill>
          <a:ln w="19050">
            <a:solidFill>
              <a:srgbClr val="27AE60"/>
            </a:solidFill>
            <a:prstDash val="solid"/>
          </a:ln>
          <a:effectLst>
            <a:outerShdw blurRad="50800" dist="12700" dir="8100000" algn="bl" rotWithShape="0">
              <a:srgbClr val="000000">
                <a:alpha val="8000"/>
              </a:srgbClr>
            </a:outerShdw>
          </a:effectLst>
        </p:spPr>
      </p:sp>
      <p:sp>
        <p:nvSpPr>
          <p:cNvPr id="8" name="Text 5"/>
          <p:cNvSpPr/>
          <p:nvPr/>
        </p:nvSpPr>
        <p:spPr>
          <a:xfrm>
            <a:off x="5806440" y="950976"/>
            <a:ext cx="3017520" cy="256032"/>
          </a:xfrm>
          <a:prstGeom prst="rect">
            <a:avLst/>
          </a:prstGeom>
          <a:noFill/>
          <a:ln/>
        </p:spPr>
        <p:txBody>
          <a:bodyPr wrap="square" lIns="0" tIns="0" rIns="0" bIns="0" rtlCol="0" anchor="ctr"/>
          <a:lstStyle/>
          <a:p>
            <a:pPr marL="0" indent="0">
              <a:buNone/>
            </a:pPr>
            <a:r>
              <a:rPr lang="en-US" sz="950" b="1" dirty="0">
                <a:solidFill>
                  <a:srgbClr val="27AE60"/>
                </a:solidFill>
                <a:latin typeface="Calibri" pitchFamily="34" charset="0"/>
                <a:ea typeface="Calibri" pitchFamily="34" charset="-122"/>
                <a:cs typeface="Calibri" pitchFamily="34" charset="-120"/>
              </a:rPr>
              <a:t>cas_point ↔ cas_inf/sup</a:t>
            </a:r>
            <a:endParaRPr lang="en-US" sz="950" dirty="0"/>
          </a:p>
        </p:txBody>
      </p:sp>
      <p:sp>
        <p:nvSpPr>
          <p:cNvPr id="9" name="Text 6"/>
          <p:cNvSpPr/>
          <p:nvPr/>
        </p:nvSpPr>
        <p:spPr>
          <a:xfrm>
            <a:off x="5806440" y="1216152"/>
            <a:ext cx="3017520" cy="347472"/>
          </a:xfrm>
          <a:prstGeom prst="rect">
            <a:avLst/>
          </a:prstGeom>
          <a:noFill/>
          <a:ln/>
        </p:spPr>
        <p:txBody>
          <a:bodyPr wrap="square" lIns="0" tIns="0" rIns="0" bIns="0" rtlCol="0" anchor="ctr"/>
          <a:lstStyle/>
          <a:p>
            <a:pPr marL="0" indent="0">
              <a:buNone/>
            </a:pPr>
            <a:r>
              <a:rPr lang="en-US" sz="880" dirty="0">
                <a:solidFill>
                  <a:srgbClr val="1A2B3C"/>
                </a:solidFill>
                <a:latin typeface="Calibri" pitchFamily="34" charset="0"/>
                <a:ea typeface="Calibri" pitchFamily="34" charset="-122"/>
                <a:cs typeface="Calibri" pitchFamily="34" charset="-120"/>
              </a:rPr>
              <a:t>r = 1.00  —  Cohérence parfaite des bornes IC95%</a:t>
            </a:r>
            <a:endParaRPr lang="en-US" sz="880" dirty="0"/>
          </a:p>
        </p:txBody>
      </p:sp>
      <p:sp>
        <p:nvSpPr>
          <p:cNvPr id="10" name="Shape 7"/>
          <p:cNvSpPr/>
          <p:nvPr/>
        </p:nvSpPr>
        <p:spPr>
          <a:xfrm>
            <a:off x="5715000" y="1719072"/>
            <a:ext cx="3200400" cy="713232"/>
          </a:xfrm>
          <a:prstGeom prst="rect">
            <a:avLst/>
          </a:prstGeom>
          <a:solidFill>
            <a:srgbClr val="FFFFFF"/>
          </a:solidFill>
          <a:ln w="19050">
            <a:solidFill>
              <a:srgbClr val="27AE60"/>
            </a:solidFill>
            <a:prstDash val="solid"/>
          </a:ln>
          <a:effectLst>
            <a:outerShdw blurRad="50800" dist="12700" dir="8100000" algn="bl" rotWithShape="0">
              <a:srgbClr val="000000">
                <a:alpha val="8000"/>
              </a:srgbClr>
            </a:outerShdw>
          </a:effectLst>
        </p:spPr>
      </p:sp>
      <p:sp>
        <p:nvSpPr>
          <p:cNvPr id="11" name="Text 8"/>
          <p:cNvSpPr/>
          <p:nvPr/>
        </p:nvSpPr>
        <p:spPr>
          <a:xfrm>
            <a:off x="5806440" y="1755648"/>
            <a:ext cx="3017520" cy="256032"/>
          </a:xfrm>
          <a:prstGeom prst="rect">
            <a:avLst/>
          </a:prstGeom>
          <a:noFill/>
          <a:ln/>
        </p:spPr>
        <p:txBody>
          <a:bodyPr wrap="square" lIns="0" tIns="0" rIns="0" bIns="0" rtlCol="0" anchor="ctr"/>
          <a:lstStyle/>
          <a:p>
            <a:pPr marL="0" indent="0">
              <a:buNone/>
            </a:pPr>
            <a:r>
              <a:rPr lang="en-US" sz="950" b="1" dirty="0">
                <a:solidFill>
                  <a:srgbClr val="27AE60"/>
                </a:solidFill>
                <a:latin typeface="Calibri" pitchFamily="34" charset="0"/>
                <a:ea typeface="Calibri" pitchFamily="34" charset="-122"/>
                <a:cs typeface="Calibri" pitchFamily="34" charset="-120"/>
              </a:rPr>
              <a:t>cas_point ↔ deces_point</a:t>
            </a:r>
            <a:endParaRPr lang="en-US" sz="950" dirty="0"/>
          </a:p>
        </p:txBody>
      </p:sp>
      <p:sp>
        <p:nvSpPr>
          <p:cNvPr id="12" name="Text 9"/>
          <p:cNvSpPr/>
          <p:nvPr/>
        </p:nvSpPr>
        <p:spPr>
          <a:xfrm>
            <a:off x="5806440" y="2020824"/>
            <a:ext cx="3017520" cy="347472"/>
          </a:xfrm>
          <a:prstGeom prst="rect">
            <a:avLst/>
          </a:prstGeom>
          <a:noFill/>
          <a:ln/>
        </p:spPr>
        <p:txBody>
          <a:bodyPr wrap="square" lIns="0" tIns="0" rIns="0" bIns="0" rtlCol="0" anchor="ctr"/>
          <a:lstStyle/>
          <a:p>
            <a:pPr marL="0" indent="0">
              <a:buNone/>
            </a:pPr>
            <a:r>
              <a:rPr lang="en-US" sz="880" dirty="0">
                <a:solidFill>
                  <a:srgbClr val="1A2B3C"/>
                </a:solidFill>
                <a:latin typeface="Calibri" pitchFamily="34" charset="0"/>
                <a:ea typeface="Calibri" pitchFamily="34" charset="-122"/>
                <a:cs typeface="Calibri" pitchFamily="34" charset="-120"/>
              </a:rPr>
              <a:t>r = 0.99  —  Lien morbidité-mortalité quasi parfait</a:t>
            </a:r>
            <a:endParaRPr lang="en-US" sz="880" dirty="0"/>
          </a:p>
        </p:txBody>
      </p:sp>
      <p:sp>
        <p:nvSpPr>
          <p:cNvPr id="13" name="Shape 10"/>
          <p:cNvSpPr/>
          <p:nvPr/>
        </p:nvSpPr>
        <p:spPr>
          <a:xfrm>
            <a:off x="5715000" y="2523744"/>
            <a:ext cx="3200400" cy="713232"/>
          </a:xfrm>
          <a:prstGeom prst="rect">
            <a:avLst/>
          </a:prstGeom>
          <a:solidFill>
            <a:srgbClr val="FFFFFF"/>
          </a:solidFill>
          <a:ln w="19050">
            <a:solidFill>
              <a:srgbClr val="006E7F"/>
            </a:solidFill>
            <a:prstDash val="solid"/>
          </a:ln>
          <a:effectLst>
            <a:outerShdw blurRad="50800" dist="12700" dir="8100000" algn="bl" rotWithShape="0">
              <a:srgbClr val="000000">
                <a:alpha val="8000"/>
              </a:srgbClr>
            </a:outerShdw>
          </a:effectLst>
        </p:spPr>
      </p:sp>
      <p:sp>
        <p:nvSpPr>
          <p:cNvPr id="14" name="Text 11"/>
          <p:cNvSpPr/>
          <p:nvPr/>
        </p:nvSpPr>
        <p:spPr>
          <a:xfrm>
            <a:off x="5806440" y="2560320"/>
            <a:ext cx="3017520" cy="256032"/>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population ↔ cas_point</a:t>
            </a:r>
            <a:endParaRPr lang="en-US" sz="950" dirty="0"/>
          </a:p>
        </p:txBody>
      </p:sp>
      <p:sp>
        <p:nvSpPr>
          <p:cNvPr id="15" name="Text 12"/>
          <p:cNvSpPr/>
          <p:nvPr/>
        </p:nvSpPr>
        <p:spPr>
          <a:xfrm>
            <a:off x="5806440" y="2825496"/>
            <a:ext cx="3017520" cy="347472"/>
          </a:xfrm>
          <a:prstGeom prst="rect">
            <a:avLst/>
          </a:prstGeom>
          <a:noFill/>
          <a:ln/>
        </p:spPr>
        <p:txBody>
          <a:bodyPr wrap="square" lIns="0" tIns="0" rIns="0" bIns="0" rtlCol="0" anchor="ctr"/>
          <a:lstStyle/>
          <a:p>
            <a:pPr marL="0" indent="0">
              <a:buNone/>
            </a:pPr>
            <a:r>
              <a:rPr lang="en-US" sz="880" dirty="0">
                <a:solidFill>
                  <a:srgbClr val="1A2B3C"/>
                </a:solidFill>
                <a:latin typeface="Calibri" pitchFamily="34" charset="0"/>
                <a:ea typeface="Calibri" pitchFamily="34" charset="-122"/>
                <a:cs typeface="Calibri" pitchFamily="34" charset="-120"/>
              </a:rPr>
              <a:t>r = 0.75  —  Charge liée à la taille des populations à risque</a:t>
            </a:r>
            <a:endParaRPr lang="en-US" sz="880" dirty="0"/>
          </a:p>
        </p:txBody>
      </p:sp>
      <p:sp>
        <p:nvSpPr>
          <p:cNvPr id="16" name="Shape 13"/>
          <p:cNvSpPr/>
          <p:nvPr/>
        </p:nvSpPr>
        <p:spPr>
          <a:xfrm>
            <a:off x="5715000" y="3328416"/>
            <a:ext cx="3200400" cy="713232"/>
          </a:xfrm>
          <a:prstGeom prst="rect">
            <a:avLst/>
          </a:prstGeom>
          <a:solidFill>
            <a:srgbClr val="FFFFFF"/>
          </a:solidFill>
          <a:ln w="19050">
            <a:solidFill>
              <a:srgbClr val="E67E22"/>
            </a:solidFill>
            <a:prstDash val="solid"/>
          </a:ln>
          <a:effectLst>
            <a:outerShdw blurRad="50800" dist="12700" dir="8100000" algn="bl" rotWithShape="0">
              <a:srgbClr val="000000">
                <a:alpha val="8000"/>
              </a:srgbClr>
            </a:outerShdw>
          </a:effectLst>
        </p:spPr>
      </p:sp>
      <p:sp>
        <p:nvSpPr>
          <p:cNvPr id="17" name="Text 14"/>
          <p:cNvSpPr/>
          <p:nvPr/>
        </p:nvSpPr>
        <p:spPr>
          <a:xfrm>
            <a:off x="5806440" y="3364992"/>
            <a:ext cx="3017520" cy="256032"/>
          </a:xfrm>
          <a:prstGeom prst="rect">
            <a:avLst/>
          </a:prstGeom>
          <a:noFill/>
          <a:ln/>
        </p:spPr>
        <p:txBody>
          <a:bodyPr wrap="square" lIns="0" tIns="0" rIns="0" bIns="0" rtlCol="0" anchor="ctr"/>
          <a:lstStyle/>
          <a:p>
            <a:pPr marL="0" indent="0">
              <a:buNone/>
            </a:pPr>
            <a:r>
              <a:rPr lang="en-US" sz="950" b="1" dirty="0">
                <a:solidFill>
                  <a:srgbClr val="E67E22"/>
                </a:solidFill>
                <a:latin typeface="Calibri" pitchFamily="34" charset="0"/>
                <a:ea typeface="Calibri" pitchFamily="34" charset="-122"/>
                <a:cs typeface="Calibri" pitchFamily="34" charset="-120"/>
              </a:rPr>
              <a:t>annee ↔ cas_point</a:t>
            </a:r>
            <a:endParaRPr lang="en-US" sz="950" dirty="0"/>
          </a:p>
        </p:txBody>
      </p:sp>
      <p:sp>
        <p:nvSpPr>
          <p:cNvPr id="18" name="Text 15"/>
          <p:cNvSpPr/>
          <p:nvPr/>
        </p:nvSpPr>
        <p:spPr>
          <a:xfrm>
            <a:off x="5806440" y="3630168"/>
            <a:ext cx="3017520" cy="347472"/>
          </a:xfrm>
          <a:prstGeom prst="rect">
            <a:avLst/>
          </a:prstGeom>
          <a:noFill/>
          <a:ln/>
        </p:spPr>
        <p:txBody>
          <a:bodyPr wrap="square" lIns="0" tIns="0" rIns="0" bIns="0" rtlCol="0" anchor="ctr"/>
          <a:lstStyle/>
          <a:p>
            <a:pPr marL="0" indent="0">
              <a:buNone/>
            </a:pPr>
            <a:r>
              <a:rPr lang="en-US" sz="880" dirty="0">
                <a:solidFill>
                  <a:srgbClr val="1A2B3C"/>
                </a:solidFill>
                <a:latin typeface="Calibri" pitchFamily="34" charset="0"/>
                <a:ea typeface="Calibri" pitchFamily="34" charset="-122"/>
                <a:cs typeface="Calibri" pitchFamily="34" charset="-120"/>
              </a:rPr>
              <a:t>r ≈ 0.00  —  Pas de tendance temporelle globale linéaire simple</a:t>
            </a:r>
            <a:endParaRPr lang="en-US" sz="880" dirty="0"/>
          </a:p>
        </p:txBody>
      </p:sp>
      <p:sp>
        <p:nvSpPr>
          <p:cNvPr id="19" name="Shape 16"/>
          <p:cNvSpPr/>
          <p:nvPr/>
        </p:nvSpPr>
        <p:spPr>
          <a:xfrm>
            <a:off x="5715000" y="4187952"/>
            <a:ext cx="3200400" cy="594360"/>
          </a:xfrm>
          <a:prstGeom prst="rect">
            <a:avLst/>
          </a:prstGeom>
          <a:solidFill>
            <a:srgbClr val="D4F0F0"/>
          </a:solidFill>
          <a:ln w="12700">
            <a:solidFill>
              <a:srgbClr val="1A9BAF"/>
            </a:solidFill>
            <a:prstDash val="solid"/>
          </a:ln>
        </p:spPr>
      </p:sp>
      <p:sp>
        <p:nvSpPr>
          <p:cNvPr id="20" name="Text 17"/>
          <p:cNvSpPr/>
          <p:nvPr/>
        </p:nvSpPr>
        <p:spPr>
          <a:xfrm>
            <a:off x="5806440" y="4215384"/>
            <a:ext cx="3017520" cy="530352"/>
          </a:xfrm>
          <a:prstGeom prst="rect">
            <a:avLst/>
          </a:prstGeom>
          <a:noFill/>
          <a:ln/>
        </p:spPr>
        <p:txBody>
          <a:bodyPr wrap="square" lIns="0" tIns="0" rIns="0" bIns="0" rtlCol="0" anchor="ctr"/>
          <a:lstStyle/>
          <a:p>
            <a:pPr marL="0" indent="0">
              <a:buNone/>
            </a:pPr>
            <a:r>
              <a:rPr lang="en-US" sz="850" dirty="0">
                <a:solidFill>
                  <a:srgbClr val="0D2B55"/>
                </a:solidFill>
                <a:latin typeface="Calibri" pitchFamily="34" charset="0"/>
                <a:ea typeface="Calibri" pitchFamily="34" charset="-122"/>
                <a:cs typeface="Calibri" pitchFamily="34" charset="-120"/>
              </a:rPr>
              <a:t>La forte corrélation cas↔décès (r = 0.99) valide la cohérence interne de la base OMS. L'absence de corrélation cas↔année reflète la stagnation des progrès mondiaux observée depuis 2016.</a:t>
            </a:r>
            <a:endParaRPr lang="en-US" sz="850" dirty="0"/>
          </a:p>
        </p:txBody>
      </p:sp>
      <p:sp>
        <p:nvSpPr>
          <p:cNvPr id="21" name="Shape 18"/>
          <p:cNvSpPr/>
          <p:nvPr/>
        </p:nvSpPr>
        <p:spPr>
          <a:xfrm>
            <a:off x="0" y="4892040"/>
            <a:ext cx="9144000" cy="251460"/>
          </a:xfrm>
          <a:prstGeom prst="rect">
            <a:avLst/>
          </a:prstGeom>
          <a:solidFill>
            <a:srgbClr val="E8EEF2"/>
          </a:solidFill>
          <a:ln w="12700">
            <a:solidFill>
              <a:srgbClr val="E8EEF2"/>
            </a:solidFill>
            <a:prstDash val="solid"/>
          </a:ln>
        </p:spPr>
      </p:sp>
      <p:sp>
        <p:nvSpPr>
          <p:cNvPr id="22" name="Text 19"/>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Visualisation 1 — Évolution Temporelle de la Charge Paludéenne (2000–2023)</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Tendance médiane mondiale + enveloppe de variabilité inter-pays</a:t>
            </a:r>
            <a:endParaRPr lang="en-US" sz="1100" dirty="0"/>
          </a:p>
        </p:txBody>
      </p:sp>
      <p:pic>
        <p:nvPicPr>
          <p:cNvPr id="5" name="Image 0" descr="preencoded.png"/>
          <p:cNvPicPr>
            <a:picLocks noChangeAspect="1"/>
          </p:cNvPicPr>
          <p:nvPr/>
        </p:nvPicPr>
        <p:blipFill>
          <a:blip r:embed="rId3"/>
          <a:stretch>
            <a:fillRect/>
          </a:stretch>
        </p:blipFill>
        <p:spPr>
          <a:xfrm>
            <a:off x="228600" y="777240"/>
            <a:ext cx="6035040" cy="3474720"/>
          </a:xfrm>
          <a:prstGeom prst="rect">
            <a:avLst/>
          </a:prstGeom>
        </p:spPr>
      </p:pic>
      <p:sp>
        <p:nvSpPr>
          <p:cNvPr id="6" name="Text 3"/>
          <p:cNvSpPr/>
          <p:nvPr/>
        </p:nvSpPr>
        <p:spPr>
          <a:xfrm>
            <a:off x="228600" y="4270248"/>
            <a:ext cx="6035040" cy="228600"/>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5 — Évolution temporelle avec enveloppe (ggplot2 : geom_ribbon + geom_line)</a:t>
            </a:r>
            <a:endParaRPr lang="en-US" sz="850" dirty="0"/>
          </a:p>
        </p:txBody>
      </p:sp>
      <p:sp>
        <p:nvSpPr>
          <p:cNvPr id="7" name="Shape 4"/>
          <p:cNvSpPr/>
          <p:nvPr/>
        </p:nvSpPr>
        <p:spPr>
          <a:xfrm>
            <a:off x="6446520" y="777240"/>
            <a:ext cx="2468880" cy="3931920"/>
          </a:xfrm>
          <a:prstGeom prst="rect">
            <a:avLst/>
          </a:prstGeom>
          <a:solidFill>
            <a:srgbClr val="FFFFFF"/>
          </a:solidFill>
          <a:ln w="12700">
            <a:solidFill>
              <a:srgbClr val="E8EEF2"/>
            </a:solidFill>
            <a:prstDash val="solid"/>
          </a:ln>
          <a:effectLst>
            <a:outerShdw blurRad="63500" dist="25400" dir="8100000" algn="bl" rotWithShape="0">
              <a:srgbClr val="000000">
                <a:alpha val="8000"/>
              </a:srgbClr>
            </a:outerShdw>
          </a:effectLst>
        </p:spPr>
      </p:sp>
      <p:sp>
        <p:nvSpPr>
          <p:cNvPr id="8" name="Text 5"/>
          <p:cNvSpPr/>
          <p:nvPr/>
        </p:nvSpPr>
        <p:spPr>
          <a:xfrm>
            <a:off x="6446520" y="777240"/>
            <a:ext cx="2468880" cy="320040"/>
          </a:xfrm>
          <a:prstGeom prst="rect">
            <a:avLst/>
          </a:prstGeom>
          <a:solidFill>
            <a:srgbClr val="006E7F"/>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LECTURE DU GRAPHIQUE</a:t>
            </a:r>
            <a:endParaRPr lang="en-US" sz="1000" dirty="0"/>
          </a:p>
        </p:txBody>
      </p:sp>
      <p:sp>
        <p:nvSpPr>
          <p:cNvPr id="9" name="Text 6"/>
          <p:cNvSpPr/>
          <p:nvPr/>
        </p:nvSpPr>
        <p:spPr>
          <a:xfrm>
            <a:off x="6537960" y="1188720"/>
            <a:ext cx="2286000" cy="658368"/>
          </a:xfrm>
          <a:prstGeom prst="rect">
            <a:avLst/>
          </a:prstGeom>
          <a:noFill/>
          <a:ln/>
        </p:spPr>
        <p:txBody>
          <a:bodyPr wrap="square" lIns="0" tIns="0" rIns="0" bIns="0" rtlCol="0" anchor="t"/>
          <a:lstStyle/>
          <a:p>
            <a:pPr marL="0" indent="0">
              <a:buNone/>
            </a:pPr>
            <a:r>
              <a:rPr lang="en-US" sz="900" b="1" dirty="0">
                <a:solidFill>
                  <a:srgbClr val="006E7F"/>
                </a:solidFill>
                <a:latin typeface="Calibri" pitchFamily="34" charset="0"/>
                <a:ea typeface="Calibri" pitchFamily="34" charset="-122"/>
                <a:cs typeface="Calibri" pitchFamily="34" charset="-120"/>
              </a:rPr>
              <a:t>Ligne rouge
</a:t>
            </a:r>
            <a:r>
              <a:rPr lang="en-US" sz="900" dirty="0">
                <a:solidFill>
                  <a:srgbClr val="1A2B3C"/>
                </a:solidFill>
                <a:latin typeface="Calibri" pitchFamily="34" charset="0"/>
                <a:ea typeface="Calibri" pitchFamily="34" charset="-122"/>
                <a:cs typeface="Calibri" pitchFamily="34" charset="-120"/>
              </a:rPr>
              <a:t>Médiane mondiale annuelle (robuste aux valeurs extrêmes)</a:t>
            </a:r>
            <a:endParaRPr lang="en-US" sz="900" dirty="0"/>
          </a:p>
        </p:txBody>
      </p:sp>
      <p:sp>
        <p:nvSpPr>
          <p:cNvPr id="10" name="Text 7"/>
          <p:cNvSpPr/>
          <p:nvPr/>
        </p:nvSpPr>
        <p:spPr>
          <a:xfrm>
            <a:off x="6537960" y="1901952"/>
            <a:ext cx="2286000" cy="658368"/>
          </a:xfrm>
          <a:prstGeom prst="rect">
            <a:avLst/>
          </a:prstGeom>
          <a:noFill/>
          <a:ln/>
        </p:spPr>
        <p:txBody>
          <a:bodyPr wrap="square" lIns="0" tIns="0" rIns="0" bIns="0" rtlCol="0" anchor="t"/>
          <a:lstStyle/>
          <a:p>
            <a:pPr marL="0" indent="0">
              <a:buNone/>
            </a:pPr>
            <a:r>
              <a:rPr lang="en-US" sz="900" b="1" dirty="0">
                <a:solidFill>
                  <a:srgbClr val="006E7F"/>
                </a:solidFill>
                <a:latin typeface="Calibri" pitchFamily="34" charset="0"/>
                <a:ea typeface="Calibri" pitchFamily="34" charset="-122"/>
                <a:cs typeface="Calibri" pitchFamily="34" charset="-120"/>
              </a:rPr>
              <a:t>Bleu foncé
</a:t>
            </a:r>
            <a:r>
              <a:rPr lang="en-US" sz="900" dirty="0">
                <a:solidFill>
                  <a:srgbClr val="1A2B3C"/>
                </a:solidFill>
                <a:latin typeface="Calibri" pitchFamily="34" charset="0"/>
                <a:ea typeface="Calibri" pitchFamily="34" charset="-122"/>
                <a:cs typeface="Calibri" pitchFamily="34" charset="-120"/>
              </a:rPr>
              <a:t>Zone interquartile Q25-Q75 : concentration de 50 % des pays</a:t>
            </a:r>
            <a:endParaRPr lang="en-US" sz="900" dirty="0"/>
          </a:p>
        </p:txBody>
      </p:sp>
      <p:sp>
        <p:nvSpPr>
          <p:cNvPr id="11" name="Text 8"/>
          <p:cNvSpPr/>
          <p:nvPr/>
        </p:nvSpPr>
        <p:spPr>
          <a:xfrm>
            <a:off x="6537960" y="2615184"/>
            <a:ext cx="2286000" cy="658368"/>
          </a:xfrm>
          <a:prstGeom prst="rect">
            <a:avLst/>
          </a:prstGeom>
          <a:noFill/>
          <a:ln/>
        </p:spPr>
        <p:txBody>
          <a:bodyPr wrap="square" lIns="0" tIns="0" rIns="0" bIns="0" rtlCol="0" anchor="t"/>
          <a:lstStyle/>
          <a:p>
            <a:pPr marL="0" indent="0">
              <a:buNone/>
            </a:pPr>
            <a:r>
              <a:rPr lang="en-US" sz="900" b="1" dirty="0">
                <a:solidFill>
                  <a:srgbClr val="006E7F"/>
                </a:solidFill>
                <a:latin typeface="Calibri" pitchFamily="34" charset="0"/>
                <a:ea typeface="Calibri" pitchFamily="34" charset="-122"/>
                <a:cs typeface="Calibri" pitchFamily="34" charset="-120"/>
              </a:rPr>
              <a:t>Bleu clair
</a:t>
            </a:r>
            <a:r>
              <a:rPr lang="en-US" sz="900" dirty="0">
                <a:solidFill>
                  <a:srgbClr val="1A2B3C"/>
                </a:solidFill>
                <a:latin typeface="Calibri" pitchFamily="34" charset="0"/>
                <a:ea typeface="Calibri" pitchFamily="34" charset="-122"/>
                <a:cs typeface="Calibri" pitchFamily="34" charset="-120"/>
              </a:rPr>
              <a:t>Amplitude maximale : 0 → pic mondial (Nigeria, DRC)</a:t>
            </a:r>
            <a:endParaRPr lang="en-US" sz="900" dirty="0"/>
          </a:p>
        </p:txBody>
      </p:sp>
      <p:sp>
        <p:nvSpPr>
          <p:cNvPr id="12" name="Text 9"/>
          <p:cNvSpPr/>
          <p:nvPr/>
        </p:nvSpPr>
        <p:spPr>
          <a:xfrm>
            <a:off x="6537960" y="3328416"/>
            <a:ext cx="2286000" cy="658368"/>
          </a:xfrm>
          <a:prstGeom prst="rect">
            <a:avLst/>
          </a:prstGeom>
          <a:noFill/>
          <a:ln/>
        </p:spPr>
        <p:txBody>
          <a:bodyPr wrap="square" lIns="0" tIns="0" rIns="0" bIns="0" rtlCol="0" anchor="t"/>
          <a:lstStyle/>
          <a:p>
            <a:pPr marL="0" indent="0">
              <a:buNone/>
            </a:pPr>
            <a:r>
              <a:rPr lang="en-US" sz="900" b="1" dirty="0">
                <a:solidFill>
                  <a:srgbClr val="006E7F"/>
                </a:solidFill>
                <a:latin typeface="Calibri" pitchFamily="34" charset="0"/>
                <a:ea typeface="Calibri" pitchFamily="34" charset="-122"/>
                <a:cs typeface="Calibri" pitchFamily="34" charset="-120"/>
              </a:rPr>
              <a:t>Stagnation
</a:t>
            </a:r>
            <a:r>
              <a:rPr lang="en-US" sz="900" dirty="0">
                <a:solidFill>
                  <a:srgbClr val="1A2B3C"/>
                </a:solidFill>
                <a:latin typeface="Calibri" pitchFamily="34" charset="0"/>
                <a:ea typeface="Calibri" pitchFamily="34" charset="-122"/>
                <a:cs typeface="Calibri" pitchFamily="34" charset="-120"/>
              </a:rPr>
              <a:t>La médiane reste proche de 0 — asymétrie extrême : 2–3 pays africains dominent la distribution mondiale</a:t>
            </a:r>
            <a:endParaRPr lang="en-US" sz="900" dirty="0"/>
          </a:p>
        </p:txBody>
      </p:sp>
      <p:sp>
        <p:nvSpPr>
          <p:cNvPr id="13" name="Shape 10"/>
          <p:cNvSpPr/>
          <p:nvPr/>
        </p:nvSpPr>
        <p:spPr>
          <a:xfrm>
            <a:off x="0" y="4892040"/>
            <a:ext cx="9144000" cy="251460"/>
          </a:xfrm>
          <a:prstGeom prst="rect">
            <a:avLst/>
          </a:prstGeom>
          <a:solidFill>
            <a:srgbClr val="E8EEF2"/>
          </a:solidFill>
          <a:ln w="12700">
            <a:solidFill>
              <a:srgbClr val="E8EEF2"/>
            </a:solidFill>
            <a:prstDash val="solid"/>
          </a:ln>
        </p:spPr>
      </p:sp>
      <p:sp>
        <p:nvSpPr>
          <p:cNvPr id="14" name="Text 11"/>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Visualisation 2 — Morbidité vs. Mortalité par Pays — 2023</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Bubble Chart : cas estimés × décès estimés × population à risque × CFR</a:t>
            </a:r>
            <a:endParaRPr lang="en-US" sz="1100" dirty="0"/>
          </a:p>
        </p:txBody>
      </p:sp>
      <p:pic>
        <p:nvPicPr>
          <p:cNvPr id="5" name="Image 0" descr="preencoded.png"/>
          <p:cNvPicPr>
            <a:picLocks noChangeAspect="1"/>
          </p:cNvPicPr>
          <p:nvPr/>
        </p:nvPicPr>
        <p:blipFill>
          <a:blip r:embed="rId3"/>
          <a:stretch>
            <a:fillRect/>
          </a:stretch>
        </p:blipFill>
        <p:spPr>
          <a:xfrm>
            <a:off x="228600" y="777240"/>
            <a:ext cx="5943600" cy="3520440"/>
          </a:xfrm>
          <a:prstGeom prst="rect">
            <a:avLst/>
          </a:prstGeom>
        </p:spPr>
      </p:pic>
      <p:sp>
        <p:nvSpPr>
          <p:cNvPr id="6" name="Text 3"/>
          <p:cNvSpPr/>
          <p:nvPr/>
        </p:nvSpPr>
        <p:spPr>
          <a:xfrm>
            <a:off x="228600" y="4315968"/>
            <a:ext cx="5943600" cy="228600"/>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6 — Nuage de bulles : morbidité/mortalité/population/CFR (ggplot2 + ggrepel)</a:t>
            </a:r>
            <a:endParaRPr lang="en-US" sz="850" dirty="0"/>
          </a:p>
        </p:txBody>
      </p:sp>
      <p:sp>
        <p:nvSpPr>
          <p:cNvPr id="7" name="Shape 4"/>
          <p:cNvSpPr/>
          <p:nvPr/>
        </p:nvSpPr>
        <p:spPr>
          <a:xfrm>
            <a:off x="6400800" y="777240"/>
            <a:ext cx="2514600" cy="548640"/>
          </a:xfrm>
          <a:prstGeom prst="rect">
            <a:avLst/>
          </a:prstGeom>
          <a:solidFill>
            <a:srgbClr val="FFFFFF"/>
          </a:solidFill>
          <a:ln w="12700">
            <a:solidFill>
              <a:srgbClr val="E8EEF2"/>
            </a:solidFill>
            <a:prstDash val="solid"/>
          </a:ln>
        </p:spPr>
      </p:sp>
      <p:sp>
        <p:nvSpPr>
          <p:cNvPr id="8" name="Text 5"/>
          <p:cNvSpPr/>
          <p:nvPr/>
        </p:nvSpPr>
        <p:spPr>
          <a:xfrm>
            <a:off x="6492240" y="804672"/>
            <a:ext cx="2331720" cy="493776"/>
          </a:xfrm>
          <a:prstGeom prst="rect">
            <a:avLst/>
          </a:prstGeom>
          <a:noFill/>
          <a:ln/>
        </p:spPr>
        <p:txBody>
          <a:bodyPr wrap="square" lIns="0" tIns="0" rIns="0" bIns="0" rtlCol="0" anchor="ctr"/>
          <a:lstStyle/>
          <a:p>
            <a:pPr marL="0" indent="0">
              <a:buNone/>
            </a:pPr>
            <a:r>
              <a:rPr lang="en-US" sz="950" b="1" dirty="0">
                <a:solidFill>
                  <a:srgbClr val="0D2B55"/>
                </a:solidFill>
                <a:latin typeface="Calibri" pitchFamily="34" charset="0"/>
                <a:ea typeface="Calibri" pitchFamily="34" charset="-122"/>
                <a:cs typeface="Calibri" pitchFamily="34" charset="-120"/>
              </a:rPr>
              <a:t>Axe X : </a:t>
            </a:r>
            <a:r>
              <a:rPr lang="en-US" sz="950" dirty="0">
                <a:solidFill>
                  <a:srgbClr val="1A2B3C"/>
                </a:solidFill>
                <a:latin typeface="Calibri" pitchFamily="34" charset="0"/>
                <a:ea typeface="Calibri" pitchFamily="34" charset="-122"/>
                <a:cs typeface="Calibri" pitchFamily="34" charset="-120"/>
              </a:rPr>
              <a:t>Cas estimés (millions)</a:t>
            </a:r>
            <a:endParaRPr lang="en-US" sz="950" dirty="0"/>
          </a:p>
        </p:txBody>
      </p:sp>
      <p:sp>
        <p:nvSpPr>
          <p:cNvPr id="9" name="Shape 6"/>
          <p:cNvSpPr/>
          <p:nvPr/>
        </p:nvSpPr>
        <p:spPr>
          <a:xfrm>
            <a:off x="6400800" y="1417320"/>
            <a:ext cx="2514600" cy="548640"/>
          </a:xfrm>
          <a:prstGeom prst="rect">
            <a:avLst/>
          </a:prstGeom>
          <a:solidFill>
            <a:srgbClr val="FFFFFF"/>
          </a:solidFill>
          <a:ln w="12700">
            <a:solidFill>
              <a:srgbClr val="E8EEF2"/>
            </a:solidFill>
            <a:prstDash val="solid"/>
          </a:ln>
        </p:spPr>
      </p:sp>
      <p:sp>
        <p:nvSpPr>
          <p:cNvPr id="10" name="Text 7"/>
          <p:cNvSpPr/>
          <p:nvPr/>
        </p:nvSpPr>
        <p:spPr>
          <a:xfrm>
            <a:off x="6492240" y="1444752"/>
            <a:ext cx="2331720" cy="493776"/>
          </a:xfrm>
          <a:prstGeom prst="rect">
            <a:avLst/>
          </a:prstGeom>
          <a:noFill/>
          <a:ln/>
        </p:spPr>
        <p:txBody>
          <a:bodyPr wrap="square" lIns="0" tIns="0" rIns="0" bIns="0" rtlCol="0" anchor="ctr"/>
          <a:lstStyle/>
          <a:p>
            <a:pPr marL="0" indent="0">
              <a:buNone/>
            </a:pPr>
            <a:r>
              <a:rPr lang="en-US" sz="950" b="1" dirty="0">
                <a:solidFill>
                  <a:srgbClr val="0D2B55"/>
                </a:solidFill>
                <a:latin typeface="Calibri" pitchFamily="34" charset="0"/>
                <a:ea typeface="Calibri" pitchFamily="34" charset="-122"/>
                <a:cs typeface="Calibri" pitchFamily="34" charset="-120"/>
              </a:rPr>
              <a:t>Axe Y : </a:t>
            </a:r>
            <a:r>
              <a:rPr lang="en-US" sz="950" dirty="0">
                <a:solidFill>
                  <a:srgbClr val="1A2B3C"/>
                </a:solidFill>
                <a:latin typeface="Calibri" pitchFamily="34" charset="0"/>
                <a:ea typeface="Calibri" pitchFamily="34" charset="-122"/>
                <a:cs typeface="Calibri" pitchFamily="34" charset="-120"/>
              </a:rPr>
              <a:t>Décès estimés (milliers)</a:t>
            </a:r>
            <a:endParaRPr lang="en-US" sz="950" dirty="0"/>
          </a:p>
        </p:txBody>
      </p:sp>
      <p:sp>
        <p:nvSpPr>
          <p:cNvPr id="11" name="Shape 8"/>
          <p:cNvSpPr/>
          <p:nvPr/>
        </p:nvSpPr>
        <p:spPr>
          <a:xfrm>
            <a:off x="6400800" y="2057400"/>
            <a:ext cx="2514600" cy="548640"/>
          </a:xfrm>
          <a:prstGeom prst="rect">
            <a:avLst/>
          </a:prstGeom>
          <a:solidFill>
            <a:srgbClr val="FFFFFF"/>
          </a:solidFill>
          <a:ln w="12700">
            <a:solidFill>
              <a:srgbClr val="E8EEF2"/>
            </a:solidFill>
            <a:prstDash val="solid"/>
          </a:ln>
        </p:spPr>
      </p:sp>
      <p:sp>
        <p:nvSpPr>
          <p:cNvPr id="12" name="Text 9"/>
          <p:cNvSpPr/>
          <p:nvPr/>
        </p:nvSpPr>
        <p:spPr>
          <a:xfrm>
            <a:off x="6492240" y="2084832"/>
            <a:ext cx="2331720" cy="493776"/>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Taille bulle : </a:t>
            </a:r>
            <a:r>
              <a:rPr lang="en-US" sz="950" dirty="0">
                <a:solidFill>
                  <a:srgbClr val="1A2B3C"/>
                </a:solidFill>
                <a:latin typeface="Calibri" pitchFamily="34" charset="0"/>
                <a:ea typeface="Calibri" pitchFamily="34" charset="-122"/>
                <a:cs typeface="Calibri" pitchFamily="34" charset="-120"/>
              </a:rPr>
              <a:t>Population à risque</a:t>
            </a:r>
            <a:endParaRPr lang="en-US" sz="950" dirty="0"/>
          </a:p>
        </p:txBody>
      </p:sp>
      <p:sp>
        <p:nvSpPr>
          <p:cNvPr id="13" name="Shape 10"/>
          <p:cNvSpPr/>
          <p:nvPr/>
        </p:nvSpPr>
        <p:spPr>
          <a:xfrm>
            <a:off x="6400800" y="2697480"/>
            <a:ext cx="2514600" cy="548640"/>
          </a:xfrm>
          <a:prstGeom prst="rect">
            <a:avLst/>
          </a:prstGeom>
          <a:solidFill>
            <a:srgbClr val="FFFFFF"/>
          </a:solidFill>
          <a:ln w="12700">
            <a:solidFill>
              <a:srgbClr val="E8EEF2"/>
            </a:solidFill>
            <a:prstDash val="solid"/>
          </a:ln>
        </p:spPr>
      </p:sp>
      <p:sp>
        <p:nvSpPr>
          <p:cNvPr id="14" name="Text 11"/>
          <p:cNvSpPr/>
          <p:nvPr/>
        </p:nvSpPr>
        <p:spPr>
          <a:xfrm>
            <a:off x="6492240" y="2724912"/>
            <a:ext cx="2331720" cy="493776"/>
          </a:xfrm>
          <a:prstGeom prst="rect">
            <a:avLst/>
          </a:prstGeom>
          <a:noFill/>
          <a:ln/>
        </p:spPr>
        <p:txBody>
          <a:bodyPr wrap="square" lIns="0" tIns="0" rIns="0" bIns="0"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Couleur : </a:t>
            </a:r>
            <a:r>
              <a:rPr lang="en-US" sz="950" dirty="0">
                <a:solidFill>
                  <a:srgbClr val="1A2B3C"/>
                </a:solidFill>
                <a:latin typeface="Calibri" pitchFamily="34" charset="0"/>
                <a:ea typeface="Calibri" pitchFamily="34" charset="-122"/>
                <a:cs typeface="Calibri" pitchFamily="34" charset="-120"/>
              </a:rPr>
              <a:t>CFR (%) : vert faible → rouge élevé</a:t>
            </a:r>
            <a:endParaRPr lang="en-US" sz="950" dirty="0"/>
          </a:p>
        </p:txBody>
      </p:sp>
      <p:sp>
        <p:nvSpPr>
          <p:cNvPr id="15" name="Shape 12"/>
          <p:cNvSpPr/>
          <p:nvPr/>
        </p:nvSpPr>
        <p:spPr>
          <a:xfrm>
            <a:off x="6400800" y="3337560"/>
            <a:ext cx="2514600" cy="1417320"/>
          </a:xfrm>
          <a:prstGeom prst="rect">
            <a:avLst/>
          </a:prstGeom>
          <a:solidFill>
            <a:srgbClr val="D4F0F0"/>
          </a:solidFill>
          <a:ln w="12700">
            <a:solidFill>
              <a:srgbClr val="1A9BAF"/>
            </a:solidFill>
            <a:prstDash val="solid"/>
          </a:ln>
        </p:spPr>
      </p:sp>
      <p:sp>
        <p:nvSpPr>
          <p:cNvPr id="16" name="Text 13"/>
          <p:cNvSpPr/>
          <p:nvPr/>
        </p:nvSpPr>
        <p:spPr>
          <a:xfrm>
            <a:off x="6492240" y="3383280"/>
            <a:ext cx="2331720" cy="1325880"/>
          </a:xfrm>
          <a:prstGeom prst="rect">
            <a:avLst/>
          </a:prstGeom>
          <a:noFill/>
          <a:ln/>
        </p:spPr>
        <p:txBody>
          <a:bodyPr wrap="square" lIns="0" tIns="0" rIns="0" bIns="0" rtlCol="0" anchor="t"/>
          <a:lstStyle/>
          <a:p>
            <a:pPr marL="0" indent="0">
              <a:buNone/>
            </a:pPr>
            <a:r>
              <a:rPr lang="en-US" sz="900" b="1" dirty="0">
                <a:solidFill>
                  <a:srgbClr val="0D2B55"/>
                </a:solidFill>
                <a:latin typeface="Calibri" pitchFamily="34" charset="0"/>
                <a:ea typeface="Calibri" pitchFamily="34" charset="-122"/>
                <a:cs typeface="Calibri" pitchFamily="34" charset="-120"/>
              </a:rPr>
              <a:t>Enseignement clé :
</a:t>
            </a:r>
            <a:r>
              <a:rPr lang="en-US" sz="900" dirty="0">
                <a:solidFill>
                  <a:srgbClr val="1A2B3C"/>
                </a:solidFill>
                <a:latin typeface="Calibri" pitchFamily="34" charset="0"/>
                <a:ea typeface="Calibri" pitchFamily="34" charset="-122"/>
                <a:cs typeface="Calibri" pitchFamily="34" charset="-120"/>
              </a:rPr>
              <a:t>Nigeria et DRC dominent la charge en cas. La bulle « Total » (agrégat régional) fausse la lecture — elle sera exclue lors de la cartographie dans ArcGIS. Le CFR faible (vert) dans les pays à forte charge indique un bon accès aux soins de première ligne malgré le volume de cas. Un CFR élevé (rouge) signale un accès insuffisant aux soins.</a:t>
            </a:r>
            <a:endParaRPr lang="en-US" sz="900" dirty="0"/>
          </a:p>
        </p:txBody>
      </p:sp>
      <p:sp>
        <p:nvSpPr>
          <p:cNvPr id="17" name="Shape 14"/>
          <p:cNvSpPr/>
          <p:nvPr/>
        </p:nvSpPr>
        <p:spPr>
          <a:xfrm>
            <a:off x="0" y="4892040"/>
            <a:ext cx="9144000" cy="251460"/>
          </a:xfrm>
          <a:prstGeom prst="rect">
            <a:avLst/>
          </a:prstGeom>
          <a:solidFill>
            <a:srgbClr val="E8EEF2"/>
          </a:solidFill>
          <a:ln w="12700">
            <a:solidFill>
              <a:srgbClr val="E8EEF2"/>
            </a:solidFill>
            <a:prstDash val="solid"/>
          </a:ln>
        </p:spPr>
      </p:sp>
      <p:sp>
        <p:nvSpPr>
          <p:cNvPr id="18" name="Text 15"/>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Visualisation 3 — Top 15 des Pays les Plus Touchés — 2023</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Lollipop Chart : concentration de la charge mondiale paludéenne</a:t>
            </a:r>
            <a:endParaRPr lang="en-US" sz="1100" dirty="0"/>
          </a:p>
        </p:txBody>
      </p:sp>
      <p:pic>
        <p:nvPicPr>
          <p:cNvPr id="5" name="Image 0" descr="preencoded.png"/>
          <p:cNvPicPr>
            <a:picLocks noChangeAspect="1"/>
          </p:cNvPicPr>
          <p:nvPr/>
        </p:nvPicPr>
        <p:blipFill>
          <a:blip r:embed="rId3"/>
          <a:stretch>
            <a:fillRect/>
          </a:stretch>
        </p:blipFill>
        <p:spPr>
          <a:xfrm>
            <a:off x="228600" y="777240"/>
            <a:ext cx="5943600" cy="3566160"/>
          </a:xfrm>
          <a:prstGeom prst="rect">
            <a:avLst/>
          </a:prstGeom>
        </p:spPr>
      </p:pic>
      <p:sp>
        <p:nvSpPr>
          <p:cNvPr id="6" name="Text 3"/>
          <p:cNvSpPr/>
          <p:nvPr/>
        </p:nvSpPr>
        <p:spPr>
          <a:xfrm>
            <a:off x="228600" y="4361688"/>
            <a:ext cx="5943600" cy="228600"/>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 7 — Classement lollipop chart (ggplot2 : geom_segment + geom_point + coord_flip)</a:t>
            </a:r>
            <a:endParaRPr lang="en-US" sz="850" dirty="0"/>
          </a:p>
        </p:txBody>
      </p:sp>
      <p:sp>
        <p:nvSpPr>
          <p:cNvPr id="7" name="Shape 4"/>
          <p:cNvSpPr/>
          <p:nvPr/>
        </p:nvSpPr>
        <p:spPr>
          <a:xfrm>
            <a:off x="6400800" y="777240"/>
            <a:ext cx="2514600" cy="685800"/>
          </a:xfrm>
          <a:prstGeom prst="rect">
            <a:avLst/>
          </a:prstGeom>
          <a:solidFill>
            <a:srgbClr val="FFFFFF"/>
          </a:solidFill>
          <a:ln w="25400">
            <a:solidFill>
              <a:srgbClr val="C0392B"/>
            </a:solidFill>
            <a:prstDash val="solid"/>
          </a:ln>
          <a:effectLst>
            <a:outerShdw blurRad="50800" dist="12700" dir="8100000" algn="bl" rotWithShape="0">
              <a:srgbClr val="000000">
                <a:alpha val="8000"/>
              </a:srgbClr>
            </a:outerShdw>
          </a:effectLst>
        </p:spPr>
      </p:sp>
      <p:sp>
        <p:nvSpPr>
          <p:cNvPr id="8" name="Text 5"/>
          <p:cNvSpPr/>
          <p:nvPr/>
        </p:nvSpPr>
        <p:spPr>
          <a:xfrm>
            <a:off x="6492240" y="804672"/>
            <a:ext cx="2331720" cy="256032"/>
          </a:xfrm>
          <a:prstGeom prst="rect">
            <a:avLst/>
          </a:prstGeom>
          <a:noFill/>
          <a:ln/>
        </p:spPr>
        <p:txBody>
          <a:bodyPr wrap="square" lIns="0" tIns="0" rIns="0" bIns="0"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Nigeria</a:t>
            </a:r>
            <a:endParaRPr lang="en-US" sz="1050" dirty="0"/>
          </a:p>
        </p:txBody>
      </p:sp>
      <p:sp>
        <p:nvSpPr>
          <p:cNvPr id="9" name="Text 6"/>
          <p:cNvSpPr/>
          <p:nvPr/>
        </p:nvSpPr>
        <p:spPr>
          <a:xfrm>
            <a:off x="6492240" y="1060704"/>
            <a:ext cx="2331720" cy="256032"/>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68,1 M cas  ·  26 % de la charge mondiale</a:t>
            </a:r>
            <a:endParaRPr lang="en-US" sz="900" dirty="0"/>
          </a:p>
        </p:txBody>
      </p:sp>
      <p:sp>
        <p:nvSpPr>
          <p:cNvPr id="10" name="Shape 7"/>
          <p:cNvSpPr/>
          <p:nvPr/>
        </p:nvSpPr>
        <p:spPr>
          <a:xfrm>
            <a:off x="6400800" y="1581912"/>
            <a:ext cx="2514600" cy="685800"/>
          </a:xfrm>
          <a:prstGeom prst="rect">
            <a:avLst/>
          </a:prstGeom>
          <a:solidFill>
            <a:srgbClr val="FFFFFF"/>
          </a:solidFill>
          <a:ln w="25400">
            <a:solidFill>
              <a:srgbClr val="E67E22"/>
            </a:solidFill>
            <a:prstDash val="solid"/>
          </a:ln>
          <a:effectLst>
            <a:outerShdw blurRad="50800" dist="12700" dir="8100000" algn="bl" rotWithShape="0">
              <a:srgbClr val="000000">
                <a:alpha val="8000"/>
              </a:srgbClr>
            </a:outerShdw>
          </a:effectLst>
        </p:spPr>
      </p:sp>
      <p:sp>
        <p:nvSpPr>
          <p:cNvPr id="11" name="Text 8"/>
          <p:cNvSpPr/>
          <p:nvPr/>
        </p:nvSpPr>
        <p:spPr>
          <a:xfrm>
            <a:off x="6492240" y="1609344"/>
            <a:ext cx="2331720" cy="256032"/>
          </a:xfrm>
          <a:prstGeom prst="rect">
            <a:avLst/>
          </a:prstGeom>
          <a:noFill/>
          <a:ln/>
        </p:spPr>
        <p:txBody>
          <a:bodyPr wrap="square" lIns="0" tIns="0" rIns="0" bIns="0" rtlCol="0" anchor="ctr"/>
          <a:lstStyle/>
          <a:p>
            <a:pPr marL="0" indent="0">
              <a:buNone/>
            </a:pPr>
            <a:r>
              <a:rPr lang="en-US" sz="1050" b="1" dirty="0">
                <a:solidFill>
                  <a:srgbClr val="E67E22"/>
                </a:solidFill>
                <a:latin typeface="Calibri" pitchFamily="34" charset="0"/>
                <a:ea typeface="Calibri" pitchFamily="34" charset="-122"/>
                <a:cs typeface="Calibri" pitchFamily="34" charset="-120"/>
              </a:rPr>
              <a:t>DRC</a:t>
            </a:r>
            <a:endParaRPr lang="en-US" sz="1050" dirty="0"/>
          </a:p>
        </p:txBody>
      </p:sp>
      <p:sp>
        <p:nvSpPr>
          <p:cNvPr id="12" name="Text 9"/>
          <p:cNvSpPr/>
          <p:nvPr/>
        </p:nvSpPr>
        <p:spPr>
          <a:xfrm>
            <a:off x="6492240" y="1865376"/>
            <a:ext cx="2331720" cy="256032"/>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33,1 M cas  ·  13 % de la charge mondiale</a:t>
            </a:r>
            <a:endParaRPr lang="en-US" sz="900" dirty="0"/>
          </a:p>
        </p:txBody>
      </p:sp>
      <p:sp>
        <p:nvSpPr>
          <p:cNvPr id="13" name="Shape 10"/>
          <p:cNvSpPr/>
          <p:nvPr/>
        </p:nvSpPr>
        <p:spPr>
          <a:xfrm>
            <a:off x="6400800" y="2386584"/>
            <a:ext cx="2514600" cy="685800"/>
          </a:xfrm>
          <a:prstGeom prst="rect">
            <a:avLst/>
          </a:prstGeom>
          <a:solidFill>
            <a:srgbClr val="FFFFFF"/>
          </a:solidFill>
          <a:ln w="25400">
            <a:solidFill>
              <a:srgbClr val="0D2B55"/>
            </a:solidFill>
            <a:prstDash val="solid"/>
          </a:ln>
          <a:effectLst>
            <a:outerShdw blurRad="50800" dist="12700" dir="8100000" algn="bl" rotWithShape="0">
              <a:srgbClr val="000000">
                <a:alpha val="8000"/>
              </a:srgbClr>
            </a:outerShdw>
          </a:effectLst>
        </p:spPr>
      </p:sp>
      <p:sp>
        <p:nvSpPr>
          <p:cNvPr id="14" name="Text 11"/>
          <p:cNvSpPr/>
          <p:nvPr/>
        </p:nvSpPr>
        <p:spPr>
          <a:xfrm>
            <a:off x="6492240" y="2414016"/>
            <a:ext cx="2331720" cy="256032"/>
          </a:xfrm>
          <a:prstGeom prst="rect">
            <a:avLst/>
          </a:prstGeom>
          <a:noFill/>
          <a:ln/>
        </p:spPr>
        <p:txBody>
          <a:bodyPr wrap="square" lIns="0" tIns="0" rIns="0" bIns="0" rtlCol="0" anchor="ctr"/>
          <a:lstStyle/>
          <a:p>
            <a:pPr marL="0" indent="0">
              <a:buNone/>
            </a:pPr>
            <a:r>
              <a:rPr lang="en-US" sz="1050" b="1" dirty="0">
                <a:solidFill>
                  <a:srgbClr val="0D2B55"/>
                </a:solidFill>
                <a:latin typeface="Calibri" pitchFamily="34" charset="0"/>
                <a:ea typeface="Calibri" pitchFamily="34" charset="-122"/>
                <a:cs typeface="Calibri" pitchFamily="34" charset="-120"/>
              </a:rPr>
              <a:t>Top 2 cumulé</a:t>
            </a:r>
            <a:endParaRPr lang="en-US" sz="1050" dirty="0"/>
          </a:p>
        </p:txBody>
      </p:sp>
      <p:sp>
        <p:nvSpPr>
          <p:cNvPr id="15" name="Text 12"/>
          <p:cNvSpPr/>
          <p:nvPr/>
        </p:nvSpPr>
        <p:spPr>
          <a:xfrm>
            <a:off x="6492240" y="2670048"/>
            <a:ext cx="2331720" cy="256032"/>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~101 M cas  ·  ≈ 39 % de la charge mondiale</a:t>
            </a:r>
            <a:endParaRPr lang="en-US" sz="900" dirty="0"/>
          </a:p>
        </p:txBody>
      </p:sp>
      <p:sp>
        <p:nvSpPr>
          <p:cNvPr id="16" name="Shape 13"/>
          <p:cNvSpPr/>
          <p:nvPr/>
        </p:nvSpPr>
        <p:spPr>
          <a:xfrm>
            <a:off x="6400800" y="3191256"/>
            <a:ext cx="2514600" cy="685800"/>
          </a:xfrm>
          <a:prstGeom prst="rect">
            <a:avLst/>
          </a:prstGeom>
          <a:solidFill>
            <a:srgbClr val="FFFFFF"/>
          </a:solidFill>
          <a:ln w="25400">
            <a:solidFill>
              <a:srgbClr val="006E7F"/>
            </a:solidFill>
            <a:prstDash val="solid"/>
          </a:ln>
          <a:effectLst>
            <a:outerShdw blurRad="50800" dist="12700" dir="8100000" algn="bl" rotWithShape="0">
              <a:srgbClr val="000000">
                <a:alpha val="8000"/>
              </a:srgbClr>
            </a:outerShdw>
          </a:effectLst>
        </p:spPr>
      </p:sp>
      <p:sp>
        <p:nvSpPr>
          <p:cNvPr id="17" name="Text 14"/>
          <p:cNvSpPr/>
          <p:nvPr/>
        </p:nvSpPr>
        <p:spPr>
          <a:xfrm>
            <a:off x="6492240" y="3218688"/>
            <a:ext cx="2331720" cy="256032"/>
          </a:xfrm>
          <a:prstGeom prst="rect">
            <a:avLst/>
          </a:prstGeom>
          <a:noFill/>
          <a:ln/>
        </p:spPr>
        <p:txBody>
          <a:bodyPr wrap="square" lIns="0" tIns="0" rIns="0" bIns="0" rtlCol="0" anchor="ctr"/>
          <a:lstStyle/>
          <a:p>
            <a:pPr marL="0" indent="0">
              <a:buNone/>
            </a:pPr>
            <a:r>
              <a:rPr lang="en-US" sz="1050" b="1" dirty="0">
                <a:solidFill>
                  <a:srgbClr val="006E7F"/>
                </a:solidFill>
                <a:latin typeface="Calibri" pitchFamily="34" charset="0"/>
                <a:ea typeface="Calibri" pitchFamily="34" charset="-122"/>
                <a:cs typeface="Calibri" pitchFamily="34" charset="-120"/>
              </a:rPr>
              <a:t>Top 15 cumulé</a:t>
            </a:r>
            <a:endParaRPr lang="en-US" sz="1050" dirty="0"/>
          </a:p>
        </p:txBody>
      </p:sp>
      <p:sp>
        <p:nvSpPr>
          <p:cNvPr id="18" name="Text 15"/>
          <p:cNvSpPr/>
          <p:nvPr/>
        </p:nvSpPr>
        <p:spPr>
          <a:xfrm>
            <a:off x="6492240" y="3474720"/>
            <a:ext cx="2331720" cy="256032"/>
          </a:xfrm>
          <a:prstGeom prst="rect">
            <a:avLst/>
          </a:prstGeom>
          <a:noFill/>
          <a:ln/>
        </p:spPr>
        <p:txBody>
          <a:bodyPr wrap="square" lIns="0" tIns="0" rIns="0" bIns="0" rtlCol="0" anchor="ctr"/>
          <a:lstStyle/>
          <a:p>
            <a:pPr marL="0" indent="0">
              <a:buNone/>
            </a:pPr>
            <a:r>
              <a:rPr lang="en-US" sz="900" dirty="0">
                <a:solidFill>
                  <a:srgbClr val="1A2B3C"/>
                </a:solidFill>
                <a:latin typeface="Calibri" pitchFamily="34" charset="0"/>
                <a:ea typeface="Calibri" pitchFamily="34" charset="-122"/>
                <a:cs typeface="Calibri" pitchFamily="34" charset="-120"/>
              </a:rPr>
              <a:t>~220 M cas  ·  ≈ 84 % de la charge mondiale</a:t>
            </a:r>
            <a:endParaRPr lang="en-US" sz="900" dirty="0"/>
          </a:p>
        </p:txBody>
      </p:sp>
      <p:sp>
        <p:nvSpPr>
          <p:cNvPr id="19" name="Shape 16"/>
          <p:cNvSpPr/>
          <p:nvPr/>
        </p:nvSpPr>
        <p:spPr>
          <a:xfrm>
            <a:off x="6400800" y="4069080"/>
            <a:ext cx="2514600" cy="658368"/>
          </a:xfrm>
          <a:prstGeom prst="rect">
            <a:avLst/>
          </a:prstGeom>
          <a:solidFill>
            <a:srgbClr val="D4F0F0"/>
          </a:solidFill>
          <a:ln w="12700">
            <a:solidFill>
              <a:srgbClr val="1A9BAF"/>
            </a:solidFill>
            <a:prstDash val="solid"/>
          </a:ln>
        </p:spPr>
      </p:sp>
      <p:sp>
        <p:nvSpPr>
          <p:cNvPr id="20" name="Text 17"/>
          <p:cNvSpPr/>
          <p:nvPr/>
        </p:nvSpPr>
        <p:spPr>
          <a:xfrm>
            <a:off x="6492240" y="4096512"/>
            <a:ext cx="2331720" cy="594360"/>
          </a:xfrm>
          <a:prstGeom prst="rect">
            <a:avLst/>
          </a:prstGeom>
          <a:noFill/>
          <a:ln/>
        </p:spPr>
        <p:txBody>
          <a:bodyPr wrap="square" lIns="0" tIns="0" rIns="0" bIns="0" rtlCol="0" anchor="ctr"/>
          <a:lstStyle/>
          <a:p>
            <a:pPr marL="0" indent="0">
              <a:buNone/>
            </a:pPr>
            <a:r>
              <a:rPr lang="en-US" sz="880" dirty="0">
                <a:solidFill>
                  <a:srgbClr val="0D2B55"/>
                </a:solidFill>
                <a:latin typeface="Calibri" pitchFamily="34" charset="0"/>
                <a:ea typeface="Calibri" pitchFamily="34" charset="-122"/>
                <a:cs typeface="Calibri" pitchFamily="34" charset="-120"/>
              </a:rPr>
              <a:t>⚠  La ligne « Total » (262,9 M) est un agrégat multi-pays à exclure avant jointure ArcGIS (voir Section 5 du script).</a:t>
            </a:r>
            <a:endParaRPr lang="en-US" sz="880" dirty="0"/>
          </a:p>
        </p:txBody>
      </p:sp>
      <p:sp>
        <p:nvSpPr>
          <p:cNvPr id="21" name="Shape 18"/>
          <p:cNvSpPr/>
          <p:nvPr/>
        </p:nvSpPr>
        <p:spPr>
          <a:xfrm>
            <a:off x="0" y="4892040"/>
            <a:ext cx="9144000" cy="251460"/>
          </a:xfrm>
          <a:prstGeom prst="rect">
            <a:avLst/>
          </a:prstGeom>
          <a:solidFill>
            <a:srgbClr val="E8EEF2"/>
          </a:solidFill>
          <a:ln w="12700">
            <a:solidFill>
              <a:srgbClr val="E8EEF2"/>
            </a:solidFill>
            <a:prstDash val="solid"/>
          </a:ln>
        </p:spPr>
      </p:sp>
      <p:sp>
        <p:nvSpPr>
          <p:cNvPr id="22" name="Text 19"/>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06E7F"/>
          </a:solidFill>
          <a:ln w="12700">
            <a:solidFill>
              <a:srgbClr val="006E7F"/>
            </a:solidFill>
            <a:prstDash val="solid"/>
          </a:ln>
        </p:spPr>
      </p:sp>
      <p:sp>
        <p:nvSpPr>
          <p:cNvPr id="3" name="Text 1"/>
          <p:cNvSpPr/>
          <p:nvPr/>
        </p:nvSpPr>
        <p:spPr>
          <a:xfrm>
            <a:off x="320040" y="54864"/>
            <a:ext cx="7772400" cy="393192"/>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Exportation &amp; Jointure dans ArcGIS Pro</a:t>
            </a:r>
            <a:endParaRPr lang="en-US" sz="1800" dirty="0"/>
          </a:p>
        </p:txBody>
      </p:sp>
      <p:sp>
        <p:nvSpPr>
          <p:cNvPr id="4" name="Text 2"/>
          <p:cNvSpPr/>
          <p:nvPr/>
        </p:nvSpPr>
        <p:spPr>
          <a:xfrm>
            <a:off x="320040" y="594360"/>
            <a:ext cx="8503920" cy="292608"/>
          </a:xfrm>
          <a:prstGeom prst="rect">
            <a:avLst/>
          </a:prstGeom>
          <a:noFill/>
          <a:ln/>
        </p:spPr>
        <p:txBody>
          <a:bodyPr wrap="square" lIns="0" tIns="0" rIns="0" bIns="0" rtlCol="0" anchor="ctr"/>
          <a:lstStyle/>
          <a:p>
            <a:pPr marL="0" indent="0">
              <a:buNone/>
            </a:pPr>
            <a:r>
              <a:rPr lang="en-US" sz="1100" i="1" dirty="0">
                <a:solidFill>
                  <a:srgbClr val="006E7F"/>
                </a:solidFill>
                <a:latin typeface="Calibri" pitchFamily="34" charset="0"/>
                <a:ea typeface="Calibri" pitchFamily="34" charset="-122"/>
                <a:cs typeface="Calibri" pitchFamily="34" charset="-120"/>
              </a:rPr>
              <a:t>Table CSV enrichie — malaria_arcgis_2023.csv</a:t>
            </a:r>
            <a:endParaRPr lang="en-US" sz="1100" dirty="0"/>
          </a:p>
        </p:txBody>
      </p:sp>
      <p:sp>
        <p:nvSpPr>
          <p:cNvPr id="5" name="Shape 3"/>
          <p:cNvSpPr/>
          <p:nvPr/>
        </p:nvSpPr>
        <p:spPr>
          <a:xfrm>
            <a:off x="274320" y="960120"/>
            <a:ext cx="4114800" cy="3703320"/>
          </a:xfrm>
          <a:prstGeom prst="rect">
            <a:avLst/>
          </a:prstGeom>
          <a:solidFill>
            <a:srgbClr val="FFFFFF"/>
          </a:solidFill>
          <a:ln w="12700">
            <a:solidFill>
              <a:srgbClr val="E8EEF2"/>
            </a:solidFill>
            <a:prstDash val="solid"/>
          </a:ln>
          <a:effectLst>
            <a:outerShdw blurRad="63500" dist="25400" dir="8100000" algn="bl" rotWithShape="0">
              <a:srgbClr val="000000">
                <a:alpha val="8000"/>
              </a:srgbClr>
            </a:outerShdw>
          </a:effectLst>
        </p:spPr>
      </p:sp>
      <p:sp>
        <p:nvSpPr>
          <p:cNvPr id="6" name="Text 4"/>
          <p:cNvSpPr/>
          <p:nvPr/>
        </p:nvSpPr>
        <p:spPr>
          <a:xfrm>
            <a:off x="274320" y="960120"/>
            <a:ext cx="4114800" cy="320040"/>
          </a:xfrm>
          <a:prstGeom prst="rect">
            <a:avLst/>
          </a:prstGeom>
          <a:solidFill>
            <a:srgbClr val="0D2B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VARIABLES EXPORTÉES (12 colonnes)</a:t>
            </a:r>
            <a:endParaRPr lang="en-US" sz="1000" dirty="0"/>
          </a:p>
        </p:txBody>
      </p:sp>
      <p:sp>
        <p:nvSpPr>
          <p:cNvPr id="7" name="Text 5"/>
          <p:cNvSpPr/>
          <p:nvPr/>
        </p:nvSpPr>
        <p:spPr>
          <a:xfrm>
            <a:off x="365760" y="1389888"/>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8" name="Text 6"/>
          <p:cNvSpPr/>
          <p:nvPr/>
        </p:nvSpPr>
        <p:spPr>
          <a:xfrm>
            <a:off x="658368" y="1389888"/>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region_pays  </a:t>
            </a:r>
            <a:r>
              <a:rPr lang="en-US" sz="950" dirty="0">
                <a:solidFill>
                  <a:srgbClr val="1A2B3C"/>
                </a:solidFill>
                <a:latin typeface="Calibri" pitchFamily="34" charset="0"/>
                <a:ea typeface="Calibri" pitchFamily="34" charset="-122"/>
                <a:cs typeface="Calibri" pitchFamily="34" charset="-120"/>
              </a:rPr>
              <a:t>Clé de jointure avec Shapefile</a:t>
            </a:r>
            <a:endParaRPr lang="en-US" sz="950" dirty="0"/>
          </a:p>
        </p:txBody>
      </p:sp>
      <p:sp>
        <p:nvSpPr>
          <p:cNvPr id="9" name="Text 7"/>
          <p:cNvSpPr/>
          <p:nvPr/>
        </p:nvSpPr>
        <p:spPr>
          <a:xfrm>
            <a:off x="365760" y="1719072"/>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10" name="Text 8"/>
          <p:cNvSpPr/>
          <p:nvPr/>
        </p:nvSpPr>
        <p:spPr>
          <a:xfrm>
            <a:off x="658368" y="1719072"/>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annee  </a:t>
            </a:r>
            <a:r>
              <a:rPr lang="en-US" sz="950" dirty="0">
                <a:solidFill>
                  <a:srgbClr val="1A2B3C"/>
                </a:solidFill>
                <a:latin typeface="Calibri" pitchFamily="34" charset="0"/>
                <a:ea typeface="Calibri" pitchFamily="34" charset="-122"/>
                <a:cs typeface="Calibri" pitchFamily="34" charset="-120"/>
              </a:rPr>
              <a:t>2023 (filtre temporel)</a:t>
            </a:r>
            <a:endParaRPr lang="en-US" sz="950" dirty="0"/>
          </a:p>
        </p:txBody>
      </p:sp>
      <p:sp>
        <p:nvSpPr>
          <p:cNvPr id="11" name="Text 9"/>
          <p:cNvSpPr/>
          <p:nvPr/>
        </p:nvSpPr>
        <p:spPr>
          <a:xfrm>
            <a:off x="365760" y="2048256"/>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12" name="Text 10"/>
          <p:cNvSpPr/>
          <p:nvPr/>
        </p:nvSpPr>
        <p:spPr>
          <a:xfrm>
            <a:off x="658368" y="2048256"/>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population_a_risque  </a:t>
            </a:r>
            <a:r>
              <a:rPr lang="en-US" sz="950" dirty="0">
                <a:solidFill>
                  <a:srgbClr val="1A2B3C"/>
                </a:solidFill>
                <a:latin typeface="Calibri" pitchFamily="34" charset="0"/>
                <a:ea typeface="Calibri" pitchFamily="34" charset="-122"/>
                <a:cs typeface="Calibri" pitchFamily="34" charset="-120"/>
              </a:rPr>
              <a:t>Dénominateur de taux</a:t>
            </a:r>
            <a:endParaRPr lang="en-US" sz="950" dirty="0"/>
          </a:p>
        </p:txBody>
      </p:sp>
      <p:sp>
        <p:nvSpPr>
          <p:cNvPr id="13" name="Text 11"/>
          <p:cNvSpPr/>
          <p:nvPr/>
        </p:nvSpPr>
        <p:spPr>
          <a:xfrm>
            <a:off x="365760" y="2377440"/>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14" name="Text 12"/>
          <p:cNvSpPr/>
          <p:nvPr/>
        </p:nvSpPr>
        <p:spPr>
          <a:xfrm>
            <a:off x="658368" y="2377440"/>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cas_estimes_point  </a:t>
            </a:r>
            <a:r>
              <a:rPr lang="en-US" sz="950" dirty="0">
                <a:solidFill>
                  <a:srgbClr val="1A2B3C"/>
                </a:solidFill>
                <a:latin typeface="Calibri" pitchFamily="34" charset="0"/>
                <a:ea typeface="Calibri" pitchFamily="34" charset="-122"/>
                <a:cs typeface="Calibri" pitchFamily="34" charset="-120"/>
              </a:rPr>
              <a:t>Variable principale choroplèthe</a:t>
            </a:r>
            <a:endParaRPr lang="en-US" sz="950" dirty="0"/>
          </a:p>
        </p:txBody>
      </p:sp>
      <p:sp>
        <p:nvSpPr>
          <p:cNvPr id="15" name="Text 13"/>
          <p:cNvSpPr/>
          <p:nvPr/>
        </p:nvSpPr>
        <p:spPr>
          <a:xfrm>
            <a:off x="365760" y="2706624"/>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16" name="Text 14"/>
          <p:cNvSpPr/>
          <p:nvPr/>
        </p:nvSpPr>
        <p:spPr>
          <a:xfrm>
            <a:off x="658368" y="2706624"/>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deces_estimes_point  </a:t>
            </a:r>
            <a:r>
              <a:rPr lang="en-US" sz="950" dirty="0">
                <a:solidFill>
                  <a:srgbClr val="1A2B3C"/>
                </a:solidFill>
                <a:latin typeface="Calibri" pitchFamily="34" charset="0"/>
                <a:ea typeface="Calibri" pitchFamily="34" charset="-122"/>
                <a:cs typeface="Calibri" pitchFamily="34" charset="-120"/>
              </a:rPr>
              <a:t>Mortalité — variable secondaire</a:t>
            </a:r>
            <a:endParaRPr lang="en-US" sz="950" dirty="0"/>
          </a:p>
        </p:txBody>
      </p:sp>
      <p:sp>
        <p:nvSpPr>
          <p:cNvPr id="17" name="Text 15"/>
          <p:cNvSpPr/>
          <p:nvPr/>
        </p:nvSpPr>
        <p:spPr>
          <a:xfrm>
            <a:off x="365760" y="3035808"/>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18" name="Text 16"/>
          <p:cNvSpPr/>
          <p:nvPr/>
        </p:nvSpPr>
        <p:spPr>
          <a:xfrm>
            <a:off x="658368" y="3035808"/>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cas/deces _inf/_sup  </a:t>
            </a:r>
            <a:r>
              <a:rPr lang="en-US" sz="950" dirty="0">
                <a:solidFill>
                  <a:srgbClr val="1A2B3C"/>
                </a:solidFill>
                <a:latin typeface="Calibri" pitchFamily="34" charset="0"/>
                <a:ea typeface="Calibri" pitchFamily="34" charset="-122"/>
                <a:cs typeface="Calibri" pitchFamily="34" charset="-120"/>
              </a:rPr>
              <a:t>Bornes IC95% — cartographie incertitude</a:t>
            </a:r>
            <a:endParaRPr lang="en-US" sz="950" dirty="0"/>
          </a:p>
        </p:txBody>
      </p:sp>
      <p:sp>
        <p:nvSpPr>
          <p:cNvPr id="19" name="Text 17"/>
          <p:cNvSpPr/>
          <p:nvPr/>
        </p:nvSpPr>
        <p:spPr>
          <a:xfrm>
            <a:off x="365760" y="3364992"/>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20" name="Text 18"/>
          <p:cNvSpPr/>
          <p:nvPr/>
        </p:nvSpPr>
        <p:spPr>
          <a:xfrm>
            <a:off x="658368" y="3364992"/>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taux_letalite_pct  </a:t>
            </a:r>
            <a:r>
              <a:rPr lang="en-US" sz="950" dirty="0">
                <a:solidFill>
                  <a:srgbClr val="1A2B3C"/>
                </a:solidFill>
                <a:latin typeface="Calibri" pitchFamily="34" charset="0"/>
                <a:ea typeface="Calibri" pitchFamily="34" charset="-122"/>
                <a:cs typeface="Calibri" pitchFamily="34" charset="-120"/>
              </a:rPr>
              <a:t>CFR (%) = décès/cas × 100</a:t>
            </a:r>
            <a:endParaRPr lang="en-US" sz="950" dirty="0"/>
          </a:p>
        </p:txBody>
      </p:sp>
      <p:sp>
        <p:nvSpPr>
          <p:cNvPr id="21" name="Text 19"/>
          <p:cNvSpPr/>
          <p:nvPr/>
        </p:nvSpPr>
        <p:spPr>
          <a:xfrm>
            <a:off x="365760" y="3694176"/>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22" name="Text 20"/>
          <p:cNvSpPr/>
          <p:nvPr/>
        </p:nvSpPr>
        <p:spPr>
          <a:xfrm>
            <a:off x="658368" y="3694176"/>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incidence_pour_1000  </a:t>
            </a:r>
            <a:r>
              <a:rPr lang="en-US" sz="950" dirty="0">
                <a:solidFill>
                  <a:srgbClr val="1A2B3C"/>
                </a:solidFill>
                <a:latin typeface="Calibri" pitchFamily="34" charset="0"/>
                <a:ea typeface="Calibri" pitchFamily="34" charset="-122"/>
                <a:cs typeface="Calibri" pitchFamily="34" charset="-120"/>
              </a:rPr>
              <a:t>Incidence / 1 000 hab. à risque</a:t>
            </a:r>
            <a:endParaRPr lang="en-US" sz="950" dirty="0"/>
          </a:p>
        </p:txBody>
      </p:sp>
      <p:sp>
        <p:nvSpPr>
          <p:cNvPr id="23" name="Text 21"/>
          <p:cNvSpPr/>
          <p:nvPr/>
        </p:nvSpPr>
        <p:spPr>
          <a:xfrm>
            <a:off x="365760" y="4023360"/>
            <a:ext cx="274320" cy="292608"/>
          </a:xfrm>
          <a:prstGeom prst="rect">
            <a:avLst/>
          </a:prstGeom>
          <a:noFill/>
          <a:ln/>
        </p:spPr>
        <p:txBody>
          <a:bodyPr wrap="square" lIns="0" tIns="0" rIns="0" bIns="0" rtlCol="0" anchor="ctr"/>
          <a:lstStyle/>
          <a:p>
            <a:pPr marL="0" indent="0">
              <a:buNone/>
            </a:pPr>
            <a:r>
              <a:rPr lang="en-US" sz="1000" dirty="0">
                <a:solidFill>
                  <a:srgbClr val="000000"/>
                </a:solidFill>
                <a:latin typeface="Calibri" pitchFamily="34" charset="0"/>
                <a:ea typeface="Calibri" pitchFamily="34" charset="-122"/>
                <a:cs typeface="Calibri" pitchFamily="34" charset="-120"/>
              </a:rPr>
              <a:t>🎯  </a:t>
            </a:r>
            <a:endParaRPr lang="en-US" sz="1000" dirty="0"/>
          </a:p>
        </p:txBody>
      </p:sp>
      <p:sp>
        <p:nvSpPr>
          <p:cNvPr id="24" name="Text 22"/>
          <p:cNvSpPr/>
          <p:nvPr/>
        </p:nvSpPr>
        <p:spPr>
          <a:xfrm>
            <a:off x="658368" y="4023360"/>
            <a:ext cx="3566160" cy="292608"/>
          </a:xfrm>
          <a:prstGeom prst="rect">
            <a:avLst/>
          </a:prstGeom>
          <a:noFill/>
          <a:ln/>
        </p:spPr>
        <p:txBody>
          <a:bodyPr wrap="square" lIns="0" tIns="0" rIns="0" bIns="0" rtlCol="0" anchor="ctr"/>
          <a:lstStyle/>
          <a:p>
            <a:pPr marL="0" indent="0">
              <a:buNone/>
            </a:pPr>
            <a:r>
              <a:rPr lang="en-US" sz="950" b="1" dirty="0">
                <a:solidFill>
                  <a:srgbClr val="006E7F"/>
                </a:solidFill>
                <a:latin typeface="Calibri" pitchFamily="34" charset="0"/>
                <a:ea typeface="Calibri" pitchFamily="34" charset="-122"/>
                <a:cs typeface="Calibri" pitchFamily="34" charset="-120"/>
              </a:rPr>
              <a:t>mortalite_pour_100k  </a:t>
            </a:r>
            <a:r>
              <a:rPr lang="en-US" sz="950" dirty="0">
                <a:solidFill>
                  <a:srgbClr val="1A2B3C"/>
                </a:solidFill>
                <a:latin typeface="Calibri" pitchFamily="34" charset="0"/>
                <a:ea typeface="Calibri" pitchFamily="34" charset="-122"/>
                <a:cs typeface="Calibri" pitchFamily="34" charset="-120"/>
              </a:rPr>
              <a:t>Mortalité / 100 000 (ODD 3.3)</a:t>
            </a:r>
            <a:endParaRPr lang="en-US" sz="950" dirty="0"/>
          </a:p>
        </p:txBody>
      </p:sp>
      <p:sp>
        <p:nvSpPr>
          <p:cNvPr id="25" name="Shape 23"/>
          <p:cNvSpPr/>
          <p:nvPr/>
        </p:nvSpPr>
        <p:spPr>
          <a:xfrm>
            <a:off x="4663440" y="960120"/>
            <a:ext cx="4206240" cy="3703320"/>
          </a:xfrm>
          <a:prstGeom prst="rect">
            <a:avLst/>
          </a:prstGeom>
          <a:solidFill>
            <a:srgbClr val="FFFFFF"/>
          </a:solidFill>
          <a:ln w="12700">
            <a:solidFill>
              <a:srgbClr val="E8EEF2"/>
            </a:solidFill>
            <a:prstDash val="solid"/>
          </a:ln>
          <a:effectLst>
            <a:outerShdw blurRad="63500" dist="25400" dir="8100000" algn="bl" rotWithShape="0">
              <a:srgbClr val="000000">
                <a:alpha val="8000"/>
              </a:srgbClr>
            </a:outerShdw>
          </a:effectLst>
        </p:spPr>
      </p:sp>
      <p:sp>
        <p:nvSpPr>
          <p:cNvPr id="26" name="Text 24"/>
          <p:cNvSpPr/>
          <p:nvPr/>
        </p:nvSpPr>
        <p:spPr>
          <a:xfrm>
            <a:off x="4663440" y="960120"/>
            <a:ext cx="4206240" cy="320040"/>
          </a:xfrm>
          <a:prstGeom prst="rect">
            <a:avLst/>
          </a:prstGeom>
          <a:solidFill>
            <a:srgbClr val="006E7F"/>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ÉTAPES DANS ArcGIS Pro</a:t>
            </a:r>
            <a:endParaRPr lang="en-US" sz="1000" dirty="0"/>
          </a:p>
        </p:txBody>
      </p:sp>
      <p:sp>
        <p:nvSpPr>
          <p:cNvPr id="27" name="Shape 25"/>
          <p:cNvSpPr/>
          <p:nvPr/>
        </p:nvSpPr>
        <p:spPr>
          <a:xfrm>
            <a:off x="4800600" y="1389888"/>
            <a:ext cx="320040" cy="320040"/>
          </a:xfrm>
          <a:prstGeom prst="rect">
            <a:avLst/>
          </a:prstGeom>
          <a:solidFill>
            <a:srgbClr val="1A9BAF"/>
          </a:solidFill>
          <a:ln w="12700">
            <a:solidFill>
              <a:srgbClr val="1A9BAF"/>
            </a:solidFill>
            <a:prstDash val="solid"/>
          </a:ln>
        </p:spPr>
      </p:sp>
      <p:sp>
        <p:nvSpPr>
          <p:cNvPr id="28" name="Text 26"/>
          <p:cNvSpPr/>
          <p:nvPr/>
        </p:nvSpPr>
        <p:spPr>
          <a:xfrm>
            <a:off x="4800600" y="138988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9" name="Text 27"/>
          <p:cNvSpPr/>
          <p:nvPr/>
        </p:nvSpPr>
        <p:spPr>
          <a:xfrm>
            <a:off x="5193792" y="1408176"/>
            <a:ext cx="3520440" cy="566928"/>
          </a:xfrm>
          <a:prstGeom prst="rect">
            <a:avLst/>
          </a:prstGeom>
          <a:noFill/>
          <a:ln/>
        </p:spPr>
        <p:txBody>
          <a:bodyPr wrap="square" lIns="0" tIns="0" rIns="0" bIns="0" rtlCol="0" anchor="ctr"/>
          <a:lstStyle/>
          <a:p>
            <a:pPr marL="0" indent="0">
              <a:buNone/>
            </a:pPr>
            <a:r>
              <a:rPr lang="en-US" sz="980" dirty="0">
                <a:solidFill>
                  <a:srgbClr val="1A2B3C"/>
                </a:solidFill>
                <a:latin typeface="Calibri" pitchFamily="34" charset="0"/>
                <a:ea typeface="Calibri" pitchFamily="34" charset="-122"/>
                <a:cs typeface="Calibri" pitchFamily="34" charset="-120"/>
              </a:rPr>
              <a:t>Charger World_Countries.shp dans la Map View</a:t>
            </a:r>
            <a:endParaRPr lang="en-US" sz="980" dirty="0"/>
          </a:p>
        </p:txBody>
      </p:sp>
      <p:sp>
        <p:nvSpPr>
          <p:cNvPr id="30" name="Shape 28"/>
          <p:cNvSpPr/>
          <p:nvPr/>
        </p:nvSpPr>
        <p:spPr>
          <a:xfrm>
            <a:off x="4800600" y="1993392"/>
            <a:ext cx="320040" cy="320040"/>
          </a:xfrm>
          <a:prstGeom prst="rect">
            <a:avLst/>
          </a:prstGeom>
          <a:solidFill>
            <a:srgbClr val="1A9BAF"/>
          </a:solidFill>
          <a:ln w="12700">
            <a:solidFill>
              <a:srgbClr val="1A9BAF"/>
            </a:solidFill>
            <a:prstDash val="solid"/>
          </a:ln>
        </p:spPr>
      </p:sp>
      <p:sp>
        <p:nvSpPr>
          <p:cNvPr id="31" name="Text 29"/>
          <p:cNvSpPr/>
          <p:nvPr/>
        </p:nvSpPr>
        <p:spPr>
          <a:xfrm>
            <a:off x="4800600" y="1993392"/>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32" name="Text 30"/>
          <p:cNvSpPr/>
          <p:nvPr/>
        </p:nvSpPr>
        <p:spPr>
          <a:xfrm>
            <a:off x="5193792" y="2011680"/>
            <a:ext cx="3520440" cy="566928"/>
          </a:xfrm>
          <a:prstGeom prst="rect">
            <a:avLst/>
          </a:prstGeom>
          <a:noFill/>
          <a:ln/>
        </p:spPr>
        <p:txBody>
          <a:bodyPr wrap="square" lIns="0" tIns="0" rIns="0" bIns="0" rtlCol="0" anchor="ctr"/>
          <a:lstStyle/>
          <a:p>
            <a:pPr marL="0" indent="0">
              <a:buNone/>
            </a:pPr>
            <a:r>
              <a:rPr lang="en-US" sz="980" dirty="0">
                <a:solidFill>
                  <a:srgbClr val="1A2B3C"/>
                </a:solidFill>
                <a:latin typeface="Calibri" pitchFamily="34" charset="0"/>
                <a:ea typeface="Calibri" pitchFamily="34" charset="-122"/>
                <a:cs typeface="Calibri" pitchFamily="34" charset="-120"/>
              </a:rPr>
              <a:t>Map → Add Data → Table → malaria_arcgis_2023.csv</a:t>
            </a:r>
            <a:endParaRPr lang="en-US" sz="980" dirty="0"/>
          </a:p>
        </p:txBody>
      </p:sp>
      <p:sp>
        <p:nvSpPr>
          <p:cNvPr id="33" name="Shape 31"/>
          <p:cNvSpPr/>
          <p:nvPr/>
        </p:nvSpPr>
        <p:spPr>
          <a:xfrm>
            <a:off x="4800600" y="2596896"/>
            <a:ext cx="320040" cy="320040"/>
          </a:xfrm>
          <a:prstGeom prst="rect">
            <a:avLst/>
          </a:prstGeom>
          <a:solidFill>
            <a:srgbClr val="1A9BAF"/>
          </a:solidFill>
          <a:ln w="12700">
            <a:solidFill>
              <a:srgbClr val="1A9BAF"/>
            </a:solidFill>
            <a:prstDash val="solid"/>
          </a:ln>
        </p:spPr>
      </p:sp>
      <p:sp>
        <p:nvSpPr>
          <p:cNvPr id="34" name="Text 32"/>
          <p:cNvSpPr/>
          <p:nvPr/>
        </p:nvSpPr>
        <p:spPr>
          <a:xfrm>
            <a:off x="4800600" y="259689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5" name="Text 33"/>
          <p:cNvSpPr/>
          <p:nvPr/>
        </p:nvSpPr>
        <p:spPr>
          <a:xfrm>
            <a:off x="5193792" y="2615184"/>
            <a:ext cx="3520440" cy="566928"/>
          </a:xfrm>
          <a:prstGeom prst="rect">
            <a:avLst/>
          </a:prstGeom>
          <a:noFill/>
          <a:ln/>
        </p:spPr>
        <p:txBody>
          <a:bodyPr wrap="square" lIns="0" tIns="0" rIns="0" bIns="0" rtlCol="0" anchor="ctr"/>
          <a:lstStyle/>
          <a:p>
            <a:pPr marL="0" indent="0">
              <a:buNone/>
            </a:pPr>
            <a:r>
              <a:rPr lang="en-US" sz="980" dirty="0">
                <a:solidFill>
                  <a:srgbClr val="1A2B3C"/>
                </a:solidFill>
                <a:latin typeface="Calibri" pitchFamily="34" charset="0"/>
                <a:ea typeface="Calibri" pitchFamily="34" charset="-122"/>
                <a:cs typeface="Calibri" pitchFamily="34" charset="-120"/>
              </a:rPr>
              <a:t>Add Join : Shapefile.COUNTRY_NAME ↔ CSV.region_pays</a:t>
            </a:r>
            <a:endParaRPr lang="en-US" sz="980" dirty="0"/>
          </a:p>
        </p:txBody>
      </p:sp>
      <p:sp>
        <p:nvSpPr>
          <p:cNvPr id="36" name="Shape 34"/>
          <p:cNvSpPr/>
          <p:nvPr/>
        </p:nvSpPr>
        <p:spPr>
          <a:xfrm>
            <a:off x="4800600" y="3200400"/>
            <a:ext cx="320040" cy="320040"/>
          </a:xfrm>
          <a:prstGeom prst="rect">
            <a:avLst/>
          </a:prstGeom>
          <a:solidFill>
            <a:srgbClr val="1A9BAF"/>
          </a:solidFill>
          <a:ln w="12700">
            <a:solidFill>
              <a:srgbClr val="1A9BAF"/>
            </a:solidFill>
            <a:prstDash val="solid"/>
          </a:ln>
        </p:spPr>
      </p:sp>
      <p:sp>
        <p:nvSpPr>
          <p:cNvPr id="37" name="Text 35"/>
          <p:cNvSpPr/>
          <p:nvPr/>
        </p:nvSpPr>
        <p:spPr>
          <a:xfrm>
            <a:off x="4800600" y="3200400"/>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38" name="Text 36"/>
          <p:cNvSpPr/>
          <p:nvPr/>
        </p:nvSpPr>
        <p:spPr>
          <a:xfrm>
            <a:off x="5193792" y="3218688"/>
            <a:ext cx="3520440" cy="566928"/>
          </a:xfrm>
          <a:prstGeom prst="rect">
            <a:avLst/>
          </a:prstGeom>
          <a:noFill/>
          <a:ln/>
        </p:spPr>
        <p:txBody>
          <a:bodyPr wrap="square" lIns="0" tIns="0" rIns="0" bIns="0" rtlCol="0" anchor="ctr"/>
          <a:lstStyle/>
          <a:p>
            <a:pPr marL="0" indent="0">
              <a:buNone/>
            </a:pPr>
            <a:r>
              <a:rPr lang="en-US" sz="980" dirty="0">
                <a:solidFill>
                  <a:srgbClr val="1A2B3C"/>
                </a:solidFill>
                <a:latin typeface="Calibri" pitchFamily="34" charset="0"/>
                <a:ea typeface="Calibri" pitchFamily="34" charset="-122"/>
                <a:cs typeface="Calibri" pitchFamily="34" charset="-120"/>
              </a:rPr>
              <a:t>Symbology → Graduated Colors → cas_estimes_point → Natural Breaks (5 classes)</a:t>
            </a:r>
            <a:endParaRPr lang="en-US" sz="980" dirty="0"/>
          </a:p>
        </p:txBody>
      </p:sp>
      <p:sp>
        <p:nvSpPr>
          <p:cNvPr id="39" name="Shape 37"/>
          <p:cNvSpPr/>
          <p:nvPr/>
        </p:nvSpPr>
        <p:spPr>
          <a:xfrm>
            <a:off x="4800600" y="3803904"/>
            <a:ext cx="320040" cy="320040"/>
          </a:xfrm>
          <a:prstGeom prst="rect">
            <a:avLst/>
          </a:prstGeom>
          <a:solidFill>
            <a:srgbClr val="1A9BAF"/>
          </a:solidFill>
          <a:ln w="12700">
            <a:solidFill>
              <a:srgbClr val="1A9BAF"/>
            </a:solidFill>
            <a:prstDash val="solid"/>
          </a:ln>
        </p:spPr>
      </p:sp>
      <p:sp>
        <p:nvSpPr>
          <p:cNvPr id="40" name="Text 38"/>
          <p:cNvSpPr/>
          <p:nvPr/>
        </p:nvSpPr>
        <p:spPr>
          <a:xfrm>
            <a:off x="4800600" y="380390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41" name="Text 39"/>
          <p:cNvSpPr/>
          <p:nvPr/>
        </p:nvSpPr>
        <p:spPr>
          <a:xfrm>
            <a:off x="5193792" y="3822192"/>
            <a:ext cx="3520440" cy="566928"/>
          </a:xfrm>
          <a:prstGeom prst="rect">
            <a:avLst/>
          </a:prstGeom>
          <a:noFill/>
          <a:ln/>
        </p:spPr>
        <p:txBody>
          <a:bodyPr wrap="square" lIns="0" tIns="0" rIns="0" bIns="0" rtlCol="0" anchor="ctr"/>
          <a:lstStyle/>
          <a:p>
            <a:pPr marL="0" indent="0">
              <a:buNone/>
            </a:pPr>
            <a:r>
              <a:rPr lang="en-US" sz="980" dirty="0">
                <a:solidFill>
                  <a:srgbClr val="1A2B3C"/>
                </a:solidFill>
                <a:latin typeface="Calibri" pitchFamily="34" charset="0"/>
                <a:ea typeface="Calibri" pitchFamily="34" charset="-122"/>
                <a:cs typeface="Calibri" pitchFamily="34" charset="-120"/>
              </a:rPr>
              <a:t>Palette : Jaune → Orange → Rouge (convention santé publique)</a:t>
            </a:r>
            <a:endParaRPr lang="en-US" sz="980" dirty="0"/>
          </a:p>
        </p:txBody>
      </p:sp>
      <p:sp>
        <p:nvSpPr>
          <p:cNvPr id="42" name="Shape 40"/>
          <p:cNvSpPr/>
          <p:nvPr/>
        </p:nvSpPr>
        <p:spPr>
          <a:xfrm>
            <a:off x="4663440" y="4434840"/>
            <a:ext cx="4206240" cy="228600"/>
          </a:xfrm>
          <a:prstGeom prst="rect">
            <a:avLst/>
          </a:prstGeom>
          <a:solidFill>
            <a:srgbClr val="FFF3CD"/>
          </a:solidFill>
          <a:ln w="12700">
            <a:solidFill>
              <a:srgbClr val="E67E22"/>
            </a:solidFill>
            <a:prstDash val="solid"/>
          </a:ln>
        </p:spPr>
      </p:sp>
      <p:sp>
        <p:nvSpPr>
          <p:cNvPr id="43" name="Text 41"/>
          <p:cNvSpPr/>
          <p:nvPr/>
        </p:nvSpPr>
        <p:spPr>
          <a:xfrm>
            <a:off x="4754880" y="4443984"/>
            <a:ext cx="4023360" cy="210312"/>
          </a:xfrm>
          <a:prstGeom prst="rect">
            <a:avLst/>
          </a:prstGeom>
          <a:noFill/>
          <a:ln/>
        </p:spPr>
        <p:txBody>
          <a:bodyPr wrap="square" lIns="0" tIns="0" rIns="0" bIns="0" rtlCol="0" anchor="ctr"/>
          <a:lstStyle/>
          <a:p>
            <a:pPr marL="0" indent="0">
              <a:buNone/>
            </a:pPr>
            <a:r>
              <a:rPr lang="en-US" sz="850" b="1" dirty="0">
                <a:solidFill>
                  <a:srgbClr val="E67E22"/>
                </a:solidFill>
                <a:latin typeface="Calibri" pitchFamily="34" charset="0"/>
                <a:ea typeface="Calibri" pitchFamily="34" charset="-122"/>
                <a:cs typeface="Calibri" pitchFamily="34" charset="-120"/>
              </a:rPr>
              <a:t>⚠  Harmoniser les noms de pays (ex. : « Congo » ↔ « Republic of the Congo »)</a:t>
            </a:r>
            <a:endParaRPr lang="en-US" sz="850" dirty="0"/>
          </a:p>
        </p:txBody>
      </p:sp>
      <p:sp>
        <p:nvSpPr>
          <p:cNvPr id="44" name="Shape 42"/>
          <p:cNvSpPr/>
          <p:nvPr/>
        </p:nvSpPr>
        <p:spPr>
          <a:xfrm>
            <a:off x="0" y="4892040"/>
            <a:ext cx="9144000" cy="251460"/>
          </a:xfrm>
          <a:prstGeom prst="rect">
            <a:avLst/>
          </a:prstGeom>
          <a:solidFill>
            <a:srgbClr val="E8EEF2"/>
          </a:solidFill>
          <a:ln w="12700">
            <a:solidFill>
              <a:srgbClr val="E8EEF2"/>
            </a:solidFill>
            <a:prstDash val="solid"/>
          </a:ln>
        </p:spPr>
      </p:sp>
      <p:sp>
        <p:nvSpPr>
          <p:cNvPr id="45" name="Text 43"/>
          <p:cNvSpPr/>
          <p:nvPr/>
        </p:nvSpPr>
        <p:spPr>
          <a:xfrm>
            <a:off x="274320" y="4901184"/>
            <a:ext cx="8595360" cy="22860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Source : World Malaria Report 2024, OMS (Annexe 4F) | Analyse : GADA Training &amp; Solutions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006E7F"/>
          </a:solidFill>
          <a:ln w="12700">
            <a:solidFill>
              <a:srgbClr val="006E7F"/>
            </a:solidFill>
            <a:prstDash val="solid"/>
          </a:ln>
        </p:spPr>
      </p:sp>
      <p:sp>
        <p:nvSpPr>
          <p:cNvPr id="3" name="Shape 1"/>
          <p:cNvSpPr/>
          <p:nvPr/>
        </p:nvSpPr>
        <p:spPr>
          <a:xfrm>
            <a:off x="6492240" y="0"/>
            <a:ext cx="411480" cy="5143500"/>
          </a:xfrm>
          <a:prstGeom prst="rect">
            <a:avLst/>
          </a:prstGeom>
          <a:solidFill>
            <a:srgbClr val="1A9BAF">
              <a:alpha val="45000"/>
            </a:srgbClr>
          </a:solidFill>
          <a:ln w="12700">
            <a:solidFill>
              <a:srgbClr val="1A9BAF">
                <a:alpha val="45000"/>
              </a:srgbClr>
            </a:solidFill>
            <a:prstDash val="solid"/>
          </a:ln>
        </p:spPr>
      </p:sp>
      <p:sp>
        <p:nvSpPr>
          <p:cNvPr id="4" name="Text 2"/>
          <p:cNvSpPr/>
          <p:nvPr/>
        </p:nvSpPr>
        <p:spPr>
          <a:xfrm>
            <a:off x="457200" y="411480"/>
            <a:ext cx="5852160" cy="502920"/>
          </a:xfrm>
          <a:prstGeom prst="rect">
            <a:avLst/>
          </a:prstGeom>
          <a:noFill/>
          <a:ln/>
        </p:spPr>
        <p:txBody>
          <a:bodyPr wrap="square" lIns="0" tIns="0" rIns="0" bIns="0" rtlCol="0" anchor="ctr"/>
          <a:lstStyle/>
          <a:p>
            <a:pPr marL="0" indent="0">
              <a:buNone/>
            </a:pPr>
            <a:r>
              <a:rPr lang="en-US" sz="1800" b="1" kern="0" spc="100" dirty="0">
                <a:solidFill>
                  <a:srgbClr val="FFFFFF"/>
                </a:solidFill>
                <a:latin typeface="Calibri" pitchFamily="34" charset="0"/>
                <a:ea typeface="Calibri" pitchFamily="34" charset="-122"/>
                <a:cs typeface="Calibri" pitchFamily="34" charset="-120"/>
              </a:rPr>
              <a:t>CONCLUSIONS &amp; APPORTS DU MODULE 2</a:t>
            </a:r>
            <a:endParaRPr lang="en-US" sz="1800" dirty="0"/>
          </a:p>
        </p:txBody>
      </p:sp>
      <p:sp>
        <p:nvSpPr>
          <p:cNvPr id="5" name="Shape 3"/>
          <p:cNvSpPr/>
          <p:nvPr/>
        </p:nvSpPr>
        <p:spPr>
          <a:xfrm>
            <a:off x="457200" y="960120"/>
            <a:ext cx="2560320" cy="36576"/>
          </a:xfrm>
          <a:prstGeom prst="rect">
            <a:avLst/>
          </a:prstGeom>
          <a:solidFill>
            <a:srgbClr val="1A9BAF"/>
          </a:solidFill>
          <a:ln w="12700">
            <a:solidFill>
              <a:srgbClr val="1A9BAF"/>
            </a:solidFill>
            <a:prstDash val="solid"/>
          </a:ln>
        </p:spPr>
      </p:sp>
      <p:sp>
        <p:nvSpPr>
          <p:cNvPr id="6" name="Text 4"/>
          <p:cNvSpPr/>
          <p:nvPr/>
        </p:nvSpPr>
        <p:spPr>
          <a:xfrm>
            <a:off x="457200" y="1097280"/>
            <a:ext cx="5852160" cy="658368"/>
          </a:xfrm>
          <a:prstGeom prst="rect">
            <a:avLst/>
          </a:prstGeom>
          <a:noFill/>
          <a:ln/>
        </p:spPr>
        <p:txBody>
          <a:bodyPr wrap="square" lIns="0" tIns="0" rIns="0" bIns="0" rtlCol="0" anchor="t"/>
          <a:lstStyle/>
          <a:p>
            <a:pPr marL="0" indent="0">
              <a:buNone/>
            </a:pPr>
            <a:r>
              <a:rPr lang="en-US" sz="1050" b="1" dirty="0">
                <a:solidFill>
                  <a:srgbClr val="D4F0F0"/>
                </a:solidFill>
                <a:latin typeface="Calibri" pitchFamily="34" charset="0"/>
                <a:ea typeface="Calibri" pitchFamily="34" charset="-122"/>
                <a:cs typeface="Calibri" pitchFamily="34" charset="-120"/>
              </a:rPr>
              <a:t>✅  Reconstruction Excel : </a:t>
            </a:r>
            <a:r>
              <a:rPr lang="en-US" sz="1050" dirty="0">
                <a:solidFill>
                  <a:srgbClr val="B0D4DC"/>
                </a:solidFill>
                <a:latin typeface="Calibri" pitchFamily="34" charset="0"/>
                <a:ea typeface="Calibri" pitchFamily="34" charset="-122"/>
                <a:cs typeface="Calibri" pitchFamily="34" charset="-120"/>
              </a:rPr>
              <a:t>La technique fill-down corrige la structure fusionnée de l'OMS et produit 2 760 lignes exploitables sur 24 ans.</a:t>
            </a:r>
            <a:endParaRPr lang="en-US" sz="1050" dirty="0"/>
          </a:p>
        </p:txBody>
      </p:sp>
      <p:sp>
        <p:nvSpPr>
          <p:cNvPr id="7" name="Text 5"/>
          <p:cNvSpPr/>
          <p:nvPr/>
        </p:nvSpPr>
        <p:spPr>
          <a:xfrm>
            <a:off x="457200" y="1810512"/>
            <a:ext cx="5852160" cy="658368"/>
          </a:xfrm>
          <a:prstGeom prst="rect">
            <a:avLst/>
          </a:prstGeom>
          <a:noFill/>
          <a:ln/>
        </p:spPr>
        <p:txBody>
          <a:bodyPr wrap="square" lIns="0" tIns="0" rIns="0" bIns="0" rtlCol="0" anchor="t"/>
          <a:lstStyle/>
          <a:p>
            <a:pPr marL="0" indent="0">
              <a:buNone/>
            </a:pPr>
            <a:r>
              <a:rPr lang="en-US" sz="1050" b="1" dirty="0">
                <a:solidFill>
                  <a:srgbClr val="D4F0F0"/>
                </a:solidFill>
                <a:latin typeface="Calibri" pitchFamily="34" charset="0"/>
                <a:ea typeface="Calibri" pitchFamily="34" charset="-122"/>
                <a:cs typeface="Calibri" pitchFamily="34" charset="-120"/>
              </a:rPr>
              <a:t>✅  EDA complète : </a:t>
            </a:r>
            <a:r>
              <a:rPr lang="en-US" sz="1050" dirty="0">
                <a:solidFill>
                  <a:srgbClr val="B0D4DC"/>
                </a:solidFill>
                <a:latin typeface="Calibri" pitchFamily="34" charset="0"/>
                <a:ea typeface="Calibri" pitchFamily="34" charset="-122"/>
                <a:cs typeface="Calibri" pitchFamily="34" charset="-120"/>
              </a:rPr>
              <a:t>DataExplorer permet un diagnostic rapide : 0 % de NA sur les variables clés, 36–44 % sur les bornes IC95%.</a:t>
            </a:r>
            <a:endParaRPr lang="en-US" sz="1050" dirty="0"/>
          </a:p>
        </p:txBody>
      </p:sp>
      <p:sp>
        <p:nvSpPr>
          <p:cNvPr id="8" name="Text 6"/>
          <p:cNvSpPr/>
          <p:nvPr/>
        </p:nvSpPr>
        <p:spPr>
          <a:xfrm>
            <a:off x="457200" y="2523744"/>
            <a:ext cx="5852160" cy="658368"/>
          </a:xfrm>
          <a:prstGeom prst="rect">
            <a:avLst/>
          </a:prstGeom>
          <a:noFill/>
          <a:ln/>
        </p:spPr>
        <p:txBody>
          <a:bodyPr wrap="square" lIns="0" tIns="0" rIns="0" bIns="0" rtlCol="0" anchor="t"/>
          <a:lstStyle/>
          <a:p>
            <a:pPr marL="0" indent="0">
              <a:buNone/>
            </a:pPr>
            <a:r>
              <a:rPr lang="en-US" sz="1050" b="1" dirty="0">
                <a:solidFill>
                  <a:srgbClr val="D4F0F0"/>
                </a:solidFill>
                <a:latin typeface="Calibri" pitchFamily="34" charset="0"/>
                <a:ea typeface="Calibri" pitchFamily="34" charset="-122"/>
                <a:cs typeface="Calibri" pitchFamily="34" charset="-120"/>
              </a:rPr>
              <a:t>✅  Concentration géographique : </a:t>
            </a:r>
            <a:r>
              <a:rPr lang="en-US" sz="1050" dirty="0">
                <a:solidFill>
                  <a:srgbClr val="B0D4DC"/>
                </a:solidFill>
                <a:latin typeface="Calibri" pitchFamily="34" charset="0"/>
                <a:ea typeface="Calibri" pitchFamily="34" charset="-122"/>
                <a:cs typeface="Calibri" pitchFamily="34" charset="-120"/>
              </a:rPr>
              <a:t>Top 2 pays (Nigeria + DRC) = 39 % de la charge mondiale. Les 15 premiers pays = 84 % des cas.</a:t>
            </a:r>
            <a:endParaRPr lang="en-US" sz="1050" dirty="0"/>
          </a:p>
        </p:txBody>
      </p:sp>
      <p:sp>
        <p:nvSpPr>
          <p:cNvPr id="9" name="Text 7"/>
          <p:cNvSpPr/>
          <p:nvPr/>
        </p:nvSpPr>
        <p:spPr>
          <a:xfrm>
            <a:off x="457200" y="3236976"/>
            <a:ext cx="5852160" cy="658368"/>
          </a:xfrm>
          <a:prstGeom prst="rect">
            <a:avLst/>
          </a:prstGeom>
          <a:noFill/>
          <a:ln/>
        </p:spPr>
        <p:txBody>
          <a:bodyPr wrap="square" lIns="0" tIns="0" rIns="0" bIns="0" rtlCol="0" anchor="t"/>
          <a:lstStyle/>
          <a:p>
            <a:pPr marL="0" indent="0">
              <a:buNone/>
            </a:pPr>
            <a:r>
              <a:rPr lang="en-US" sz="1050" b="1" dirty="0">
                <a:solidFill>
                  <a:srgbClr val="D4F0F0"/>
                </a:solidFill>
                <a:latin typeface="Calibri" pitchFamily="34" charset="0"/>
                <a:ea typeface="Calibri" pitchFamily="34" charset="-122"/>
                <a:cs typeface="Calibri" pitchFamily="34" charset="-120"/>
              </a:rPr>
              <a:t>✅  Cohérence statistique : </a:t>
            </a:r>
            <a:r>
              <a:rPr lang="en-US" sz="1050" dirty="0">
                <a:solidFill>
                  <a:srgbClr val="B0D4DC"/>
                </a:solidFill>
                <a:latin typeface="Calibri" pitchFamily="34" charset="0"/>
                <a:ea typeface="Calibri" pitchFamily="34" charset="-122"/>
                <a:cs typeface="Calibri" pitchFamily="34" charset="-120"/>
              </a:rPr>
              <a:t>r(cas, décès) = 0.99 valide la base OMS. La distribution right-skew justifie Natural Breaks dans ArcGIS.</a:t>
            </a:r>
            <a:endParaRPr lang="en-US" sz="1050" dirty="0"/>
          </a:p>
        </p:txBody>
      </p:sp>
      <p:sp>
        <p:nvSpPr>
          <p:cNvPr id="10" name="Text 8"/>
          <p:cNvSpPr/>
          <p:nvPr/>
        </p:nvSpPr>
        <p:spPr>
          <a:xfrm>
            <a:off x="457200" y="3950208"/>
            <a:ext cx="5852160" cy="658368"/>
          </a:xfrm>
          <a:prstGeom prst="rect">
            <a:avLst/>
          </a:prstGeom>
          <a:noFill/>
          <a:ln/>
        </p:spPr>
        <p:txBody>
          <a:bodyPr wrap="square" lIns="0" tIns="0" rIns="0" bIns="0" rtlCol="0" anchor="t"/>
          <a:lstStyle/>
          <a:p>
            <a:pPr marL="0" indent="0">
              <a:buNone/>
            </a:pPr>
            <a:r>
              <a:rPr lang="en-US" sz="1050" b="1" dirty="0">
                <a:solidFill>
                  <a:srgbClr val="D4F0F0"/>
                </a:solidFill>
                <a:latin typeface="Calibri" pitchFamily="34" charset="0"/>
                <a:ea typeface="Calibri" pitchFamily="34" charset="-122"/>
                <a:cs typeface="Calibri" pitchFamily="34" charset="-120"/>
              </a:rPr>
              <a:t>✅  Prêt pour la cartographie : </a:t>
            </a:r>
            <a:r>
              <a:rPr lang="en-US" sz="1050" dirty="0">
                <a:solidFill>
                  <a:srgbClr val="B0D4DC"/>
                </a:solidFill>
                <a:latin typeface="Calibri" pitchFamily="34" charset="0"/>
                <a:ea typeface="Calibri" pitchFamily="34" charset="-122"/>
                <a:cs typeface="Calibri" pitchFamily="34" charset="-120"/>
              </a:rPr>
              <a:t>Le fichier malaria_arcgis_2023.csv (109 pays × 12 variables) est directement utilisable pour la jointure attributaire.</a:t>
            </a:r>
            <a:endParaRPr lang="en-US" sz="1050" dirty="0"/>
          </a:p>
        </p:txBody>
      </p:sp>
      <p:sp>
        <p:nvSpPr>
          <p:cNvPr id="11" name="Text 9"/>
          <p:cNvSpPr/>
          <p:nvPr/>
        </p:nvSpPr>
        <p:spPr>
          <a:xfrm>
            <a:off x="6995160" y="1645920"/>
            <a:ext cx="1965960" cy="411480"/>
          </a:xfrm>
          <a:prstGeom prst="rect">
            <a:avLst/>
          </a:prstGeom>
          <a:noFill/>
          <a:ln/>
        </p:spPr>
        <p:txBody>
          <a:bodyPr wrap="square" lIns="0" tIns="0" rIns="0" bIns="0" rtlCol="0" anchor="ctr"/>
          <a:lstStyle/>
          <a:p>
            <a:pPr marL="0" indent="0" algn="ctr">
              <a:buNone/>
            </a:pPr>
            <a:r>
              <a:rPr lang="en-US" sz="1300" b="1" kern="0" spc="300" dirty="0" smtClean="0">
                <a:solidFill>
                  <a:srgbClr val="FFFFFF"/>
                </a:solidFill>
                <a:latin typeface="Calibri" pitchFamily="34" charset="0"/>
                <a:cs typeface="Calibri" pitchFamily="34" charset="-120"/>
              </a:rPr>
              <a:t>A VENIR </a:t>
            </a:r>
            <a:endParaRPr lang="en-US" sz="1300" dirty="0"/>
          </a:p>
        </p:txBody>
      </p:sp>
      <p:sp>
        <p:nvSpPr>
          <p:cNvPr id="12" name="Text 10"/>
          <p:cNvSpPr/>
          <p:nvPr/>
        </p:nvSpPr>
        <p:spPr>
          <a:xfrm>
            <a:off x="6995160" y="2103120"/>
            <a:ext cx="1965960" cy="1097280"/>
          </a:xfrm>
          <a:prstGeom prst="rect">
            <a:avLst/>
          </a:prstGeom>
          <a:noFill/>
          <a:ln/>
        </p:spPr>
        <p:txBody>
          <a:bodyPr wrap="square" lIns="0" tIns="0" rIns="0" bIns="0" rtlCol="0" anchor="ctr"/>
          <a:lstStyle/>
          <a:p>
            <a:pPr marL="0" indent="0" algn="ctr">
              <a:buNone/>
            </a:pPr>
            <a:r>
              <a:rPr lang="en-US" sz="1100" i="1" dirty="0">
                <a:solidFill>
                  <a:srgbClr val="D4F0F0"/>
                </a:solidFill>
                <a:latin typeface="Calibri" pitchFamily="34" charset="0"/>
                <a:ea typeface="Calibri" pitchFamily="34" charset="-122"/>
                <a:cs typeface="Calibri" pitchFamily="34" charset="-120"/>
              </a:rPr>
              <a:t>Cartographie</a:t>
            </a:r>
            <a:endParaRPr lang="en-US" sz="1100" dirty="0"/>
          </a:p>
          <a:p>
            <a:pPr marL="0" indent="0" algn="ctr">
              <a:buNone/>
            </a:pPr>
            <a:r>
              <a:rPr lang="en-US" sz="1100" i="1" dirty="0">
                <a:solidFill>
                  <a:srgbClr val="D4F0F0"/>
                </a:solidFill>
                <a:latin typeface="Calibri" pitchFamily="34" charset="0"/>
                <a:ea typeface="Calibri" pitchFamily="34" charset="-122"/>
                <a:cs typeface="Calibri" pitchFamily="34" charset="-120"/>
              </a:rPr>
              <a:t>du Paludisme</a:t>
            </a:r>
            <a:endParaRPr lang="en-US" sz="1100" dirty="0"/>
          </a:p>
          <a:p>
            <a:pPr marL="0" indent="0" algn="ctr">
              <a:buNone/>
            </a:pPr>
            <a:r>
              <a:rPr lang="en-US" sz="1100" i="1" dirty="0">
                <a:solidFill>
                  <a:srgbClr val="D4F0F0"/>
                </a:solidFill>
                <a:latin typeface="Calibri" pitchFamily="34" charset="0"/>
                <a:ea typeface="Calibri" pitchFamily="34" charset="-122"/>
                <a:cs typeface="Calibri" pitchFamily="34" charset="-120"/>
              </a:rPr>
              <a:t>dans ArcGIS Pro</a:t>
            </a:r>
            <a:endParaRPr lang="en-US" sz="1100" dirty="0"/>
          </a:p>
        </p:txBody>
      </p:sp>
      <p:sp>
        <p:nvSpPr>
          <p:cNvPr id="13" name="Text 11"/>
          <p:cNvSpPr/>
          <p:nvPr/>
        </p:nvSpPr>
        <p:spPr>
          <a:xfrm>
            <a:off x="7178040" y="3337560"/>
            <a:ext cx="1645920" cy="45720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4" name="Text 12"/>
          <p:cNvSpPr/>
          <p:nvPr/>
        </p:nvSpPr>
        <p:spPr>
          <a:xfrm>
            <a:off x="457200" y="4800600"/>
            <a:ext cx="8412480" cy="256032"/>
          </a:xfrm>
          <a:prstGeom prst="rect">
            <a:avLst/>
          </a:prstGeom>
          <a:noFill/>
          <a:ln/>
        </p:spPr>
        <p:txBody>
          <a:bodyPr wrap="square" lIns="0" tIns="0" rIns="0" bIns="0" rtlCol="0" anchor="ctr"/>
          <a:lstStyle/>
          <a:p>
            <a:pPr marL="0" indent="0">
              <a:buNone/>
            </a:pPr>
            <a:r>
              <a:rPr lang="en-US" sz="850" dirty="0">
                <a:solidFill>
                  <a:srgbClr val="4A7A8A"/>
                </a:solidFill>
                <a:latin typeface="Calibri" pitchFamily="34" charset="0"/>
                <a:ea typeface="Calibri" pitchFamily="34" charset="-122"/>
                <a:cs typeface="Calibri" pitchFamily="34" charset="-120"/>
              </a:rPr>
              <a:t>GADA Training &amp; Solutions  —  Formation en Modélisation Spatiale  —  2024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1516</Words>
  <Application>Microsoft Office PowerPoint</Application>
  <PresentationFormat>Affichage à l'écran (16:9)</PresentationFormat>
  <Paragraphs>188</Paragraphs>
  <Slides>12</Slides>
  <Notes>12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Paludisme — Module 2 One Health</dc:title>
  <dc:subject>PptxGenJS Presentation</dc:subject>
  <dc:creator>GADA Training &amp; Solutions</dc:creator>
  <cp:lastModifiedBy>BAGALWA</cp:lastModifiedBy>
  <cp:revision>4</cp:revision>
  <dcterms:created xsi:type="dcterms:W3CDTF">2026-05-22T06:51:21Z</dcterms:created>
  <dcterms:modified xsi:type="dcterms:W3CDTF">2026-05-22T07:15:49Z</dcterms:modified>
</cp:coreProperties>
</file>